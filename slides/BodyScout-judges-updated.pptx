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blem" id="{e3b9a036-3c9b-0836-bffa-d11797baa6dd}">
          <p14:sldIdLst>
            <p14:sldId id="256"/>
            <p14:sldId id="257"/>
            <p14:sldId id="258"/>
            <p14:sldId id="259"/>
            <p14:sldId id="260"/>
          </p14:sldIdLst>
        </p14:section>
        <p14:section name="Hypotheses" id="{6010d2dc-15da-c367-04d2-57301e33db33}">
          <p14:sldIdLst>
            <p14:sldId id="261"/>
            <p14:sldId id="278"/>
          </p14:sldIdLst>
        </p14:section>
        <p14:section name="Method" id="{9882142d-18a6-e1a9-5b33-495a1f92fa59}">
          <p14:sldIdLst>
            <p14:sldId id="262"/>
            <p14:sldId id="263"/>
            <p14:sldId id="264"/>
            <p14:sldId id="265"/>
            <p14:sldId id="279"/>
          </p14:sldIdLst>
        </p14:section>
        <p14:section name="The test" id="{1dda210e-44c7-431e-482e-951fcebe58e7}">
          <p14:sldIdLst>
            <p14:sldId id="266"/>
          </p14:sldIdLst>
        </p14:section>
        <p14:section name="Results" id="{af306c8b-8815-68b3-e0c5-12641d782f1d}">
          <p14:sldIdLst>
            <p14:sldId id="267"/>
            <p14:sldId id="268"/>
            <p14:sldId id="269"/>
            <p14:sldId id="274"/>
            <p14:sldId id="275"/>
            <p14:sldId id="276"/>
          </p14:sldIdLst>
        </p14:section>
        <p14:section name="Which is better" id="{eb96fa4a-220f-dd86-3130-1adb75f911af}">
          <p14:sldIdLst>
            <p14:sldId id="270"/>
            <p14:sldId id="271"/>
            <p14:sldId id="272"/>
            <p14:sldId id="273"/>
            <p14:sldId id="277"/>
          </p14:sldIdLst>
        </p14:section>
        <p14:section name="Results" id="{b5c12eee-c5f5-d078-1c4d-440fe98e4e6f}">
          <p14:sldIdLst/>
        </p14:section>
        <p14:section name="Which is better" id="{4d67c9ef-b670-2594-d7c9-b20309741566}">
          <p14:sldIdLst/>
        </p14:section>
        <p14:section name="Hypotheses" id="{2eb0be1e-8723-a4b2-0542-11785d7f1e29}">
          <p14:sldIdLst/>
        </p14:section>
        <p14:section name="Method" id="{51ecefd4-4502-557b-b713-3026819a177b}">
          <p14:sldIdLst/>
        </p14:section>
        <p14:section name="How to use it" id="{678ba6f8-0e3e-e562-4555-ff214a95c4d8}">
          <p14:sldIdLst>
            <p14:sldId id="280"/>
            <p14:sldId id="281"/>
            <p14:sldId id="282"/>
            <p14:sldId id="283"/>
          </p14:sldIdLst>
        </p14:section>
        <p14:section name="Close" id="{622ffa5c-f92d-85d4-723c-43bddcdc317e}">
          <p14:sldIdLst>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job, not the method. The fingertip has to reach a point. The file that would make that possible is missing, and it can go stale.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Stay here until the room can say it back: reach a point, with no body file, and the body may not stay the one you just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Units in code are metres and radians. Every number a person reads is in millimetres.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generator's patterns. The swarm is not shown them, and the wires can arrive in any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judge asks whether it peeked: the spec, the MuJoCo model, and the true tip belong to the scorer.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H3 is the collective-capability score. H6 is the one we expected might fail, and it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agent and the monitor are the two single copies. Knocking out the review agent still left 20/20.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agents do this per channel. A disputed channel is not deleted. Every type is still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is not the crown. A loud wrong hypothesis loses to a quiet model that predicts the holdout.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same robots, same 64 motions, same scorer.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Designed on seeds 1 and 2. Scored on 101 to 105. If someone asks whether we tuned on the test, this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20/20, then give it away: the probe and the pipeline also get it. The swarm earns its keep under 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red cloud, then at the pile near 1 to 2 mm. That pile is the probe result. The swarm is not special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seeds is a small n. Say so. The gap to the single agent is not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lying-sensor row out loud. The 4/4 is true, and it is not the whole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wins come from a second opinion. The loss is two agents believing the same bad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alarm from the recovery. We notice about as well as the pipeline. We rebuild more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alarm is open, the planner refuses to move. That pause is why the swarm asks for a new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two noise tests apart. One bad channel fools the swarm. Noise on every frame is where the extra sweeps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 false refusals is what makes the 200 out of 200 believable.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Knockout is a clean body. The fault slide is where a missing replica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A judge who finds one of these later will discount the 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dashboard if a judge wants a real trace. The count is the one-line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skill, the command, and the files already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command per line. The last colon in --robot is the class name, so a Windows drive letter is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a person the report. It is already in millimetres.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to stand on is the independent-seed table, with the six losses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Leave the verdict slide or this one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per">
    <p:bg>
      <p:bgPr>
        <a:solidFill>
          <a:srgbClr val="F4F1E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384048"/>
            <a:ext cx="11155680" cy="868680"/>
          </a:xfrm>
          <a:prstGeom prst="rect">
            <a:avLst/>
          </a:prstGeom>
          <a:noFill/>
          <a:ln/>
        </p:spPr>
        <p:txBody>
          <a:bodyPr wrap="square" rtlCol="0"/>
          <a:lstStyle>
            <a:lvl1pPr indent="0" marL="0">
              <a:buNone/>
              <a:defRPr lang="en-US" sz="3200" dirty="0">
                <a:solidFill>
                  <a:srgbClr val="1A1E1B"/>
                </a:solidFill>
                <a:latin typeface="Georgia" pitchFamily="34" charset="0"/>
                <a:ea typeface="Georgia" pitchFamily="34" charset="-122"/>
                <a:cs typeface="Georgia"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181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11064240" cy="2103120"/>
          </a:xfrm>
          <a:prstGeom prst="rect">
            <a:avLst/>
          </a:prstGeom>
          <a:noFill/>
          <a:ln/>
        </p:spPr>
        <p:txBody>
          <a:bodyPr wrap="square" rtlCol="0"/>
          <a:lstStyle>
            <a:lvl1pPr indent="0" marL="0">
              <a:buNone/>
              <a:defRPr lang="en-US" sz="4400" dirty="0">
                <a:solidFill>
                  <a:srgbClr val="F4F1EA"/>
                </a:solidFill>
                <a:latin typeface="Georgia" pitchFamily="34" charset="0"/>
                <a:ea typeface="Georgia" pitchFamily="34" charset="-122"/>
                <a:cs typeface="Georgia" pitchFamily="34" charset="-120"/>
              </a:defRPr>
            </a:lvl1pPr>
          </a:lstStyle>
          <a:p>
            <a:pPr indent="0" marL="0">
              <a:buNone/>
            </a:pPr>
            <a:endParaRPr lang="en-US" sz="44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C9C2B4"/>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143000"/>
            <a:ext cx="10972800" cy="256032"/>
          </a:xfrm>
          <a:prstGeom prst="rect">
            <a:avLst/>
          </a:prstGeom>
          <a:noFill/>
          <a:ln/>
        </p:spPr>
        <p:txBody>
          <a:bodyPr wrap="square" lIns="0" tIns="0" rIns="0" bIns="0" rtlCol="0" anchor="ctr"/>
          <a:lstStyle/>
          <a:p>
            <a:pPr indent="0" marL="0">
              <a:buNone/>
            </a:pPr>
            <a:r>
              <a:rPr lang="en-US" sz="1300" spc="120" kern="0" dirty="0">
                <a:solidFill>
                  <a:srgbClr val="F0C56A"/>
                </a:solidFill>
                <a:latin typeface="Calibri" pitchFamily="34" charset="0"/>
                <a:ea typeface="Calibri" pitchFamily="34" charset="-122"/>
                <a:cs typeface="Calibri" pitchFamily="34" charset="-120"/>
              </a:rPr>
              <a:t>SCIENCECLAW HACK  ·  MIT MEDIA LAB</a:t>
            </a:r>
            <a:endParaRPr lang="en-US" sz="1300" dirty="0"/>
          </a:p>
        </p:txBody>
      </p:sp>
      <p:sp>
        <p:nvSpPr>
          <p:cNvPr id="3" name="Text 0"/>
          <p:cNvSpPr/>
          <p:nvPr>
            <p:ph idx="100" type="title" hasCustomPrompt="1"/>
          </p:nvPr>
        </p:nvSpPr>
        <p:spPr>
          <a:xfrm>
            <a:off x="548640" y="1554480"/>
            <a:ext cx="11064240" cy="2103120"/>
          </a:xfrm>
          <a:prstGeom prst="rect">
            <a:avLst/>
          </a:prstGeom>
          <a:noFill/>
          <a:ln/>
        </p:spPr>
        <p:txBody>
          <a:bodyPr wrap="square" lIns="0" tIns="0" rIns="0" bIns="0" rtlCol="0"/>
          <a:lstStyle/>
          <a:p>
            <a:pPr indent="0" marL="0">
              <a:buNone/>
            </a:pPr>
            <a:r>
              <a:rPr lang="en-US" sz="4400" dirty="0">
                <a:solidFill>
                  <a:srgbClr val="F4F1EA"/>
                </a:solidFill>
                <a:latin typeface="Georgia" pitchFamily="34" charset="0"/>
                <a:ea typeface="Georgia" pitchFamily="34" charset="-122"/>
                <a:cs typeface="Georgia" pitchFamily="34" charset="-120"/>
              </a:rPr>
              <a:t>No model of the body. The hand still has to land.</a:t>
            </a:r>
            <a:endParaRPr lang="en-US" sz="4400" dirty="0"/>
          </a:p>
        </p:txBody>
      </p:sp>
      <p:sp>
        <p:nvSpPr>
          <p:cNvPr id="5" name="Text 2"/>
          <p:cNvSpPr txBox="1"/>
          <p:nvPr/>
        </p:nvSpPr>
        <p:spPr>
          <a:xfrm>
            <a:off x="548640" y="3931920"/>
            <a:ext cx="10972800" cy="1188720"/>
          </a:xfrm>
          <a:prstGeom prst="rect">
            <a:avLst/>
          </a:prstGeom>
          <a:noFill/>
          <a:ln/>
        </p:spPr>
        <p:txBody>
          <a:bodyPr wrap="square" lIns="0" tIns="0" rIns="0" bIns="0" rtlCol="0" anchor="ctr"/>
          <a:lstStyle/>
          <a:p>
            <a:pPr indent="0" marL="0">
              <a:buNone/>
            </a:pPr>
            <a:r>
              <a:rPr lang="en-US" sz="2000" dirty="0">
                <a:solidFill>
                  <a:srgbClr val="D9D2C6"/>
                </a:solidFill>
                <a:latin typeface="Calibri" pitchFamily="34" charset="0"/>
                <a:ea typeface="Calibri" pitchFamily="34" charset="-122"/>
                <a:cs typeface="Calibri" pitchFamily="34" charset="-120"/>
              </a:rPr>
              <a:t>A controller can put a fingertip on a point only if it has a description of the body: which command turns, which slides, how long each piece is, and the order they are wired. That file is missing. We are not told the kind of machine. The body can change while we use it.</a:t>
            </a:r>
            <a:endParaRPr lang="en-US" sz="20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C9C2B4"/>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THE PROBLEM</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Aiming the hand needs a description we do not have</a:t>
            </a:r>
            <a:endParaRPr lang="en-US" sz="3200" dirty="0"/>
          </a:p>
        </p:txBody>
      </p:sp>
      <p:sp>
        <p:nvSpPr>
          <p:cNvPr id="5" name="Shape 2"/>
          <p:cNvSpPr/>
          <p:nvPr/>
        </p:nvSpPr>
        <p:spPr>
          <a:xfrm>
            <a:off x="502920" y="1463040"/>
            <a:ext cx="3657600" cy="2468880"/>
          </a:xfrm>
          <a:prstGeom prst="roundRect">
            <a:avLst>
              <a:gd name="adj" fmla="val 2963"/>
            </a:avLst>
          </a:prstGeom>
          <a:solidFill>
            <a:srgbClr val="FFFDF8"/>
          </a:solidFill>
          <a:ln/>
          <a:effectLst>
            <a:outerShdw sx="100000" sy="100000" kx="0" ky="0" algn="bl" rotWithShape="0" blurRad="177800" dist="38100" dir="5400000">
              <a:srgbClr val="1A1E1B">
                <a:alpha val="8000"/>
              </a:srgbClr>
            </a:outerShdw>
          </a:effectLst>
        </p:spPr>
      </p:sp>
      <p:sp>
        <p:nvSpPr>
          <p:cNvPr id="6" name="Text 3"/>
          <p:cNvSpPr txBox="1"/>
          <p:nvPr/>
        </p:nvSpPr>
        <p:spPr>
          <a:xfrm>
            <a:off x="649224" y="157276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The task</a:t>
            </a:r>
            <a:endParaRPr lang="en-US" sz="1600" dirty="0"/>
          </a:p>
        </p:txBody>
      </p:sp>
      <p:sp>
        <p:nvSpPr>
          <p:cNvPr id="7" name="Text 4"/>
          <p:cNvSpPr txBox="1"/>
          <p:nvPr/>
        </p:nvSpPr>
        <p:spPr>
          <a:xfrm>
            <a:off x="649224" y="1901952"/>
            <a:ext cx="3364992" cy="190195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Choose a point. The fingertip has to arrive there, then pick something up and set it down. A planner turns a body description into the joint commands.</a:t>
            </a:r>
            <a:endParaRPr lang="en-US" sz="1400" dirty="0"/>
          </a:p>
        </p:txBody>
      </p:sp>
      <p:sp>
        <p:nvSpPr>
          <p:cNvPr id="8" name="Shape 5"/>
          <p:cNvSpPr/>
          <p:nvPr/>
        </p:nvSpPr>
        <p:spPr>
          <a:xfrm>
            <a:off x="4297680" y="1463040"/>
            <a:ext cx="3657600" cy="2468880"/>
          </a:xfrm>
          <a:prstGeom prst="roundRect">
            <a:avLst>
              <a:gd name="adj" fmla="val 2963"/>
            </a:avLst>
          </a:prstGeom>
          <a:solidFill>
            <a:srgbClr val="FFFDF8"/>
          </a:solidFill>
          <a:ln/>
          <a:effectLst>
            <a:outerShdw sx="100000" sy="100000" kx="0" ky="0" algn="bl" rotWithShape="0" blurRad="177800" dist="38100" dir="5400000">
              <a:srgbClr val="1A1E1B">
                <a:alpha val="8000"/>
              </a:srgbClr>
            </a:outerShdw>
          </a:effectLst>
        </p:spPr>
      </p:sp>
      <p:sp>
        <p:nvSpPr>
          <p:cNvPr id="9" name="Text 6"/>
          <p:cNvSpPr txBox="1"/>
          <p:nvPr/>
        </p:nvSpPr>
        <p:spPr>
          <a:xfrm>
            <a:off x="4443984" y="157276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The usual source</a:t>
            </a:r>
            <a:endParaRPr lang="en-US" sz="1600" dirty="0"/>
          </a:p>
        </p:txBody>
      </p:sp>
      <p:sp>
        <p:nvSpPr>
          <p:cNvPr id="10" name="Text 7"/>
          <p:cNvSpPr txBox="1"/>
          <p:nvPr/>
        </p:nvSpPr>
        <p:spPr>
          <a:xfrm>
            <a:off x="4443984" y="1901952"/>
            <a:ext cx="3364992" cy="190195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A person writes a URDF or MJCF. It names every joint, whether it rotates or slides, its axis, the link lengths, and which wire drives it.</a:t>
            </a:r>
            <a:endParaRPr lang="en-US" sz="1400" dirty="0"/>
          </a:p>
        </p:txBody>
      </p:sp>
      <p:sp>
        <p:nvSpPr>
          <p:cNvPr id="11" name="Shape 8"/>
          <p:cNvSpPr/>
          <p:nvPr/>
        </p:nvSpPr>
        <p:spPr>
          <a:xfrm>
            <a:off x="8092440" y="1463040"/>
            <a:ext cx="3657600" cy="2468880"/>
          </a:xfrm>
          <a:prstGeom prst="roundRect">
            <a:avLst>
              <a:gd name="adj" fmla="val 2963"/>
            </a:avLst>
          </a:prstGeom>
          <a:solidFill>
            <a:srgbClr val="FFFDF8"/>
          </a:solidFill>
          <a:ln/>
          <a:effectLst>
            <a:outerShdw sx="100000" sy="100000" kx="0" ky="0" algn="bl" rotWithShape="0" blurRad="177800" dist="38100" dir="5400000">
              <a:srgbClr val="1A1E1B">
                <a:alpha val="8000"/>
              </a:srgbClr>
            </a:outerShdw>
          </a:effectLst>
        </p:spPr>
      </p:sp>
      <p:sp>
        <p:nvSpPr>
          <p:cNvPr id="12" name="Text 9"/>
          <p:cNvSpPr txBox="1"/>
          <p:nvPr/>
        </p:nvSpPr>
        <p:spPr>
          <a:xfrm>
            <a:off x="8238744" y="157276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What is missing</a:t>
            </a:r>
            <a:endParaRPr lang="en-US" sz="1600" dirty="0"/>
          </a:p>
        </p:txBody>
      </p:sp>
      <p:sp>
        <p:nvSpPr>
          <p:cNvPr id="13" name="Text 10"/>
          <p:cNvSpPr txBox="1"/>
          <p:nvPr/>
        </p:nvSpPr>
        <p:spPr>
          <a:xfrm>
            <a:off x="8238744" y="1901952"/>
            <a:ext cx="3364992" cy="190195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No file. Arm, gantry, SCARA, or telescoping boom. Wires in any order. A link, motor, joint, or tool can change in the middle of the run.</a:t>
            </a:r>
            <a:endParaRPr lang="en-US" sz="1400" dirty="0"/>
          </a:p>
        </p:txBody>
      </p:sp>
      <p:sp>
        <p:nvSpPr>
          <p:cNvPr id="14" name="Shape 11"/>
          <p:cNvSpPr/>
          <p:nvPr/>
        </p:nvSpPr>
        <p:spPr>
          <a:xfrm>
            <a:off x="502920" y="4114800"/>
            <a:ext cx="11201400" cy="1691640"/>
          </a:xfrm>
          <a:prstGeom prst="roundRect">
            <a:avLst>
              <a:gd name="adj" fmla="val 4324"/>
            </a:avLst>
          </a:prstGeom>
          <a:solidFill>
            <a:srgbClr val="F8EBE6"/>
          </a:solidFill>
          <a:ln/>
        </p:spPr>
      </p:sp>
      <p:sp>
        <p:nvSpPr>
          <p:cNvPr id="15" name="Text 12"/>
          <p:cNvSpPr txBox="1"/>
          <p:nvPr/>
        </p:nvSpPr>
        <p:spPr>
          <a:xfrm>
            <a:off x="685800" y="4251960"/>
            <a:ext cx="10789920" cy="320040"/>
          </a:xfrm>
          <a:prstGeom prst="rect">
            <a:avLst/>
          </a:prstGeom>
          <a:noFill/>
          <a:ln/>
        </p:spPr>
        <p:txBody>
          <a:bodyPr wrap="square" lIns="0" tIns="0" rIns="0" bIns="0" rtlCol="0" anchor="ctr"/>
          <a:lstStyle/>
          <a:p>
            <a:pPr indent="0" marL="0">
              <a:buNone/>
            </a:pPr>
            <a:r>
              <a:rPr lang="en-US" sz="1800" dirty="0">
                <a:solidFill>
                  <a:srgbClr val="1A1E1B"/>
                </a:solidFill>
                <a:latin typeface="Georgia" pitchFamily="34" charset="0"/>
                <a:ea typeface="Georgia" pitchFamily="34" charset="-122"/>
                <a:cs typeface="Georgia" pitchFamily="34" charset="-120"/>
              </a:rPr>
              <a:t>What happens if you plan anyway</a:t>
            </a:r>
            <a:endParaRPr lang="en-US" sz="1800" dirty="0"/>
          </a:p>
        </p:txBody>
      </p:sp>
      <p:sp>
        <p:nvSpPr>
          <p:cNvPr id="16" name="Text 13"/>
          <p:cNvSpPr txBox="1"/>
          <p:nvPr/>
        </p:nvSpPr>
        <p:spPr>
          <a:xfrm>
            <a:off x="685800" y="4617720"/>
            <a:ext cx="10789920" cy="960120"/>
          </a:xfrm>
          <a:prstGeom prst="rect">
            <a:avLst/>
          </a:prstGeom>
          <a:noFill/>
          <a:ln/>
        </p:spPr>
        <p:txBody>
          <a:bodyPr wrap="square" lIns="0" tIns="0" rIns="0" bIns="0" rtlCol="0" anchor="ctr"/>
          <a:lstStyle/>
          <a:p>
            <a:pPr indent="0" marL="0">
              <a:buNone/>
            </a:pPr>
            <a:r>
              <a:rPr lang="en-US" sz="1600" dirty="0">
                <a:solidFill>
                  <a:srgbClr val="4A463F"/>
                </a:solidFill>
                <a:latin typeface="Calibri" pitchFamily="34" charset="0"/>
                <a:ea typeface="Calibri" pitchFamily="34" charset="-122"/>
                <a:cs typeface="Calibri" pitchFamily="34" charset="-120"/>
              </a:rPr>
              <a:t>The hand goes to the wrong place. On four real arms, an agent that never recovers the body misses by 270 to 592 mm. After one link is made longer, a plan that keeps the old body sets a cube down on 4 tries out of 20, about 149 mm off.</a:t>
            </a:r>
            <a:endParaRPr lang="en-US" sz="16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THE WORDS</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Six words the rest of the deck uses</a:t>
            </a:r>
            <a:endParaRPr lang="en-US" sz="3200" dirty="0"/>
          </a:p>
        </p:txBody>
      </p:sp>
      <p:sp>
        <p:nvSpPr>
          <p:cNvPr id="5" name="Text 2"/>
          <p:cNvSpPr txBox="1"/>
          <p:nvPr/>
        </p:nvSpPr>
        <p:spPr>
          <a:xfrm>
            <a:off x="502920" y="1463040"/>
            <a:ext cx="2103120" cy="640080"/>
          </a:xfrm>
          <a:prstGeom prst="rect">
            <a:avLst/>
          </a:prstGeom>
          <a:noFill/>
          <a:ln/>
        </p:spPr>
        <p:txBody>
          <a:bodyPr wrap="square" lIns="0" tIns="0" rIns="0" bIns="0" rtlCol="0" anchor="ctr"/>
          <a:lstStyle/>
          <a:p>
            <a:pPr indent="0" marL="0">
              <a:buNone/>
            </a:pPr>
            <a:r>
              <a:rPr lang="en-US" sz="2000" dirty="0">
                <a:solidFill>
                  <a:srgbClr val="1A1E1B"/>
                </a:solidFill>
                <a:latin typeface="Georgia" pitchFamily="34" charset="0"/>
                <a:ea typeface="Georgia" pitchFamily="34" charset="-122"/>
                <a:cs typeface="Georgia" pitchFamily="34" charset="-120"/>
              </a:rPr>
              <a:t>Channel</a:t>
            </a:r>
            <a:endParaRPr lang="en-US" sz="2000" dirty="0"/>
          </a:p>
        </p:txBody>
      </p:sp>
      <p:sp>
        <p:nvSpPr>
          <p:cNvPr id="6" name="Text 3"/>
          <p:cNvSpPr txBox="1"/>
          <p:nvPr/>
        </p:nvSpPr>
        <p:spPr>
          <a:xfrm>
            <a:off x="2743200" y="1463040"/>
            <a:ext cx="8778240" cy="640080"/>
          </a:xfrm>
          <a:prstGeom prst="rect">
            <a:avLst/>
          </a:prstGeom>
          <a:noFill/>
          <a:ln/>
        </p:spPr>
        <p:txBody>
          <a:bodyPr wrap="square" lIns="0" tIns="0" rIns="0" bIns="0" rtlCol="0" anchor="ctr"/>
          <a:lstStyle/>
          <a:p>
            <a:pPr indent="0" marL="0">
              <a:buNone/>
            </a:pPr>
            <a:r>
              <a:rPr lang="en-US" sz="1600" dirty="0">
                <a:solidFill>
                  <a:srgbClr val="4A463F"/>
                </a:solidFill>
                <a:latin typeface="Calibri" pitchFamily="34" charset="0"/>
                <a:ea typeface="Calibri" pitchFamily="34" charset="-122"/>
                <a:cs typeface="Calibri" pitchFamily="34" charset="-120"/>
              </a:rPr>
              <a:t>One number you can send. You are not told whether it turns a joint or slides one.</a:t>
            </a:r>
            <a:endParaRPr lang="en-US" sz="1600" dirty="0"/>
          </a:p>
        </p:txBody>
      </p:sp>
      <p:sp>
        <p:nvSpPr>
          <p:cNvPr id="7" name="Text 4"/>
          <p:cNvSpPr txBox="1"/>
          <p:nvPr/>
        </p:nvSpPr>
        <p:spPr>
          <a:xfrm>
            <a:off x="502920" y="2240280"/>
            <a:ext cx="2103120" cy="640080"/>
          </a:xfrm>
          <a:prstGeom prst="rect">
            <a:avLst/>
          </a:prstGeom>
          <a:noFill/>
          <a:ln/>
        </p:spPr>
        <p:txBody>
          <a:bodyPr wrap="square" lIns="0" tIns="0" rIns="0" bIns="0" rtlCol="0" anchor="ctr"/>
          <a:lstStyle/>
          <a:p>
            <a:pPr indent="0" marL="0">
              <a:buNone/>
            </a:pPr>
            <a:r>
              <a:rPr lang="en-US" sz="2000" dirty="0">
                <a:solidFill>
                  <a:srgbClr val="1A1E1B"/>
                </a:solidFill>
                <a:latin typeface="Georgia" pitchFamily="34" charset="0"/>
                <a:ea typeface="Georgia" pitchFamily="34" charset="-122"/>
                <a:cs typeface="Georgia" pitchFamily="34" charset="-120"/>
              </a:rPr>
              <a:t>Tip</a:t>
            </a:r>
            <a:endParaRPr lang="en-US" sz="2000" dirty="0"/>
          </a:p>
        </p:txBody>
      </p:sp>
      <p:sp>
        <p:nvSpPr>
          <p:cNvPr id="8" name="Text 5"/>
          <p:cNvSpPr txBox="1"/>
          <p:nvPr/>
        </p:nvSpPr>
        <p:spPr>
          <a:xfrm>
            <a:off x="2743200" y="2240280"/>
            <a:ext cx="8778240" cy="640080"/>
          </a:xfrm>
          <a:prstGeom prst="rect">
            <a:avLst/>
          </a:prstGeom>
          <a:noFill/>
          <a:ln/>
        </p:spPr>
        <p:txBody>
          <a:bodyPr wrap="square" lIns="0" tIns="0" rIns="0" bIns="0" rtlCol="0" anchor="ctr"/>
          <a:lstStyle/>
          <a:p>
            <a:pPr indent="0" marL="0">
              <a:buNone/>
            </a:pPr>
            <a:r>
              <a:rPr lang="en-US" sz="1600" dirty="0">
                <a:solidFill>
                  <a:srgbClr val="4A463F"/>
                </a:solidFill>
                <a:latin typeface="Calibri" pitchFamily="34" charset="0"/>
                <a:ea typeface="Calibri" pitchFamily="34" charset="-122"/>
                <a:cs typeface="Calibri" pitchFamily="34" charset="-120"/>
              </a:rPr>
              <a:t>Where the fingertip is, in millimetres, plus about 2 mm of noise.</a:t>
            </a:r>
            <a:endParaRPr lang="en-US" sz="1600" dirty="0"/>
          </a:p>
        </p:txBody>
      </p:sp>
      <p:sp>
        <p:nvSpPr>
          <p:cNvPr id="9" name="Text 6"/>
          <p:cNvSpPr txBox="1"/>
          <p:nvPr/>
        </p:nvSpPr>
        <p:spPr>
          <a:xfrm>
            <a:off x="502920" y="3017520"/>
            <a:ext cx="2103120" cy="640080"/>
          </a:xfrm>
          <a:prstGeom prst="rect">
            <a:avLst/>
          </a:prstGeom>
          <a:noFill/>
          <a:ln/>
        </p:spPr>
        <p:txBody>
          <a:bodyPr wrap="square" lIns="0" tIns="0" rIns="0" bIns="0" rtlCol="0" anchor="ctr"/>
          <a:lstStyle/>
          <a:p>
            <a:pPr indent="0" marL="0">
              <a:buNone/>
            </a:pPr>
            <a:r>
              <a:rPr lang="en-US" sz="2000" dirty="0">
                <a:solidFill>
                  <a:srgbClr val="1A1E1B"/>
                </a:solidFill>
                <a:latin typeface="Georgia" pitchFamily="34" charset="0"/>
                <a:ea typeface="Georgia" pitchFamily="34" charset="-122"/>
                <a:cs typeface="Georgia" pitchFamily="34" charset="-120"/>
              </a:rPr>
              <a:t>Structure</a:t>
            </a:r>
            <a:endParaRPr lang="en-US" sz="2000" dirty="0"/>
          </a:p>
        </p:txBody>
      </p:sp>
      <p:sp>
        <p:nvSpPr>
          <p:cNvPr id="10" name="Text 7"/>
          <p:cNvSpPr txBox="1"/>
          <p:nvPr/>
        </p:nvSpPr>
        <p:spPr>
          <a:xfrm>
            <a:off x="2743200" y="3017520"/>
            <a:ext cx="8778240" cy="640080"/>
          </a:xfrm>
          <a:prstGeom prst="rect">
            <a:avLst/>
          </a:prstGeom>
          <a:noFill/>
          <a:ln/>
        </p:spPr>
        <p:txBody>
          <a:bodyPr wrap="square" lIns="0" tIns="0" rIns="0" bIns="0" rtlCol="0" anchor="ctr"/>
          <a:lstStyle/>
          <a:p>
            <a:pPr indent="0" marL="0">
              <a:buNone/>
            </a:pPr>
            <a:r>
              <a:rPr lang="en-US" sz="1600" dirty="0">
                <a:solidFill>
                  <a:srgbClr val="4A463F"/>
                </a:solidFill>
                <a:latin typeface="Calibri" pitchFamily="34" charset="0"/>
                <a:ea typeface="Calibri" pitchFamily="34" charset="-122"/>
                <a:cs typeface="Calibri" pitchFamily="34" charset="-120"/>
              </a:rPr>
              <a:t>Hinge or slide, which axis, and the chain order. hz is a hinge about z. sx is a slide along x.</a:t>
            </a:r>
            <a:endParaRPr lang="en-US" sz="1600" dirty="0"/>
          </a:p>
        </p:txBody>
      </p:sp>
      <p:sp>
        <p:nvSpPr>
          <p:cNvPr id="11" name="Text 8"/>
          <p:cNvSpPr txBox="1"/>
          <p:nvPr/>
        </p:nvSpPr>
        <p:spPr>
          <a:xfrm>
            <a:off x="502920" y="3794760"/>
            <a:ext cx="2103120" cy="640080"/>
          </a:xfrm>
          <a:prstGeom prst="rect">
            <a:avLst/>
          </a:prstGeom>
          <a:noFill/>
          <a:ln/>
        </p:spPr>
        <p:txBody>
          <a:bodyPr wrap="square" lIns="0" tIns="0" rIns="0" bIns="0" rtlCol="0" anchor="ctr"/>
          <a:lstStyle/>
          <a:p>
            <a:pPr indent="0" marL="0">
              <a:buNone/>
            </a:pPr>
            <a:r>
              <a:rPr lang="en-US" sz="2000" dirty="0">
                <a:solidFill>
                  <a:srgbClr val="1A1E1B"/>
                </a:solidFill>
                <a:latin typeface="Georgia" pitchFamily="34" charset="0"/>
                <a:ea typeface="Georgia" pitchFamily="34" charset="-122"/>
                <a:cs typeface="Georgia" pitchFamily="34" charset="-120"/>
              </a:rPr>
              <a:t>Reach error</a:t>
            </a:r>
            <a:endParaRPr lang="en-US" sz="2000" dirty="0"/>
          </a:p>
        </p:txBody>
      </p:sp>
      <p:sp>
        <p:nvSpPr>
          <p:cNvPr id="12" name="Text 9"/>
          <p:cNvSpPr txBox="1"/>
          <p:nvPr/>
        </p:nvSpPr>
        <p:spPr>
          <a:xfrm>
            <a:off x="2743200" y="3794760"/>
            <a:ext cx="8778240" cy="640080"/>
          </a:xfrm>
          <a:prstGeom prst="rect">
            <a:avLst/>
          </a:prstGeom>
          <a:noFill/>
          <a:ln/>
        </p:spPr>
        <p:txBody>
          <a:bodyPr wrap="square" lIns="0" tIns="0" rIns="0" bIns="0" rtlCol="0" anchor="ctr"/>
          <a:lstStyle/>
          <a:p>
            <a:pPr indent="0" marL="0">
              <a:buNone/>
            </a:pPr>
            <a:r>
              <a:rPr lang="en-US" sz="1600" dirty="0">
                <a:solidFill>
                  <a:srgbClr val="4A463F"/>
                </a:solidFill>
                <a:latin typeface="Calibri" pitchFamily="34" charset="0"/>
                <a:ea typeface="Calibri" pitchFamily="34" charset="-122"/>
                <a:cs typeface="Calibri" pitchFamily="34" charset="-120"/>
              </a:rPr>
              <a:t>Median miss, in mm, on targets the true body can reach. Brackets are a bootstrap 95% interval.</a:t>
            </a:r>
            <a:endParaRPr lang="en-US" sz="1600" dirty="0"/>
          </a:p>
        </p:txBody>
      </p:sp>
      <p:sp>
        <p:nvSpPr>
          <p:cNvPr id="13" name="Text 10"/>
          <p:cNvSpPr txBox="1"/>
          <p:nvPr/>
        </p:nvSpPr>
        <p:spPr>
          <a:xfrm>
            <a:off x="502920" y="4572000"/>
            <a:ext cx="2103120" cy="640080"/>
          </a:xfrm>
          <a:prstGeom prst="rect">
            <a:avLst/>
          </a:prstGeom>
          <a:noFill/>
          <a:ln/>
        </p:spPr>
        <p:txBody>
          <a:bodyPr wrap="square" lIns="0" tIns="0" rIns="0" bIns="0" rtlCol="0" anchor="ctr"/>
          <a:lstStyle/>
          <a:p>
            <a:pPr indent="0" marL="0">
              <a:buNone/>
            </a:pPr>
            <a:r>
              <a:rPr lang="en-US" sz="2000" dirty="0">
                <a:solidFill>
                  <a:srgbClr val="1A1E1B"/>
                </a:solidFill>
                <a:latin typeface="Georgia" pitchFamily="34" charset="0"/>
                <a:ea typeface="Georgia" pitchFamily="34" charset="-122"/>
                <a:cs typeface="Georgia" pitchFamily="34" charset="-120"/>
              </a:rPr>
              <a:t>Champion</a:t>
            </a:r>
            <a:endParaRPr lang="en-US" sz="2000" dirty="0"/>
          </a:p>
        </p:txBody>
      </p:sp>
      <p:sp>
        <p:nvSpPr>
          <p:cNvPr id="14" name="Text 11"/>
          <p:cNvSpPr txBox="1"/>
          <p:nvPr/>
        </p:nvSpPr>
        <p:spPr>
          <a:xfrm>
            <a:off x="2743200" y="4572000"/>
            <a:ext cx="8778240" cy="640080"/>
          </a:xfrm>
          <a:prstGeom prst="rect">
            <a:avLst/>
          </a:prstGeom>
          <a:noFill/>
          <a:ln/>
        </p:spPr>
        <p:txBody>
          <a:bodyPr wrap="square" lIns="0" tIns="0" rIns="0" bIns="0" rtlCol="0" anchor="ctr"/>
          <a:lstStyle/>
          <a:p>
            <a:pPr indent="0" marL="0">
              <a:buNone/>
            </a:pPr>
            <a:r>
              <a:rPr lang="en-US" sz="1600" dirty="0">
                <a:solidFill>
                  <a:srgbClr val="4A463F"/>
                </a:solidFill>
                <a:latin typeface="Calibri" pitchFamily="34" charset="0"/>
                <a:ea typeface="Calibri" pitchFamily="34" charset="-122"/>
                <a:cs typeface="Calibri" pitchFamily="34" charset="-120"/>
              </a:rPr>
              <a:t>Lowest error on motions held out from the fit, after a replay check. A public rule crowns it.</a:t>
            </a:r>
            <a:endParaRPr lang="en-US" sz="1600" dirty="0"/>
          </a:p>
        </p:txBody>
      </p:sp>
      <p:sp>
        <p:nvSpPr>
          <p:cNvPr id="15" name="Text 12"/>
          <p:cNvSpPr txBox="1"/>
          <p:nvPr/>
        </p:nvSpPr>
        <p:spPr>
          <a:xfrm>
            <a:off x="502920" y="5349240"/>
            <a:ext cx="2103120" cy="640080"/>
          </a:xfrm>
          <a:prstGeom prst="rect">
            <a:avLst/>
          </a:prstGeom>
          <a:noFill/>
          <a:ln/>
        </p:spPr>
        <p:txBody>
          <a:bodyPr wrap="square" lIns="0" tIns="0" rIns="0" bIns="0" rtlCol="0" anchor="ctr"/>
          <a:lstStyle/>
          <a:p>
            <a:pPr indent="0" marL="0">
              <a:buNone/>
            </a:pPr>
            <a:r>
              <a:rPr lang="en-US" sz="2000" dirty="0">
                <a:solidFill>
                  <a:srgbClr val="1A1E1B"/>
                </a:solidFill>
                <a:latin typeface="Georgia" pitchFamily="34" charset="0"/>
                <a:ea typeface="Georgia" pitchFamily="34" charset="-122"/>
                <a:cs typeface="Georgia" pitchFamily="34" charset="-120"/>
              </a:rPr>
              <a:t>Budget</a:t>
            </a:r>
            <a:endParaRPr lang="en-US" sz="2000" dirty="0"/>
          </a:p>
        </p:txBody>
      </p:sp>
      <p:sp>
        <p:nvSpPr>
          <p:cNvPr id="16" name="Text 13"/>
          <p:cNvSpPr txBox="1"/>
          <p:nvPr/>
        </p:nvSpPr>
        <p:spPr>
          <a:xfrm>
            <a:off x="2743200" y="5349240"/>
            <a:ext cx="8778240" cy="640080"/>
          </a:xfrm>
          <a:prstGeom prst="rect">
            <a:avLst/>
          </a:prstGeom>
          <a:noFill/>
          <a:ln/>
        </p:spPr>
        <p:txBody>
          <a:bodyPr wrap="square" lIns="0" tIns="0" rIns="0" bIns="0" rtlCol="0" anchor="ctr"/>
          <a:lstStyle/>
          <a:p>
            <a:pPr indent="0" marL="0">
              <a:buNone/>
            </a:pPr>
            <a:r>
              <a:rPr lang="en-US" sz="1600" dirty="0">
                <a:solidFill>
                  <a:srgbClr val="4A463F"/>
                </a:solidFill>
                <a:latin typeface="Calibri" pitchFamily="34" charset="0"/>
                <a:ea typeface="Calibri" pitchFamily="34" charset="-122"/>
                <a:cs typeface="Calibri" pitchFamily="34" charset="-120"/>
              </a:rPr>
              <a:t>64 motions, the same for the swarm, the pipeline, and both single agents.</a:t>
            </a:r>
            <a:endParaRPr lang="en-US" sz="16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THE PROBLEM</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Four machines. One window.</a:t>
            </a:r>
            <a:endParaRPr lang="en-US" sz="3200" dirty="0"/>
          </a:p>
        </p:txBody>
      </p:sp>
      <p:sp>
        <p:nvSpPr>
          <p:cNvPr id="5" name="Shape 2"/>
          <p:cNvSpPr/>
          <p:nvPr/>
        </p:nvSpPr>
        <p:spPr>
          <a:xfrm>
            <a:off x="502920" y="1554480"/>
            <a:ext cx="2743200" cy="3017520"/>
          </a:xfrm>
          <a:prstGeom prst="roundRect">
            <a:avLst>
              <a:gd name="adj" fmla="val 2667"/>
            </a:avLst>
          </a:prstGeom>
          <a:solidFill>
            <a:srgbClr val="FFFDF8"/>
          </a:solidFill>
          <a:ln/>
          <a:effectLst>
            <a:outerShdw sx="100000" sy="100000" kx="0" ky="0" algn="bl" rotWithShape="0" blurRad="177800" dist="38100" dir="5400000">
              <a:srgbClr val="1A1E1B">
                <a:alpha val="8000"/>
              </a:srgbClr>
            </a:outerShdw>
          </a:effectLst>
        </p:spPr>
      </p:sp>
      <p:sp>
        <p:nvSpPr>
          <p:cNvPr id="6" name="Text 3"/>
          <p:cNvSpPr txBox="1"/>
          <p:nvPr/>
        </p:nvSpPr>
        <p:spPr>
          <a:xfrm>
            <a:off x="649224" y="1664208"/>
            <a:ext cx="24505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Arm</a:t>
            </a:r>
            <a:endParaRPr lang="en-US" sz="1600" dirty="0"/>
          </a:p>
        </p:txBody>
      </p:sp>
      <p:sp>
        <p:nvSpPr>
          <p:cNvPr id="7" name="Text 4"/>
          <p:cNvSpPr txBox="1"/>
          <p:nvPr/>
        </p:nvSpPr>
        <p:spPr>
          <a:xfrm>
            <a:off x="649224" y="1993392"/>
            <a:ext cx="2450592" cy="245059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Hinges only, three to five. A yaw at the base, then mostly pitch.</a:t>
            </a:r>
            <a:endParaRPr lang="en-US" sz="1400" dirty="0"/>
          </a:p>
          <a:p>
            <a:pPr indent="0" marL="0">
              <a:buNone/>
            </a:pPr>
            <a:endParaRPr lang="en-US" sz="1400" dirty="0"/>
          </a:p>
          <a:p>
            <a:pPr indent="0" marL="0">
              <a:buNone/>
            </a:pPr>
            <a:r>
              <a:rPr lang="en-US" sz="1400" dirty="0">
                <a:solidFill>
                  <a:srgbClr val="4A463F"/>
                </a:solidFill>
                <a:latin typeface="Calibri" pitchFamily="34" charset="0"/>
                <a:ea typeface="Calibri" pitchFamily="34" charset="-122"/>
                <a:cs typeface="Calibri" pitchFamily="34" charset="-120"/>
              </a:rPr>
              <a:t>h · h · h · …</a:t>
            </a:r>
            <a:endParaRPr lang="en-US" sz="1400" dirty="0"/>
          </a:p>
        </p:txBody>
      </p:sp>
      <p:sp>
        <p:nvSpPr>
          <p:cNvPr id="8" name="Shape 5"/>
          <p:cNvSpPr/>
          <p:nvPr/>
        </p:nvSpPr>
        <p:spPr>
          <a:xfrm>
            <a:off x="3383280" y="1554480"/>
            <a:ext cx="2743200" cy="3017520"/>
          </a:xfrm>
          <a:prstGeom prst="roundRect">
            <a:avLst>
              <a:gd name="adj" fmla="val 2667"/>
            </a:avLst>
          </a:prstGeom>
          <a:solidFill>
            <a:srgbClr val="FFFDF8"/>
          </a:solidFill>
          <a:ln/>
          <a:effectLst>
            <a:outerShdw sx="100000" sy="100000" kx="0" ky="0" algn="bl" rotWithShape="0" blurRad="177800" dist="38100" dir="5400000">
              <a:srgbClr val="1A1E1B">
                <a:alpha val="8000"/>
              </a:srgbClr>
            </a:outerShdw>
          </a:effectLst>
        </p:spPr>
      </p:sp>
      <p:sp>
        <p:nvSpPr>
          <p:cNvPr id="9" name="Text 6"/>
          <p:cNvSpPr txBox="1"/>
          <p:nvPr/>
        </p:nvSpPr>
        <p:spPr>
          <a:xfrm>
            <a:off x="3529584" y="1664208"/>
            <a:ext cx="24505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Gantry</a:t>
            </a:r>
            <a:endParaRPr lang="en-US" sz="1600" dirty="0"/>
          </a:p>
        </p:txBody>
      </p:sp>
      <p:sp>
        <p:nvSpPr>
          <p:cNvPr id="10" name="Text 7"/>
          <p:cNvSpPr txBox="1"/>
          <p:nvPr/>
        </p:nvSpPr>
        <p:spPr>
          <a:xfrm>
            <a:off x="3529584" y="1993392"/>
            <a:ext cx="2450592" cy="245059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Three slides, like a printer or a liquid handler, then a rotating tool.</a:t>
            </a:r>
            <a:endParaRPr lang="en-US" sz="1400" dirty="0"/>
          </a:p>
          <a:p>
            <a:pPr indent="0" marL="0">
              <a:buNone/>
            </a:pPr>
            <a:endParaRPr lang="en-US" sz="1400" dirty="0"/>
          </a:p>
          <a:p>
            <a:pPr indent="0" marL="0">
              <a:buNone/>
            </a:pPr>
            <a:r>
              <a:rPr lang="en-US" sz="1400" dirty="0">
                <a:solidFill>
                  <a:srgbClr val="4A463F"/>
                </a:solidFill>
                <a:latin typeface="Calibri" pitchFamily="34" charset="0"/>
                <a:ea typeface="Calibri" pitchFamily="34" charset="-122"/>
                <a:cs typeface="Calibri" pitchFamily="34" charset="-120"/>
              </a:rPr>
              <a:t>sx · sy · sz · hz</a:t>
            </a:r>
            <a:endParaRPr lang="en-US" sz="1400" dirty="0"/>
          </a:p>
        </p:txBody>
      </p:sp>
      <p:sp>
        <p:nvSpPr>
          <p:cNvPr id="11" name="Shape 8"/>
          <p:cNvSpPr/>
          <p:nvPr/>
        </p:nvSpPr>
        <p:spPr>
          <a:xfrm>
            <a:off x="6263640" y="1554480"/>
            <a:ext cx="2743200" cy="3017520"/>
          </a:xfrm>
          <a:prstGeom prst="roundRect">
            <a:avLst>
              <a:gd name="adj" fmla="val 2667"/>
            </a:avLst>
          </a:prstGeom>
          <a:solidFill>
            <a:srgbClr val="FFFDF8"/>
          </a:solidFill>
          <a:ln/>
          <a:effectLst>
            <a:outerShdw sx="100000" sy="100000" kx="0" ky="0" algn="bl" rotWithShape="0" blurRad="177800" dist="38100" dir="5400000">
              <a:srgbClr val="1A1E1B">
                <a:alpha val="8000"/>
              </a:srgbClr>
            </a:outerShdw>
          </a:effectLst>
        </p:spPr>
      </p:sp>
      <p:sp>
        <p:nvSpPr>
          <p:cNvPr id="12" name="Text 9"/>
          <p:cNvSpPr txBox="1"/>
          <p:nvPr/>
        </p:nvSpPr>
        <p:spPr>
          <a:xfrm>
            <a:off x="6409944" y="1664208"/>
            <a:ext cx="24505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SCARA</a:t>
            </a:r>
            <a:endParaRPr lang="en-US" sz="1600" dirty="0"/>
          </a:p>
        </p:txBody>
      </p:sp>
      <p:sp>
        <p:nvSpPr>
          <p:cNvPr id="13" name="Text 10"/>
          <p:cNvSpPr txBox="1"/>
          <p:nvPr/>
        </p:nvSpPr>
        <p:spPr>
          <a:xfrm>
            <a:off x="6409944" y="1993392"/>
            <a:ext cx="2450592" cy="245059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Two horizontal hinges, a vertical slide, and a wrist.</a:t>
            </a:r>
            <a:endParaRPr lang="en-US" sz="1400" dirty="0"/>
          </a:p>
          <a:p>
            <a:pPr indent="0" marL="0">
              <a:buNone/>
            </a:pPr>
            <a:endParaRPr lang="en-US" sz="1400" dirty="0"/>
          </a:p>
          <a:p>
            <a:pPr indent="0" marL="0">
              <a:buNone/>
            </a:pPr>
            <a:r>
              <a:rPr lang="en-US" sz="1400" dirty="0">
                <a:solidFill>
                  <a:srgbClr val="4A463F"/>
                </a:solidFill>
                <a:latin typeface="Calibri" pitchFamily="34" charset="0"/>
                <a:ea typeface="Calibri" pitchFamily="34" charset="-122"/>
                <a:cs typeface="Calibri" pitchFamily="34" charset="-120"/>
              </a:rPr>
              <a:t>hz · hz · sz · hz</a:t>
            </a:r>
            <a:endParaRPr lang="en-US" sz="1400" dirty="0"/>
          </a:p>
        </p:txBody>
      </p:sp>
      <p:sp>
        <p:nvSpPr>
          <p:cNvPr id="14" name="Shape 11"/>
          <p:cNvSpPr/>
          <p:nvPr/>
        </p:nvSpPr>
        <p:spPr>
          <a:xfrm>
            <a:off x="9144000" y="1554480"/>
            <a:ext cx="2743200" cy="3017520"/>
          </a:xfrm>
          <a:prstGeom prst="roundRect">
            <a:avLst>
              <a:gd name="adj" fmla="val 2667"/>
            </a:avLst>
          </a:prstGeom>
          <a:solidFill>
            <a:srgbClr val="FFFDF8"/>
          </a:solidFill>
          <a:ln/>
          <a:effectLst>
            <a:outerShdw sx="100000" sy="100000" kx="0" ky="0" algn="bl" rotWithShape="0" blurRad="177800" dist="38100" dir="5400000">
              <a:srgbClr val="1A1E1B">
                <a:alpha val="8000"/>
              </a:srgbClr>
            </a:outerShdw>
          </a:effectLst>
        </p:spPr>
      </p:sp>
      <p:sp>
        <p:nvSpPr>
          <p:cNvPr id="15" name="Text 12"/>
          <p:cNvSpPr txBox="1"/>
          <p:nvPr/>
        </p:nvSpPr>
        <p:spPr>
          <a:xfrm>
            <a:off x="9290304" y="1664208"/>
            <a:ext cx="24505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Telescope</a:t>
            </a:r>
            <a:endParaRPr lang="en-US" sz="1600" dirty="0"/>
          </a:p>
        </p:txBody>
      </p:sp>
      <p:sp>
        <p:nvSpPr>
          <p:cNvPr id="16" name="Text 13"/>
          <p:cNvSpPr txBox="1"/>
          <p:nvPr/>
        </p:nvSpPr>
        <p:spPr>
          <a:xfrm>
            <a:off x="9290304" y="1993392"/>
            <a:ext cx="2450592" cy="245059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Yaw, pitch, a boom that extends, and a wrist pitch.</a:t>
            </a:r>
            <a:endParaRPr lang="en-US" sz="1400" dirty="0"/>
          </a:p>
          <a:p>
            <a:pPr indent="0" marL="0">
              <a:buNone/>
            </a:pPr>
            <a:endParaRPr lang="en-US" sz="1400" dirty="0"/>
          </a:p>
          <a:p>
            <a:pPr indent="0" marL="0">
              <a:buNone/>
            </a:pPr>
            <a:r>
              <a:rPr lang="en-US" sz="1400" dirty="0">
                <a:solidFill>
                  <a:srgbClr val="4A463F"/>
                </a:solidFill>
                <a:latin typeface="Calibri" pitchFamily="34" charset="0"/>
                <a:ea typeface="Calibri" pitchFamily="34" charset="-122"/>
                <a:cs typeface="Calibri" pitchFamily="34" charset="-120"/>
              </a:rPr>
              <a:t>hz · hy · sz · hy</a:t>
            </a:r>
            <a:endParaRPr lang="en-US" sz="1400" dirty="0"/>
          </a:p>
        </p:txBody>
      </p:sp>
      <p:sp>
        <p:nvSpPr>
          <p:cNvPr id="17" name="Text 14"/>
          <p:cNvSpPr txBox="1"/>
          <p:nvPr/>
        </p:nvSpPr>
        <p:spPr>
          <a:xfrm>
            <a:off x="502920" y="4754880"/>
            <a:ext cx="10972800" cy="365760"/>
          </a:xfrm>
          <a:prstGeom prst="rect">
            <a:avLst/>
          </a:prstGeom>
          <a:noFill/>
          <a:ln/>
        </p:spPr>
        <p:txBody>
          <a:bodyPr wrap="square" lIns="0" tIns="0" rIns="0" bIns="0" rtlCol="0" anchor="ctr"/>
          <a:lstStyle/>
          <a:p>
            <a:pPr indent="0" marL="0">
              <a:buNone/>
            </a:pPr>
            <a:r>
              <a:rPr lang="en-US" sz="1600" dirty="0">
                <a:solidFill>
                  <a:srgbClr val="4A463F"/>
                </a:solidFill>
                <a:latin typeface="Calibri" pitchFamily="34" charset="0"/>
                <a:ea typeface="Calibri" pitchFamily="34" charset="-122"/>
                <a:cs typeface="Calibri" pitchFamily="34" charset="-120"/>
              </a:rPr>
              <a:t>Link lengths are random. The same command interface hides all four.</a:t>
            </a:r>
            <a:endParaRPr lang="en-US" sz="16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143000"/>
            <a:ext cx="10972800" cy="256032"/>
          </a:xfrm>
          <a:prstGeom prst="rect">
            <a:avLst/>
          </a:prstGeom>
          <a:noFill/>
          <a:ln/>
        </p:spPr>
        <p:txBody>
          <a:bodyPr wrap="square" lIns="0" tIns="0" rIns="0" bIns="0" rtlCol="0" anchor="ctr"/>
          <a:lstStyle/>
          <a:p>
            <a:pPr indent="0" marL="0">
              <a:buNone/>
            </a:pPr>
            <a:r>
              <a:rPr lang="en-US" sz="1300" spc="120" kern="0" dirty="0">
                <a:solidFill>
                  <a:srgbClr val="F0C56A"/>
                </a:solidFill>
                <a:latin typeface="Calibri" pitchFamily="34" charset="0"/>
                <a:ea typeface="Calibri" pitchFamily="34" charset="-122"/>
                <a:cs typeface="Calibri" pitchFamily="34" charset="-120"/>
              </a:rPr>
              <a:t>THE RULE</a:t>
            </a:r>
            <a:endParaRPr lang="en-US" sz="1300" dirty="0"/>
          </a:p>
        </p:txBody>
      </p:sp>
      <p:sp>
        <p:nvSpPr>
          <p:cNvPr id="3" name="Text 0"/>
          <p:cNvSpPr/>
          <p:nvPr>
            <p:ph idx="100" type="title" hasCustomPrompt="1"/>
          </p:nvPr>
        </p:nvSpPr>
        <p:spPr>
          <a:xfrm>
            <a:off x="548640" y="1554480"/>
            <a:ext cx="11064240" cy="2103120"/>
          </a:xfrm>
          <a:prstGeom prst="rect">
            <a:avLst/>
          </a:prstGeom>
          <a:noFill/>
          <a:ln/>
        </p:spPr>
        <p:txBody>
          <a:bodyPr wrap="square" lIns="0" tIns="0" rIns="0" bIns="0" rtlCol="0"/>
          <a:lstStyle/>
          <a:p>
            <a:pPr indent="0" marL="0">
              <a:buNone/>
            </a:pPr>
            <a:r>
              <a:rPr lang="en-US" sz="4400" dirty="0">
                <a:solidFill>
                  <a:srgbClr val="F4F1EA"/>
                </a:solidFill>
                <a:latin typeface="Georgia" pitchFamily="34" charset="0"/>
                <a:ea typeface="Georgia" pitchFamily="34" charset="-122"/>
                <a:cs typeface="Georgia" pitchFamily="34" charset="-120"/>
              </a:rPr>
              <a:t>Agents may use three things.</a:t>
            </a:r>
            <a:endParaRPr lang="en-US" sz="4400" dirty="0"/>
          </a:p>
        </p:txBody>
      </p:sp>
      <p:sp>
        <p:nvSpPr>
          <p:cNvPr id="5" name="Shape 2"/>
          <p:cNvSpPr/>
          <p:nvPr/>
        </p:nvSpPr>
        <p:spPr>
          <a:xfrm>
            <a:off x="548640" y="3840480"/>
            <a:ext cx="6675120" cy="685800"/>
          </a:xfrm>
          <a:prstGeom prst="roundRect">
            <a:avLst>
              <a:gd name="adj" fmla="val 10667"/>
            </a:avLst>
          </a:prstGeom>
          <a:solidFill>
            <a:srgbClr val="1E2422"/>
          </a:solidFill>
          <a:ln/>
        </p:spPr>
      </p:sp>
      <p:sp>
        <p:nvSpPr>
          <p:cNvPr id="6" name="Text 3"/>
          <p:cNvSpPr txBox="1"/>
          <p:nvPr/>
        </p:nvSpPr>
        <p:spPr>
          <a:xfrm>
            <a:off x="713232" y="3895344"/>
            <a:ext cx="2377440" cy="548640"/>
          </a:xfrm>
          <a:prstGeom prst="rect">
            <a:avLst/>
          </a:prstGeom>
          <a:noFill/>
          <a:ln/>
        </p:spPr>
        <p:txBody>
          <a:bodyPr wrap="square" lIns="0" tIns="0" rIns="0" bIns="0" rtlCol="0" anchor="ctr"/>
          <a:lstStyle/>
          <a:p>
            <a:pPr indent="0" marL="0">
              <a:buNone/>
            </a:pPr>
            <a:r>
              <a:rPr lang="en-US" sz="1600" dirty="0">
                <a:solidFill>
                  <a:srgbClr val="F4F1EA"/>
                </a:solidFill>
                <a:latin typeface="Georgia" pitchFamily="34" charset="0"/>
                <a:ea typeface="Georgia" pitchFamily="34" charset="-122"/>
                <a:cs typeface="Georgia" pitchFamily="34" charset="-120"/>
              </a:rPr>
              <a:t>move(command)</a:t>
            </a:r>
            <a:endParaRPr lang="en-US" sz="1600" dirty="0"/>
          </a:p>
        </p:txBody>
      </p:sp>
      <p:sp>
        <p:nvSpPr>
          <p:cNvPr id="7" name="Text 4"/>
          <p:cNvSpPr txBox="1"/>
          <p:nvPr/>
        </p:nvSpPr>
        <p:spPr>
          <a:xfrm>
            <a:off x="3108960" y="3895344"/>
            <a:ext cx="3931920" cy="548640"/>
          </a:xfrm>
          <a:prstGeom prst="rect">
            <a:avLst/>
          </a:prstGeom>
          <a:noFill/>
          <a:ln/>
        </p:spPr>
        <p:txBody>
          <a:bodyPr wrap="square" lIns="0" tIns="0" rIns="0" bIns="0" rtlCol="0" anchor="ctr"/>
          <a:lstStyle/>
          <a:p>
            <a:pPr indent="0" marL="0">
              <a:buNone/>
            </a:pPr>
            <a:r>
              <a:rPr lang="en-US" sz="1400" dirty="0">
                <a:solidFill>
                  <a:srgbClr val="C9C2B4"/>
                </a:solidFill>
                <a:latin typeface="Calibri" pitchFamily="34" charset="0"/>
                <a:ea typeface="Calibri" pitchFamily="34" charset="-122"/>
                <a:cs typeface="Calibri" pitchFamily="34" charset="-120"/>
              </a:rPr>
              <a:t>Send one number per channel. Read back a fingertip, with noise.</a:t>
            </a:r>
            <a:endParaRPr lang="en-US" sz="1400" dirty="0"/>
          </a:p>
        </p:txBody>
      </p:sp>
      <p:sp>
        <p:nvSpPr>
          <p:cNvPr id="8" name="Shape 5"/>
          <p:cNvSpPr/>
          <p:nvPr/>
        </p:nvSpPr>
        <p:spPr>
          <a:xfrm>
            <a:off x="548640" y="4617720"/>
            <a:ext cx="6675120" cy="685800"/>
          </a:xfrm>
          <a:prstGeom prst="roundRect">
            <a:avLst>
              <a:gd name="adj" fmla="val 10667"/>
            </a:avLst>
          </a:prstGeom>
          <a:solidFill>
            <a:srgbClr val="1E2422"/>
          </a:solidFill>
          <a:ln/>
        </p:spPr>
      </p:sp>
      <p:sp>
        <p:nvSpPr>
          <p:cNvPr id="9" name="Text 6"/>
          <p:cNvSpPr txBox="1"/>
          <p:nvPr/>
        </p:nvSpPr>
        <p:spPr>
          <a:xfrm>
            <a:off x="713232" y="4672584"/>
            <a:ext cx="2377440" cy="548640"/>
          </a:xfrm>
          <a:prstGeom prst="rect">
            <a:avLst/>
          </a:prstGeom>
          <a:noFill/>
          <a:ln/>
        </p:spPr>
        <p:txBody>
          <a:bodyPr wrap="square" lIns="0" tIns="0" rIns="0" bIns="0" rtlCol="0" anchor="ctr"/>
          <a:lstStyle/>
          <a:p>
            <a:pPr indent="0" marL="0">
              <a:buNone/>
            </a:pPr>
            <a:r>
              <a:rPr lang="en-US" sz="1600" dirty="0">
                <a:solidFill>
                  <a:srgbClr val="F4F1EA"/>
                </a:solidFill>
                <a:latin typeface="Georgia" pitchFamily="34" charset="0"/>
                <a:ea typeface="Georgia" pitchFamily="34" charset="-122"/>
                <a:cs typeface="Georgia" pitchFamily="34" charset="-120"/>
              </a:rPr>
              <a:t>n_channels</a:t>
            </a:r>
            <a:endParaRPr lang="en-US" sz="1600" dirty="0"/>
          </a:p>
        </p:txBody>
      </p:sp>
      <p:sp>
        <p:nvSpPr>
          <p:cNvPr id="10" name="Text 7"/>
          <p:cNvSpPr txBox="1"/>
          <p:nvPr/>
        </p:nvSpPr>
        <p:spPr>
          <a:xfrm>
            <a:off x="3108960" y="4672584"/>
            <a:ext cx="3931920" cy="548640"/>
          </a:xfrm>
          <a:prstGeom prst="rect">
            <a:avLst/>
          </a:prstGeom>
          <a:noFill/>
          <a:ln/>
        </p:spPr>
        <p:txBody>
          <a:bodyPr wrap="square" lIns="0" tIns="0" rIns="0" bIns="0" rtlCol="0" anchor="ctr"/>
          <a:lstStyle/>
          <a:p>
            <a:pPr indent="0" marL="0">
              <a:buNone/>
            </a:pPr>
            <a:r>
              <a:rPr lang="en-US" sz="1400" dirty="0">
                <a:solidFill>
                  <a:srgbClr val="C9C2B4"/>
                </a:solidFill>
                <a:latin typeface="Calibri" pitchFamily="34" charset="0"/>
                <a:ea typeface="Calibri" pitchFamily="34" charset="-122"/>
                <a:cs typeface="Calibri" pitchFamily="34" charset="-120"/>
              </a:rPr>
              <a:t>How many numbers the command has. Not what they do.</a:t>
            </a:r>
            <a:endParaRPr lang="en-US" sz="1400" dirty="0"/>
          </a:p>
        </p:txBody>
      </p:sp>
      <p:sp>
        <p:nvSpPr>
          <p:cNvPr id="11" name="Shape 8"/>
          <p:cNvSpPr/>
          <p:nvPr/>
        </p:nvSpPr>
        <p:spPr>
          <a:xfrm>
            <a:off x="548640" y="5394960"/>
            <a:ext cx="6675120" cy="685800"/>
          </a:xfrm>
          <a:prstGeom prst="roundRect">
            <a:avLst>
              <a:gd name="adj" fmla="val 10667"/>
            </a:avLst>
          </a:prstGeom>
          <a:solidFill>
            <a:srgbClr val="1E2422"/>
          </a:solidFill>
          <a:ln/>
        </p:spPr>
      </p:sp>
      <p:sp>
        <p:nvSpPr>
          <p:cNvPr id="12" name="Text 9"/>
          <p:cNvSpPr txBox="1"/>
          <p:nvPr/>
        </p:nvSpPr>
        <p:spPr>
          <a:xfrm>
            <a:off x="713232" y="5449824"/>
            <a:ext cx="2377440" cy="548640"/>
          </a:xfrm>
          <a:prstGeom prst="rect">
            <a:avLst/>
          </a:prstGeom>
          <a:noFill/>
          <a:ln/>
        </p:spPr>
        <p:txBody>
          <a:bodyPr wrap="square" lIns="0" tIns="0" rIns="0" bIns="0" rtlCol="0" anchor="ctr"/>
          <a:lstStyle/>
          <a:p>
            <a:pPr indent="0" marL="0">
              <a:buNone/>
            </a:pPr>
            <a:r>
              <a:rPr lang="en-US" sz="1600" dirty="0">
                <a:solidFill>
                  <a:srgbClr val="F4F1EA"/>
                </a:solidFill>
                <a:latin typeface="Georgia" pitchFamily="34" charset="0"/>
                <a:ea typeface="Georgia" pitchFamily="34" charset="-122"/>
                <a:cs typeface="Georgia" pitchFamily="34" charset="-120"/>
              </a:rPr>
              <a:t>limits</a:t>
            </a:r>
            <a:endParaRPr lang="en-US" sz="1600" dirty="0"/>
          </a:p>
        </p:txBody>
      </p:sp>
      <p:sp>
        <p:nvSpPr>
          <p:cNvPr id="13" name="Text 10"/>
          <p:cNvSpPr txBox="1"/>
          <p:nvPr/>
        </p:nvSpPr>
        <p:spPr>
          <a:xfrm>
            <a:off x="3108960" y="5449824"/>
            <a:ext cx="3931920" cy="548640"/>
          </a:xfrm>
          <a:prstGeom prst="rect">
            <a:avLst/>
          </a:prstGeom>
          <a:noFill/>
          <a:ln/>
        </p:spPr>
        <p:txBody>
          <a:bodyPr wrap="square" lIns="0" tIns="0" rIns="0" bIns="0" rtlCol="0" anchor="ctr"/>
          <a:lstStyle/>
          <a:p>
            <a:pPr indent="0" marL="0">
              <a:buNone/>
            </a:pPr>
            <a:r>
              <a:rPr lang="en-US" sz="1400" dirty="0">
                <a:solidFill>
                  <a:srgbClr val="C9C2B4"/>
                </a:solidFill>
                <a:latin typeface="Calibri" pitchFamily="34" charset="0"/>
                <a:ea typeface="Calibri" pitchFamily="34" charset="-122"/>
                <a:cs typeface="Calibri" pitchFamily="34" charset="-120"/>
              </a:rPr>
              <a:t>The smallest and largest legal command. The same window for every channel.</a:t>
            </a:r>
            <a:endParaRPr lang="en-US" sz="1400" dirty="0"/>
          </a:p>
        </p:txBody>
      </p:sp>
      <p:sp>
        <p:nvSpPr>
          <p:cNvPr id="14" name="Shape 11"/>
          <p:cNvSpPr/>
          <p:nvPr/>
        </p:nvSpPr>
        <p:spPr>
          <a:xfrm>
            <a:off x="7452360" y="3840480"/>
            <a:ext cx="4114800" cy="2331720"/>
          </a:xfrm>
          <a:prstGeom prst="roundRect">
            <a:avLst>
              <a:gd name="adj" fmla="val 3137"/>
            </a:avLst>
          </a:prstGeom>
          <a:solidFill>
            <a:srgbClr val="1E2422"/>
          </a:solidFill>
          <a:ln/>
        </p:spPr>
      </p:sp>
      <p:sp>
        <p:nvSpPr>
          <p:cNvPr id="15" name="Text 12"/>
          <p:cNvSpPr txBox="1"/>
          <p:nvPr/>
        </p:nvSpPr>
        <p:spPr>
          <a:xfrm>
            <a:off x="7635240" y="4023360"/>
            <a:ext cx="3794760" cy="2011680"/>
          </a:xfrm>
          <a:prstGeom prst="rect">
            <a:avLst/>
          </a:prstGeom>
          <a:noFill/>
          <a:ln/>
        </p:spPr>
        <p:txBody>
          <a:bodyPr wrap="square" lIns="0" tIns="0" rIns="0" bIns="0" rtlCol="0" anchor="ctr"/>
          <a:lstStyle/>
          <a:p>
            <a:pPr indent="0" marL="0">
              <a:buNone/>
            </a:pPr>
            <a:r>
              <a:rPr lang="en-US" sz="1500" dirty="0">
                <a:solidFill>
                  <a:srgbClr val="F4F1EA"/>
                </a:solidFill>
                <a:latin typeface="Calibri" pitchFamily="34" charset="0"/>
                <a:ea typeface="Calibri" pitchFamily="34" charset="-122"/>
                <a:cs typeface="Calibri" pitchFamily="34" charset="-120"/>
              </a:rPr>
              <a:t>Hidden from every agent</a:t>
            </a:r>
            <a:endParaRPr lang="en-US" sz="1500" dirty="0"/>
          </a:p>
          <a:p>
            <a:pPr indent="0" marL="0">
              <a:buNone/>
            </a:pPr>
            <a:endParaRPr lang="en-US" sz="1500" dirty="0"/>
          </a:p>
          <a:p>
            <a:pPr indent="0" marL="0">
              <a:buNone/>
            </a:pPr>
            <a:r>
              <a:rPr lang="en-US" sz="1500" dirty="0">
                <a:solidFill>
                  <a:srgbClr val="F4F1EA"/>
                </a:solidFill>
                <a:latin typeface="Calibri" pitchFamily="34" charset="0"/>
                <a:ea typeface="Calibri" pitchFamily="34" charset="-122"/>
                <a:cs typeface="Calibri" pitchFamily="34" charset="-120"/>
              </a:rPr>
              <a:t>The spec, the MuJoCo model, the noiseless fingertip, the skeleton, and any URDF or MJCF. Those exist so the score can be true.</a:t>
            </a:r>
            <a:endParaRPr lang="en-US" sz="15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C9C2B4"/>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HYPOTHESES</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Six bets, stated before the score</a:t>
            </a:r>
            <a:endParaRPr lang="en-US" sz="3200" dirty="0"/>
          </a:p>
        </p:txBody>
      </p:sp>
      <p:sp>
        <p:nvSpPr>
          <p:cNvPr id="5" name="Shape 2"/>
          <p:cNvSpPr/>
          <p:nvPr/>
        </p:nvSpPr>
        <p:spPr>
          <a:xfrm>
            <a:off x="502920" y="1463040"/>
            <a:ext cx="3657600" cy="2148840"/>
          </a:xfrm>
          <a:prstGeom prst="roundRect">
            <a:avLst>
              <a:gd name="adj" fmla="val 3404"/>
            </a:avLst>
          </a:prstGeom>
          <a:solidFill>
            <a:srgbClr val="FFFDF8"/>
          </a:solidFill>
          <a:ln/>
          <a:effectLst>
            <a:outerShdw sx="100000" sy="100000" kx="0" ky="0" algn="bl" rotWithShape="0" blurRad="177800" dist="38100" dir="5400000">
              <a:srgbClr val="1A1E1B">
                <a:alpha val="8000"/>
              </a:srgbClr>
            </a:outerShdw>
          </a:effectLst>
        </p:spPr>
      </p:sp>
      <p:sp>
        <p:nvSpPr>
          <p:cNvPr id="6" name="Text 3"/>
          <p:cNvSpPr txBox="1"/>
          <p:nvPr/>
        </p:nvSpPr>
        <p:spPr>
          <a:xfrm>
            <a:off x="649224" y="157276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H1  The path</a:t>
            </a:r>
            <a:endParaRPr lang="en-US" sz="1600" dirty="0"/>
          </a:p>
        </p:txBody>
      </p:sp>
      <p:sp>
        <p:nvSpPr>
          <p:cNvPr id="7" name="Text 4"/>
          <p:cNvSpPr txBox="1"/>
          <p:nvPr/>
        </p:nvSpPr>
        <p:spPr>
          <a:xfrm>
            <a:off x="649224" y="1901952"/>
            <a:ext cx="3364992" cy="158191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Sweep one channel. A straight path is a slide. An arc is a hinge. The line, or the arc's plane, is the axis.</a:t>
            </a:r>
            <a:endParaRPr lang="en-US" sz="1400" dirty="0"/>
          </a:p>
        </p:txBody>
      </p:sp>
      <p:sp>
        <p:nvSpPr>
          <p:cNvPr id="8" name="Shape 5"/>
          <p:cNvSpPr/>
          <p:nvPr/>
        </p:nvSpPr>
        <p:spPr>
          <a:xfrm>
            <a:off x="4297680" y="1463040"/>
            <a:ext cx="3657600" cy="2148840"/>
          </a:xfrm>
          <a:prstGeom prst="roundRect">
            <a:avLst>
              <a:gd name="adj" fmla="val 3404"/>
            </a:avLst>
          </a:prstGeom>
          <a:solidFill>
            <a:srgbClr val="FFFDF8"/>
          </a:solidFill>
          <a:ln/>
          <a:effectLst>
            <a:outerShdw sx="100000" sy="100000" kx="0" ky="0" algn="bl" rotWithShape="0" blurRad="177800" dist="38100" dir="5400000">
              <a:srgbClr val="1A1E1B">
                <a:alpha val="8000"/>
              </a:srgbClr>
            </a:outerShdw>
          </a:effectLst>
        </p:spPr>
      </p:sp>
      <p:sp>
        <p:nvSpPr>
          <p:cNvPr id="9" name="Text 6"/>
          <p:cNvSpPr txBox="1"/>
          <p:nvPr/>
        </p:nvSpPr>
        <p:spPr>
          <a:xfrm>
            <a:off x="4443984" y="157276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H2  Agreement</a:t>
            </a:r>
            <a:endParaRPr lang="en-US" sz="1600" dirty="0"/>
          </a:p>
        </p:txBody>
      </p:sp>
      <p:sp>
        <p:nvSpPr>
          <p:cNvPr id="10" name="Text 7"/>
          <p:cNvSpPr txBox="1"/>
          <p:nvPr/>
        </p:nvSpPr>
        <p:spPr>
          <a:xfrm>
            <a:off x="4443984" y="1901952"/>
            <a:ext cx="3364992" cy="158191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A channel is settled only when two sweeps, from two poses, agree. If they disagree, every type stays on the board.</a:t>
            </a:r>
            <a:endParaRPr lang="en-US" sz="1400" dirty="0"/>
          </a:p>
        </p:txBody>
      </p:sp>
      <p:sp>
        <p:nvSpPr>
          <p:cNvPr id="11" name="Shape 8"/>
          <p:cNvSpPr/>
          <p:nvPr/>
        </p:nvSpPr>
        <p:spPr>
          <a:xfrm>
            <a:off x="8092440" y="1463040"/>
            <a:ext cx="3657600" cy="2148840"/>
          </a:xfrm>
          <a:prstGeom prst="roundRect">
            <a:avLst>
              <a:gd name="adj" fmla="val 3404"/>
            </a:avLst>
          </a:prstGeom>
          <a:solidFill>
            <a:srgbClr val="FFFDF8"/>
          </a:solidFill>
          <a:ln/>
          <a:effectLst>
            <a:outerShdw sx="100000" sy="100000" kx="0" ky="0" algn="bl" rotWithShape="0" blurRad="177800" dist="38100" dir="5400000">
              <a:srgbClr val="1A1E1B">
                <a:alpha val="8000"/>
              </a:srgbClr>
            </a:outerShdw>
          </a:effectLst>
        </p:spPr>
      </p:sp>
      <p:sp>
        <p:nvSpPr>
          <p:cNvPr id="12" name="Text 9"/>
          <p:cNvSpPr txBox="1"/>
          <p:nvPr/>
        </p:nvSpPr>
        <p:spPr>
          <a:xfrm>
            <a:off x="8238744" y="157276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H3  Collective</a:t>
            </a:r>
            <a:endParaRPr lang="en-US" sz="1600" dirty="0"/>
          </a:p>
        </p:txBody>
      </p:sp>
      <p:sp>
        <p:nvSpPr>
          <p:cNvPr id="13" name="Text 10"/>
          <p:cNvSpPr txBox="1"/>
          <p:nvPr/>
        </p:nvSpPr>
        <p:spPr>
          <a:xfrm>
            <a:off x="8238744" y="1901952"/>
            <a:ext cx="3364992" cy="158191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The same parts, free to disagree, beat one agent and a fixed pipeline when a part lies or dies. Same 64 motions.</a:t>
            </a:r>
            <a:endParaRPr lang="en-US" sz="1400" dirty="0"/>
          </a:p>
        </p:txBody>
      </p:sp>
      <p:sp>
        <p:nvSpPr>
          <p:cNvPr id="14" name="Shape 11"/>
          <p:cNvSpPr/>
          <p:nvPr/>
        </p:nvSpPr>
        <p:spPr>
          <a:xfrm>
            <a:off x="502920" y="3749040"/>
            <a:ext cx="3657600" cy="2148840"/>
          </a:xfrm>
          <a:prstGeom prst="roundRect">
            <a:avLst>
              <a:gd name="adj" fmla="val 3404"/>
            </a:avLst>
          </a:prstGeom>
          <a:solidFill>
            <a:srgbClr val="FFFDF8"/>
          </a:solidFill>
          <a:ln/>
          <a:effectLst>
            <a:outerShdw sx="100000" sy="100000" kx="0" ky="0" algn="bl" rotWithShape="0" blurRad="177800" dist="38100" dir="5400000">
              <a:srgbClr val="1A1E1B">
                <a:alpha val="8000"/>
              </a:srgbClr>
            </a:outerShdw>
          </a:effectLst>
        </p:spPr>
      </p:sp>
      <p:sp>
        <p:nvSpPr>
          <p:cNvPr id="15" name="Text 12"/>
          <p:cNvSpPr txBox="1"/>
          <p:nvPr/>
        </p:nvSpPr>
        <p:spPr>
          <a:xfrm>
            <a:off x="649224" y="385876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H4  Change</a:t>
            </a:r>
            <a:endParaRPr lang="en-US" sz="1600" dirty="0"/>
          </a:p>
        </p:txBody>
      </p:sp>
      <p:sp>
        <p:nvSpPr>
          <p:cNvPr id="16" name="Text 13"/>
          <p:cNvSpPr txBox="1"/>
          <p:nvPr/>
        </p:nvSpPr>
        <p:spPr>
          <a:xfrm>
            <a:off x="649224" y="4187952"/>
            <a:ext cx="3364992" cy="158191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Repeated surprise on sentinel motions is enough to notice that the body changed.</a:t>
            </a:r>
            <a:endParaRPr lang="en-US" sz="1400" dirty="0"/>
          </a:p>
        </p:txBody>
      </p:sp>
      <p:sp>
        <p:nvSpPr>
          <p:cNvPr id="17" name="Shape 14"/>
          <p:cNvSpPr/>
          <p:nvPr/>
        </p:nvSpPr>
        <p:spPr>
          <a:xfrm>
            <a:off x="4297680" y="3749040"/>
            <a:ext cx="3657600" cy="2148840"/>
          </a:xfrm>
          <a:prstGeom prst="roundRect">
            <a:avLst>
              <a:gd name="adj" fmla="val 3404"/>
            </a:avLst>
          </a:prstGeom>
          <a:solidFill>
            <a:srgbClr val="FFFDF8"/>
          </a:solidFill>
          <a:ln/>
          <a:effectLst>
            <a:outerShdw sx="100000" sy="100000" kx="0" ky="0" algn="bl" rotWithShape="0" blurRad="177800" dist="38100" dir="5400000">
              <a:srgbClr val="1A1E1B">
                <a:alpha val="8000"/>
              </a:srgbClr>
            </a:outerShdw>
          </a:effectLst>
        </p:spPr>
      </p:sp>
      <p:sp>
        <p:nvSpPr>
          <p:cNvPr id="18" name="Text 15"/>
          <p:cNvSpPr txBox="1"/>
          <p:nvPr/>
        </p:nvSpPr>
        <p:spPr>
          <a:xfrm>
            <a:off x="4443984" y="385876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H5  Refusal</a:t>
            </a:r>
            <a:endParaRPr lang="en-US" sz="1600" dirty="0"/>
          </a:p>
        </p:txBody>
      </p:sp>
      <p:sp>
        <p:nvSpPr>
          <p:cNvPr id="19" name="Text 16"/>
          <p:cNvSpPr txBox="1"/>
          <p:nvPr/>
        </p:nvSpPr>
        <p:spPr>
          <a:xfrm>
            <a:off x="4443984" y="4187952"/>
            <a:ext cx="3364992" cy="158191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The planner should decline a target the model has not earned, including anything past the body's reach.</a:t>
            </a:r>
            <a:endParaRPr lang="en-US" sz="1400" dirty="0"/>
          </a:p>
        </p:txBody>
      </p:sp>
      <p:sp>
        <p:nvSpPr>
          <p:cNvPr id="20" name="Shape 17"/>
          <p:cNvSpPr/>
          <p:nvPr/>
        </p:nvSpPr>
        <p:spPr>
          <a:xfrm>
            <a:off x="8092440" y="3749040"/>
            <a:ext cx="3657600" cy="2148840"/>
          </a:xfrm>
          <a:prstGeom prst="roundRect">
            <a:avLst>
              <a:gd name="adj" fmla="val 3404"/>
            </a:avLst>
          </a:prstGeom>
          <a:solidFill>
            <a:srgbClr val="FFFDF8"/>
          </a:solidFill>
          <a:ln/>
          <a:effectLst>
            <a:outerShdw sx="100000" sy="100000" kx="0" ky="0" algn="bl" rotWithShape="0" blurRad="177800" dist="38100" dir="5400000">
              <a:srgbClr val="1A1E1B">
                <a:alpha val="8000"/>
              </a:srgbClr>
            </a:outerShdw>
          </a:effectLst>
        </p:spPr>
      </p:sp>
      <p:sp>
        <p:nvSpPr>
          <p:cNvPr id="21" name="Text 18"/>
          <p:cNvSpPr txBox="1"/>
          <p:nvPr/>
        </p:nvSpPr>
        <p:spPr>
          <a:xfrm>
            <a:off x="8238744" y="385876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H6  Known body</a:t>
            </a:r>
            <a:endParaRPr lang="en-US" sz="1600" dirty="0"/>
          </a:p>
        </p:txBody>
      </p:sp>
      <p:sp>
        <p:nvSpPr>
          <p:cNvPr id="22" name="Text 19"/>
          <p:cNvSpPr txBox="1"/>
          <p:nvPr/>
        </p:nvSpPr>
        <p:spPr>
          <a:xfrm>
            <a:off x="8238744" y="4187952"/>
            <a:ext cx="3364992" cy="158191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When the structure is already known, the swarm should not cost accuracy.</a:t>
            </a:r>
            <a:endParaRPr lang="en-US" sz="14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METHOD</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They share a board. Nobody calls anybody.</a:t>
            </a:r>
            <a:endParaRPr lang="en-US" sz="3200" dirty="0"/>
          </a:p>
        </p:txBody>
      </p:sp>
      <p:sp>
        <p:nvSpPr>
          <p:cNvPr id="5" name="Shape 2"/>
          <p:cNvSpPr/>
          <p:nvPr/>
        </p:nvSpPr>
        <p:spPr>
          <a:xfrm>
            <a:off x="502920" y="1463040"/>
            <a:ext cx="2761488" cy="2103120"/>
          </a:xfrm>
          <a:prstGeom prst="roundRect">
            <a:avLst>
              <a:gd name="adj" fmla="val 3478"/>
            </a:avLst>
          </a:prstGeom>
          <a:solidFill>
            <a:srgbClr val="FFFDF8"/>
          </a:solidFill>
          <a:ln/>
          <a:effectLst>
            <a:outerShdw sx="100000" sy="100000" kx="0" ky="0" algn="bl" rotWithShape="0" blurRad="177800" dist="38100" dir="5400000">
              <a:srgbClr val="1A1E1B">
                <a:alpha val="8000"/>
              </a:srgbClr>
            </a:outerShdw>
          </a:effectLst>
        </p:spPr>
      </p:sp>
      <p:sp>
        <p:nvSpPr>
          <p:cNvPr id="6" name="Text 3"/>
          <p:cNvSpPr txBox="1"/>
          <p:nvPr/>
        </p:nvSpPr>
        <p:spPr>
          <a:xfrm>
            <a:off x="649224" y="1572768"/>
            <a:ext cx="2468880"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Explorer ×2</a:t>
            </a:r>
            <a:endParaRPr lang="en-US" sz="1600" dirty="0"/>
          </a:p>
        </p:txBody>
      </p:sp>
      <p:sp>
        <p:nvSpPr>
          <p:cNvPr id="7" name="Text 4"/>
          <p:cNvSpPr txBox="1"/>
          <p:nvPr/>
        </p:nvSpPr>
        <p:spPr>
          <a:xfrm>
            <a:off x="649224" y="1901952"/>
            <a:ext cx="2468880" cy="153619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Picks a motion where the competing models disagree.</a:t>
            </a:r>
            <a:endParaRPr lang="en-US" sz="1400" dirty="0"/>
          </a:p>
        </p:txBody>
      </p:sp>
      <p:sp>
        <p:nvSpPr>
          <p:cNvPr id="8" name="Shape 5"/>
          <p:cNvSpPr/>
          <p:nvPr/>
        </p:nvSpPr>
        <p:spPr>
          <a:xfrm>
            <a:off x="3383280" y="1463040"/>
            <a:ext cx="2761488" cy="2103120"/>
          </a:xfrm>
          <a:prstGeom prst="roundRect">
            <a:avLst>
              <a:gd name="adj" fmla="val 3478"/>
            </a:avLst>
          </a:prstGeom>
          <a:solidFill>
            <a:srgbClr val="FFFDF8"/>
          </a:solidFill>
          <a:ln/>
          <a:effectLst>
            <a:outerShdw sx="100000" sy="100000" kx="0" ky="0" algn="bl" rotWithShape="0" blurRad="177800" dist="38100" dir="5400000">
              <a:srgbClr val="1A1E1B">
                <a:alpha val="8000"/>
              </a:srgbClr>
            </a:outerShdw>
          </a:effectLst>
        </p:spPr>
      </p:sp>
      <p:sp>
        <p:nvSpPr>
          <p:cNvPr id="9" name="Text 6"/>
          <p:cNvSpPr txBox="1"/>
          <p:nvPr/>
        </p:nvSpPr>
        <p:spPr>
          <a:xfrm>
            <a:off x="3529584" y="1572768"/>
            <a:ext cx="2468880"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Channel ×2 each</a:t>
            </a:r>
            <a:endParaRPr lang="en-US" sz="1600" dirty="0"/>
          </a:p>
        </p:txBody>
      </p:sp>
      <p:sp>
        <p:nvSpPr>
          <p:cNvPr id="10" name="Text 7"/>
          <p:cNvSpPr txBox="1"/>
          <p:nvPr/>
        </p:nvSpPr>
        <p:spPr>
          <a:xfrm>
            <a:off x="3529584" y="1901952"/>
            <a:ext cx="2468880" cy="153619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Sweeps one channel from home, and again from a bent pose.</a:t>
            </a:r>
            <a:endParaRPr lang="en-US" sz="1400" dirty="0"/>
          </a:p>
        </p:txBody>
      </p:sp>
      <p:sp>
        <p:nvSpPr>
          <p:cNvPr id="11" name="Shape 8"/>
          <p:cNvSpPr/>
          <p:nvPr/>
        </p:nvSpPr>
        <p:spPr>
          <a:xfrm>
            <a:off x="6263640" y="1463040"/>
            <a:ext cx="2761488" cy="2103120"/>
          </a:xfrm>
          <a:prstGeom prst="roundRect">
            <a:avLst>
              <a:gd name="adj" fmla="val 3478"/>
            </a:avLst>
          </a:prstGeom>
          <a:solidFill>
            <a:srgbClr val="FFFDF8"/>
          </a:solidFill>
          <a:ln/>
          <a:effectLst>
            <a:outerShdw sx="100000" sy="100000" kx="0" ky="0" algn="bl" rotWithShape="0" blurRad="177800" dist="38100" dir="5400000">
              <a:srgbClr val="1A1E1B">
                <a:alpha val="8000"/>
              </a:srgbClr>
            </a:outerShdw>
          </a:effectLst>
        </p:spPr>
      </p:sp>
      <p:sp>
        <p:nvSpPr>
          <p:cNvPr id="12" name="Text 9"/>
          <p:cNvSpPr txBox="1"/>
          <p:nvPr/>
        </p:nvSpPr>
        <p:spPr>
          <a:xfrm>
            <a:off x="6409944" y="1572768"/>
            <a:ext cx="2468880"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Review</a:t>
            </a:r>
            <a:endParaRPr lang="en-US" sz="1600" dirty="0"/>
          </a:p>
        </p:txBody>
      </p:sp>
      <p:sp>
        <p:nvSpPr>
          <p:cNvPr id="13" name="Text 10"/>
          <p:cNvSpPr txBox="1"/>
          <p:nvPr/>
        </p:nvSpPr>
        <p:spPr>
          <a:xfrm>
            <a:off x="6409944" y="1901952"/>
            <a:ext cx="2468880" cy="153619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A third pose, when a channel is doubtful and the champion is still off.</a:t>
            </a:r>
            <a:endParaRPr lang="en-US" sz="1400" dirty="0"/>
          </a:p>
        </p:txBody>
      </p:sp>
      <p:sp>
        <p:nvSpPr>
          <p:cNvPr id="14" name="Shape 11"/>
          <p:cNvSpPr/>
          <p:nvPr/>
        </p:nvSpPr>
        <p:spPr>
          <a:xfrm>
            <a:off x="9144000" y="1463040"/>
            <a:ext cx="2761488" cy="2103120"/>
          </a:xfrm>
          <a:prstGeom prst="roundRect">
            <a:avLst>
              <a:gd name="adj" fmla="val 3478"/>
            </a:avLst>
          </a:prstGeom>
          <a:solidFill>
            <a:srgbClr val="FFFDF8"/>
          </a:solidFill>
          <a:ln/>
          <a:effectLst>
            <a:outerShdw sx="100000" sy="100000" kx="0" ky="0" algn="bl" rotWithShape="0" blurRad="177800" dist="38100" dir="5400000">
              <a:srgbClr val="1A1E1B">
                <a:alpha val="8000"/>
              </a:srgbClr>
            </a:outerShdw>
          </a:effectLst>
        </p:spPr>
      </p:sp>
      <p:sp>
        <p:nvSpPr>
          <p:cNvPr id="15" name="Text 12"/>
          <p:cNvSpPr txBox="1"/>
          <p:nvPr/>
        </p:nvSpPr>
        <p:spPr>
          <a:xfrm>
            <a:off x="9290304" y="1572768"/>
            <a:ext cx="2468880"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Hypothesizers</a:t>
            </a:r>
            <a:endParaRPr lang="en-US" sz="1600" dirty="0"/>
          </a:p>
        </p:txBody>
      </p:sp>
      <p:sp>
        <p:nvSpPr>
          <p:cNvPr id="16" name="Text 13"/>
          <p:cNvSpPr txBox="1"/>
          <p:nvPr/>
        </p:nvSpPr>
        <p:spPr>
          <a:xfrm>
            <a:off x="9290304" y="1901952"/>
            <a:ext cx="2468880" cy="153619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Assemble a whole structure from findings, a prior, a library, or a model.</a:t>
            </a:r>
            <a:endParaRPr lang="en-US" sz="1400" dirty="0"/>
          </a:p>
        </p:txBody>
      </p:sp>
      <p:sp>
        <p:nvSpPr>
          <p:cNvPr id="17" name="Shape 14"/>
          <p:cNvSpPr/>
          <p:nvPr/>
        </p:nvSpPr>
        <p:spPr>
          <a:xfrm>
            <a:off x="502920" y="3703320"/>
            <a:ext cx="2761488" cy="2103120"/>
          </a:xfrm>
          <a:prstGeom prst="roundRect">
            <a:avLst>
              <a:gd name="adj" fmla="val 3478"/>
            </a:avLst>
          </a:prstGeom>
          <a:solidFill>
            <a:srgbClr val="FFFDF8"/>
          </a:solidFill>
          <a:ln/>
          <a:effectLst>
            <a:outerShdw sx="100000" sy="100000" kx="0" ky="0" algn="bl" rotWithShape="0" blurRad="177800" dist="38100" dir="5400000">
              <a:srgbClr val="1A1E1B">
                <a:alpha val="8000"/>
              </a:srgbClr>
            </a:outerShdw>
          </a:effectLst>
        </p:spPr>
      </p:sp>
      <p:sp>
        <p:nvSpPr>
          <p:cNvPr id="18" name="Text 15"/>
          <p:cNvSpPr txBox="1"/>
          <p:nvPr/>
        </p:nvSpPr>
        <p:spPr>
          <a:xfrm>
            <a:off x="649224" y="3813048"/>
            <a:ext cx="2468880"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Modeler ×4</a:t>
            </a:r>
            <a:endParaRPr lang="en-US" sz="1600" dirty="0"/>
          </a:p>
        </p:txBody>
      </p:sp>
      <p:sp>
        <p:nvSpPr>
          <p:cNvPr id="19" name="Text 16"/>
          <p:cNvSpPr txBox="1"/>
          <p:nvPr/>
        </p:nvSpPr>
        <p:spPr>
          <a:xfrm>
            <a:off x="649224" y="4142232"/>
            <a:ext cx="2468880" cy="153619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Two chain fits, a Gaussian mixture, and a neural net.</a:t>
            </a:r>
            <a:endParaRPr lang="en-US" sz="1400" dirty="0"/>
          </a:p>
        </p:txBody>
      </p:sp>
      <p:sp>
        <p:nvSpPr>
          <p:cNvPr id="20" name="Shape 17"/>
          <p:cNvSpPr/>
          <p:nvPr/>
        </p:nvSpPr>
        <p:spPr>
          <a:xfrm>
            <a:off x="3383280" y="3703320"/>
            <a:ext cx="2761488" cy="2103120"/>
          </a:xfrm>
          <a:prstGeom prst="roundRect">
            <a:avLst>
              <a:gd name="adj" fmla="val 3478"/>
            </a:avLst>
          </a:prstGeom>
          <a:solidFill>
            <a:srgbClr val="FFFDF8"/>
          </a:solidFill>
          <a:ln/>
          <a:effectLst>
            <a:outerShdw sx="100000" sy="100000" kx="0" ky="0" algn="bl" rotWithShape="0" blurRad="177800" dist="38100" dir="5400000">
              <a:srgbClr val="1A1E1B">
                <a:alpha val="8000"/>
              </a:srgbClr>
            </a:outerShdw>
          </a:effectLst>
        </p:spPr>
      </p:sp>
      <p:sp>
        <p:nvSpPr>
          <p:cNvPr id="21" name="Text 18"/>
          <p:cNvSpPr txBox="1"/>
          <p:nvPr/>
        </p:nvSpPr>
        <p:spPr>
          <a:xfrm>
            <a:off x="3529584" y="3813048"/>
            <a:ext cx="2468880"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Validator ×2</a:t>
            </a:r>
            <a:endParaRPr lang="en-US" sz="1600" dirty="0"/>
          </a:p>
        </p:txBody>
      </p:sp>
      <p:sp>
        <p:nvSpPr>
          <p:cNvPr id="22" name="Text 19"/>
          <p:cNvSpPr txBox="1"/>
          <p:nvPr/>
        </p:nvSpPr>
        <p:spPr>
          <a:xfrm>
            <a:off x="3529584" y="4142232"/>
            <a:ext cx="2468880" cy="153619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Replay the fit. Crown the lowest holdout error. The rule is public.</a:t>
            </a:r>
            <a:endParaRPr lang="en-US" sz="1400" dirty="0"/>
          </a:p>
        </p:txBody>
      </p:sp>
      <p:sp>
        <p:nvSpPr>
          <p:cNvPr id="23" name="Shape 20"/>
          <p:cNvSpPr/>
          <p:nvPr/>
        </p:nvSpPr>
        <p:spPr>
          <a:xfrm>
            <a:off x="6263640" y="3703320"/>
            <a:ext cx="2761488" cy="2103120"/>
          </a:xfrm>
          <a:prstGeom prst="roundRect">
            <a:avLst>
              <a:gd name="adj" fmla="val 3478"/>
            </a:avLst>
          </a:prstGeom>
          <a:solidFill>
            <a:srgbClr val="FFFDF8"/>
          </a:solidFill>
          <a:ln/>
          <a:effectLst>
            <a:outerShdw sx="100000" sy="100000" kx="0" ky="0" algn="bl" rotWithShape="0" blurRad="177800" dist="38100" dir="5400000">
              <a:srgbClr val="1A1E1B">
                <a:alpha val="8000"/>
              </a:srgbClr>
            </a:outerShdw>
          </a:effectLst>
        </p:spPr>
      </p:sp>
      <p:sp>
        <p:nvSpPr>
          <p:cNvPr id="24" name="Text 21"/>
          <p:cNvSpPr txBox="1"/>
          <p:nvPr/>
        </p:nvSpPr>
        <p:spPr>
          <a:xfrm>
            <a:off x="6409944" y="3813048"/>
            <a:ext cx="2468880"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Monitor</a:t>
            </a:r>
            <a:endParaRPr lang="en-US" sz="1600" dirty="0"/>
          </a:p>
        </p:txBody>
      </p:sp>
      <p:sp>
        <p:nvSpPr>
          <p:cNvPr id="25" name="Text 22"/>
          <p:cNvSpPr txBox="1"/>
          <p:nvPr/>
        </p:nvSpPr>
        <p:spPr>
          <a:xfrm>
            <a:off x="6409944" y="4142232"/>
            <a:ext cx="2468880" cy="153619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On repeated surprise, says the body changed and opens a new epoch.</a:t>
            </a:r>
            <a:endParaRPr lang="en-US" sz="1400" dirty="0"/>
          </a:p>
        </p:txBody>
      </p:sp>
      <p:sp>
        <p:nvSpPr>
          <p:cNvPr id="26" name="Shape 23"/>
          <p:cNvSpPr/>
          <p:nvPr/>
        </p:nvSpPr>
        <p:spPr>
          <a:xfrm>
            <a:off x="9144000" y="3703320"/>
            <a:ext cx="2761488" cy="2103120"/>
          </a:xfrm>
          <a:prstGeom prst="roundRect">
            <a:avLst>
              <a:gd name="adj" fmla="val 3478"/>
            </a:avLst>
          </a:prstGeom>
          <a:solidFill>
            <a:srgbClr val="FFFDF8"/>
          </a:solidFill>
          <a:ln/>
          <a:effectLst>
            <a:outerShdw sx="100000" sy="100000" kx="0" ky="0" algn="bl" rotWithShape="0" blurRad="177800" dist="38100" dir="5400000">
              <a:srgbClr val="1A1E1B">
                <a:alpha val="8000"/>
              </a:srgbClr>
            </a:outerShdw>
          </a:effectLst>
        </p:spPr>
      </p:sp>
      <p:sp>
        <p:nvSpPr>
          <p:cNvPr id="27" name="Text 24"/>
          <p:cNvSpPr txBox="1"/>
          <p:nvPr/>
        </p:nvSpPr>
        <p:spPr>
          <a:xfrm>
            <a:off x="9290304" y="3813048"/>
            <a:ext cx="2468880"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Planner</a:t>
            </a:r>
            <a:endParaRPr lang="en-US" sz="1600" dirty="0"/>
          </a:p>
        </p:txBody>
      </p:sp>
      <p:sp>
        <p:nvSpPr>
          <p:cNvPr id="28" name="Text 25"/>
          <p:cNvSpPr txBox="1"/>
          <p:nvPr/>
        </p:nvSpPr>
        <p:spPr>
          <a:xfrm>
            <a:off x="9290304" y="4142232"/>
            <a:ext cx="2468880" cy="153619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Inverse kinematics on the champion. After an alarm, it refuses to move.</a:t>
            </a:r>
            <a:endParaRPr lang="en-US" sz="14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METHOD  ·  H1 AND H2</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A line is a slide. An arc is a hinge.</a:t>
            </a:r>
            <a:endParaRPr lang="en-US" sz="3200" dirty="0"/>
          </a:p>
        </p:txBody>
      </p:sp>
      <p:sp>
        <p:nvSpPr>
          <p:cNvPr id="5" name="Shape 2"/>
          <p:cNvSpPr/>
          <p:nvPr/>
        </p:nvSpPr>
        <p:spPr>
          <a:xfrm>
            <a:off x="502920" y="1508760"/>
            <a:ext cx="5486400" cy="2103120"/>
          </a:xfrm>
          <a:prstGeom prst="roundRect">
            <a:avLst>
              <a:gd name="adj" fmla="val 3478"/>
            </a:avLst>
          </a:prstGeom>
          <a:solidFill>
            <a:srgbClr val="FFFDF8"/>
          </a:solidFill>
          <a:ln/>
          <a:effectLst>
            <a:outerShdw sx="100000" sy="100000" kx="0" ky="0" algn="bl" rotWithShape="0" blurRad="177800" dist="38100" dir="5400000">
              <a:srgbClr val="1A1E1B">
                <a:alpha val="8000"/>
              </a:srgbClr>
            </a:outerShdw>
          </a:effectLst>
        </p:spPr>
      </p:sp>
      <p:sp>
        <p:nvSpPr>
          <p:cNvPr id="6" name="Text 3"/>
          <p:cNvSpPr txBox="1"/>
          <p:nvPr/>
        </p:nvSpPr>
        <p:spPr>
          <a:xfrm>
            <a:off x="649224" y="1618488"/>
            <a:ext cx="51937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Hinge  ·  hz</a:t>
            </a:r>
            <a:endParaRPr lang="en-US" sz="1600" dirty="0"/>
          </a:p>
        </p:txBody>
      </p:sp>
      <p:sp>
        <p:nvSpPr>
          <p:cNvPr id="7" name="Text 4"/>
          <p:cNvSpPr txBox="1"/>
          <p:nvPr/>
        </p:nvSpPr>
        <p:spPr>
          <a:xfrm>
            <a:off x="649224" y="1947672"/>
            <a:ext cx="5193792" cy="153619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The fingertip rides a circle. The axis is the normal of that plane. Confidence is how far this is from a straight line.</a:t>
            </a:r>
            <a:endParaRPr lang="en-US" sz="1400" dirty="0"/>
          </a:p>
        </p:txBody>
      </p:sp>
      <p:sp>
        <p:nvSpPr>
          <p:cNvPr id="8" name="Shape 5"/>
          <p:cNvSpPr/>
          <p:nvPr/>
        </p:nvSpPr>
        <p:spPr>
          <a:xfrm>
            <a:off x="6172200" y="1508760"/>
            <a:ext cx="5486400" cy="2103120"/>
          </a:xfrm>
          <a:prstGeom prst="roundRect">
            <a:avLst>
              <a:gd name="adj" fmla="val 3478"/>
            </a:avLst>
          </a:prstGeom>
          <a:solidFill>
            <a:srgbClr val="FFFDF8"/>
          </a:solidFill>
          <a:ln/>
          <a:effectLst>
            <a:outerShdw sx="100000" sy="100000" kx="0" ky="0" algn="bl" rotWithShape="0" blurRad="177800" dist="38100" dir="5400000">
              <a:srgbClr val="1A1E1B">
                <a:alpha val="8000"/>
              </a:srgbClr>
            </a:outerShdw>
          </a:effectLst>
        </p:spPr>
      </p:sp>
      <p:sp>
        <p:nvSpPr>
          <p:cNvPr id="9" name="Text 6"/>
          <p:cNvSpPr txBox="1"/>
          <p:nvPr/>
        </p:nvSpPr>
        <p:spPr>
          <a:xfrm>
            <a:off x="6318504" y="1618488"/>
            <a:ext cx="51937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Slide  ·  sx</a:t>
            </a:r>
            <a:endParaRPr lang="en-US" sz="1600" dirty="0"/>
          </a:p>
        </p:txBody>
      </p:sp>
      <p:sp>
        <p:nvSpPr>
          <p:cNvPr id="10" name="Text 7"/>
          <p:cNvSpPr txBox="1"/>
          <p:nvPr/>
        </p:nvSpPr>
        <p:spPr>
          <a:xfrm>
            <a:off x="6318504" y="1947672"/>
            <a:ext cx="5193792" cy="153619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The fingertip rides a straight line. The axis is the direction of the line. Metres per command are learned with the length.</a:t>
            </a:r>
            <a:endParaRPr lang="en-US" sz="1400" dirty="0"/>
          </a:p>
        </p:txBody>
      </p:sp>
      <p:sp>
        <p:nvSpPr>
          <p:cNvPr id="11" name="Shape 8"/>
          <p:cNvSpPr/>
          <p:nvPr/>
        </p:nvSpPr>
        <p:spPr>
          <a:xfrm>
            <a:off x="502920" y="3794760"/>
            <a:ext cx="5486400" cy="1965960"/>
          </a:xfrm>
          <a:prstGeom prst="roundRect">
            <a:avLst>
              <a:gd name="adj" fmla="val 3721"/>
            </a:avLst>
          </a:prstGeom>
          <a:solidFill>
            <a:srgbClr val="FFFDF8"/>
          </a:solidFill>
          <a:ln/>
          <a:effectLst>
            <a:outerShdw sx="100000" sy="100000" kx="0" ky="0" algn="bl" rotWithShape="0" blurRad="177800" dist="38100" dir="5400000">
              <a:srgbClr val="1A1E1B">
                <a:alpha val="8000"/>
              </a:srgbClr>
            </a:outerShdw>
          </a:effectLst>
        </p:spPr>
      </p:sp>
      <p:sp>
        <p:nvSpPr>
          <p:cNvPr id="12" name="Text 9"/>
          <p:cNvSpPr txBox="1"/>
          <p:nvPr/>
        </p:nvSpPr>
        <p:spPr>
          <a:xfrm>
            <a:off x="649224" y="3904488"/>
            <a:ext cx="51937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Both say hz</a:t>
            </a:r>
            <a:endParaRPr lang="en-US" sz="1600" dirty="0"/>
          </a:p>
        </p:txBody>
      </p:sp>
      <p:sp>
        <p:nvSpPr>
          <p:cNvPr id="13" name="Text 10"/>
          <p:cNvSpPr txBox="1"/>
          <p:nvPr/>
        </p:nvSpPr>
        <p:spPr>
          <a:xfrm>
            <a:off x="649224" y="4233672"/>
            <a:ext cx="5193792" cy="139903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The channel is settled. The finding goes on the board once, with both parents.</a:t>
            </a:r>
            <a:endParaRPr lang="en-US" sz="1400" dirty="0"/>
          </a:p>
        </p:txBody>
      </p:sp>
      <p:sp>
        <p:nvSpPr>
          <p:cNvPr id="14" name="Shape 11"/>
          <p:cNvSpPr/>
          <p:nvPr/>
        </p:nvSpPr>
        <p:spPr>
          <a:xfrm>
            <a:off x="6172200" y="3794760"/>
            <a:ext cx="5486400" cy="1965960"/>
          </a:xfrm>
          <a:prstGeom prst="roundRect">
            <a:avLst>
              <a:gd name="adj" fmla="val 3721"/>
            </a:avLst>
          </a:prstGeom>
          <a:solidFill>
            <a:srgbClr val="F8EBE6"/>
          </a:solidFill>
          <a:ln/>
          <a:effectLst>
            <a:outerShdw sx="100000" sy="100000" kx="0" ky="0" algn="bl" rotWithShape="0" blurRad="177800" dist="38100" dir="5400000">
              <a:srgbClr val="1A1E1B">
                <a:alpha val="8000"/>
              </a:srgbClr>
            </a:outerShdw>
          </a:effectLst>
        </p:spPr>
      </p:sp>
      <p:sp>
        <p:nvSpPr>
          <p:cNvPr id="15" name="Text 12"/>
          <p:cNvSpPr txBox="1"/>
          <p:nvPr/>
        </p:nvSpPr>
        <p:spPr>
          <a:xfrm>
            <a:off x="6318504" y="3904488"/>
            <a:ext cx="51937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They disagree</a:t>
            </a:r>
            <a:endParaRPr lang="en-US" sz="1600" dirty="0"/>
          </a:p>
        </p:txBody>
      </p:sp>
      <p:sp>
        <p:nvSpPr>
          <p:cNvPr id="16" name="Text 13"/>
          <p:cNvSpPr txBox="1"/>
          <p:nvPr/>
        </p:nvSpPr>
        <p:spPr>
          <a:xfrm>
            <a:off x="6318504" y="4233672"/>
            <a:ext cx="5193792" cy="139903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Disputed. Every type is proposed, and a review agent can sweep from a third pose.</a:t>
            </a:r>
            <a:endParaRPr lang="en-US" sz="14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METHOD</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The crown is a held-out error</a:t>
            </a:r>
            <a:endParaRPr lang="en-US" sz="3200" dirty="0"/>
          </a:p>
        </p:txBody>
      </p:sp>
      <p:sp>
        <p:nvSpPr>
          <p:cNvPr id="5" name="Shape 2"/>
          <p:cNvSpPr/>
          <p:nvPr/>
        </p:nvSpPr>
        <p:spPr>
          <a:xfrm>
            <a:off x="502920" y="1554480"/>
            <a:ext cx="3657600" cy="3200400"/>
          </a:xfrm>
          <a:prstGeom prst="roundRect">
            <a:avLst>
              <a:gd name="adj" fmla="val 2286"/>
            </a:avLst>
          </a:prstGeom>
          <a:solidFill>
            <a:srgbClr val="FFFDF8"/>
          </a:solidFill>
          <a:ln/>
          <a:effectLst>
            <a:outerShdw sx="100000" sy="100000" kx="0" ky="0" algn="bl" rotWithShape="0" blurRad="177800" dist="38100" dir="5400000">
              <a:srgbClr val="1A1E1B">
                <a:alpha val="8000"/>
              </a:srgbClr>
            </a:outerShdw>
          </a:effectLst>
        </p:spPr>
      </p:sp>
      <p:sp>
        <p:nvSpPr>
          <p:cNvPr id="6" name="Text 3"/>
          <p:cNvSpPr txBox="1"/>
          <p:nvPr/>
        </p:nvSpPr>
        <p:spPr>
          <a:xfrm>
            <a:off x="649224" y="166420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1  ·  Propose</a:t>
            </a:r>
            <a:endParaRPr lang="en-US" sz="1600" dirty="0"/>
          </a:p>
        </p:txBody>
      </p:sp>
      <p:sp>
        <p:nvSpPr>
          <p:cNvPr id="7" name="Text 4"/>
          <p:cNvSpPr txBox="1"/>
          <p:nvPr/>
        </p:nvSpPr>
        <p:spPr>
          <a:xfrm>
            <a:off x="649224" y="1993392"/>
            <a:ext cx="3364992" cy="263347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Hypothesizers turn channel findings into a chain, including the order of the wires. A prior, a library, and a language model can propose too, when a key is set.</a:t>
            </a:r>
            <a:endParaRPr lang="en-US" sz="1400" dirty="0"/>
          </a:p>
        </p:txBody>
      </p:sp>
      <p:sp>
        <p:nvSpPr>
          <p:cNvPr id="8" name="Shape 5"/>
          <p:cNvSpPr/>
          <p:nvPr/>
        </p:nvSpPr>
        <p:spPr>
          <a:xfrm>
            <a:off x="4297680" y="1554480"/>
            <a:ext cx="3657600" cy="3200400"/>
          </a:xfrm>
          <a:prstGeom prst="roundRect">
            <a:avLst>
              <a:gd name="adj" fmla="val 2286"/>
            </a:avLst>
          </a:prstGeom>
          <a:solidFill>
            <a:srgbClr val="FFFDF8"/>
          </a:solidFill>
          <a:ln/>
          <a:effectLst>
            <a:outerShdw sx="100000" sy="100000" kx="0" ky="0" algn="bl" rotWithShape="0" blurRad="177800" dist="38100" dir="5400000">
              <a:srgbClr val="1A1E1B">
                <a:alpha val="8000"/>
              </a:srgbClr>
            </a:outerShdw>
          </a:effectLst>
        </p:spPr>
      </p:sp>
      <p:sp>
        <p:nvSpPr>
          <p:cNvPr id="9" name="Text 6"/>
          <p:cNvSpPr txBox="1"/>
          <p:nvPr/>
        </p:nvSpPr>
        <p:spPr>
          <a:xfrm>
            <a:off x="4443984" y="166420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2  ·  Fit</a:t>
            </a:r>
            <a:endParaRPr lang="en-US" sz="1600" dirty="0"/>
          </a:p>
        </p:txBody>
      </p:sp>
      <p:sp>
        <p:nvSpPr>
          <p:cNvPr id="10" name="Text 7"/>
          <p:cNvSpPr txBox="1"/>
          <p:nvPr/>
        </p:nvSpPr>
        <p:spPr>
          <a:xfrm>
            <a:off x="4443984" y="1993392"/>
            <a:ext cx="3364992" cy="263347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A chain model turns that structure into lengths and axes. Two chain modelers use different seeds. A mixture model and a neural net fit the same motions without a chain.</a:t>
            </a:r>
            <a:endParaRPr lang="en-US" sz="1400" dirty="0"/>
          </a:p>
        </p:txBody>
      </p:sp>
      <p:sp>
        <p:nvSpPr>
          <p:cNvPr id="11" name="Shape 8"/>
          <p:cNvSpPr/>
          <p:nvPr/>
        </p:nvSpPr>
        <p:spPr>
          <a:xfrm>
            <a:off x="8092440" y="1554480"/>
            <a:ext cx="3657600" cy="3200400"/>
          </a:xfrm>
          <a:prstGeom prst="roundRect">
            <a:avLst>
              <a:gd name="adj" fmla="val 2286"/>
            </a:avLst>
          </a:prstGeom>
          <a:solidFill>
            <a:srgbClr val="FFFDF8"/>
          </a:solidFill>
          <a:ln/>
          <a:effectLst>
            <a:outerShdw sx="100000" sy="100000" kx="0" ky="0" algn="bl" rotWithShape="0" blurRad="177800" dist="38100" dir="5400000">
              <a:srgbClr val="1A1E1B">
                <a:alpha val="8000"/>
              </a:srgbClr>
            </a:outerShdw>
          </a:effectLst>
        </p:spPr>
      </p:sp>
      <p:sp>
        <p:nvSpPr>
          <p:cNvPr id="12" name="Text 9"/>
          <p:cNvSpPr txBox="1"/>
          <p:nvPr/>
        </p:nvSpPr>
        <p:spPr>
          <a:xfrm>
            <a:off x="8238744" y="166420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3  ·  Replay, then crown</a:t>
            </a:r>
            <a:endParaRPr lang="en-US" sz="1600" dirty="0"/>
          </a:p>
        </p:txBody>
      </p:sp>
      <p:sp>
        <p:nvSpPr>
          <p:cNvPr id="13" name="Text 10"/>
          <p:cNvSpPr txBox="1"/>
          <p:nvPr/>
        </p:nvSpPr>
        <p:spPr>
          <a:xfrm>
            <a:off x="8238744" y="1993392"/>
            <a:ext cx="3364992" cy="263347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A validator refits from scratch. The refit has to reproduce the score. The public rule picks the lowest holdout error. A near tie goes to the older candidate.</a:t>
            </a:r>
            <a:endParaRPr lang="en-US" sz="1400" dirty="0"/>
          </a:p>
        </p:txBody>
      </p:sp>
      <p:sp>
        <p:nvSpPr>
          <p:cNvPr id="14" name="Text 11"/>
          <p:cNvSpPr txBox="1"/>
          <p:nvPr/>
        </p:nvSpPr>
        <p:spPr>
          <a:xfrm>
            <a:off x="502920" y="4983480"/>
            <a:ext cx="11155680" cy="411480"/>
          </a:xfrm>
          <a:prstGeom prst="rect">
            <a:avLst/>
          </a:prstGeom>
          <a:noFill/>
          <a:ln/>
        </p:spPr>
        <p:txBody>
          <a:bodyPr wrap="square" lIns="0" tIns="0" rIns="0" bIns="0" rtlCol="0" anchor="ctr"/>
          <a:lstStyle/>
          <a:p>
            <a:pPr indent="0" marL="0">
              <a:buNone/>
            </a:pPr>
            <a:r>
              <a:rPr lang="en-US" sz="1600" dirty="0">
                <a:solidFill>
                  <a:srgbClr val="4A463F"/>
                </a:solidFill>
                <a:latin typeface="Calibri" pitchFamily="34" charset="0"/>
                <a:ea typeface="Calibri" pitchFamily="34" charset="-122"/>
                <a:cs typeface="Calibri" pitchFamily="34" charset="-120"/>
              </a:rPr>
              <a:t>Any agent can compute the rule. A failed replay used to kill the whole job. It now fails that candidate only.</a:t>
            </a:r>
            <a:endParaRPr lang="en-US" sz="16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THE COMPARISON</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Four ways to spend the same 64 motions</a:t>
            </a:r>
            <a:endParaRPr lang="en-US" sz="3200" dirty="0"/>
          </a:p>
        </p:txBody>
      </p:sp>
      <p:sp>
        <p:nvSpPr>
          <p:cNvPr id="5" name="Shape 2"/>
          <p:cNvSpPr/>
          <p:nvPr/>
        </p:nvSpPr>
        <p:spPr>
          <a:xfrm>
            <a:off x="502920" y="1554480"/>
            <a:ext cx="2761488" cy="3291840"/>
          </a:xfrm>
          <a:prstGeom prst="roundRect">
            <a:avLst>
              <a:gd name="adj" fmla="val 2649"/>
            </a:avLst>
          </a:prstGeom>
          <a:solidFill>
            <a:srgbClr val="E7F0FA"/>
          </a:solidFill>
          <a:ln/>
          <a:effectLst>
            <a:outerShdw sx="100000" sy="100000" kx="0" ky="0" algn="bl" rotWithShape="0" blurRad="177800" dist="38100" dir="5400000">
              <a:srgbClr val="1A1E1B">
                <a:alpha val="8000"/>
              </a:srgbClr>
            </a:outerShdw>
          </a:effectLst>
        </p:spPr>
      </p:sp>
      <p:sp>
        <p:nvSpPr>
          <p:cNvPr id="6" name="Text 3"/>
          <p:cNvSpPr txBox="1"/>
          <p:nvPr/>
        </p:nvSpPr>
        <p:spPr>
          <a:xfrm>
            <a:off x="649224" y="1664208"/>
            <a:ext cx="2468880"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Swarm</a:t>
            </a:r>
            <a:endParaRPr lang="en-US" sz="1600" dirty="0"/>
          </a:p>
        </p:txBody>
      </p:sp>
      <p:sp>
        <p:nvSpPr>
          <p:cNvPr id="7" name="Text 4"/>
          <p:cNvSpPr txBox="1"/>
          <p:nvPr/>
        </p:nvSpPr>
        <p:spPr>
          <a:xfrm>
            <a:off x="649224" y="1993392"/>
            <a:ext cx="2468880" cy="272491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Independent agents. Every role has a second copy, except review and the monitor. They can disagree, and the crown picks.</a:t>
            </a:r>
            <a:endParaRPr lang="en-US" sz="1400" dirty="0"/>
          </a:p>
        </p:txBody>
      </p:sp>
      <p:sp>
        <p:nvSpPr>
          <p:cNvPr id="8" name="Shape 5"/>
          <p:cNvSpPr/>
          <p:nvPr/>
        </p:nvSpPr>
        <p:spPr>
          <a:xfrm>
            <a:off x="3401568" y="1554480"/>
            <a:ext cx="2761488" cy="3291840"/>
          </a:xfrm>
          <a:prstGeom prst="roundRect">
            <a:avLst>
              <a:gd name="adj" fmla="val 2649"/>
            </a:avLst>
          </a:prstGeom>
          <a:solidFill>
            <a:srgbClr val="FFFDF8"/>
          </a:solidFill>
          <a:ln/>
          <a:effectLst>
            <a:outerShdw sx="100000" sy="100000" kx="0" ky="0" algn="bl" rotWithShape="0" blurRad="177800" dist="38100" dir="5400000">
              <a:srgbClr val="1A1E1B">
                <a:alpha val="8000"/>
              </a:srgbClr>
            </a:outerShdw>
          </a:effectLst>
        </p:spPr>
      </p:sp>
      <p:sp>
        <p:nvSpPr>
          <p:cNvPr id="9" name="Text 6"/>
          <p:cNvSpPr txBox="1"/>
          <p:nvPr/>
        </p:nvSpPr>
        <p:spPr>
          <a:xfrm>
            <a:off x="3547872" y="1664208"/>
            <a:ext cx="2468880"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Single probe</a:t>
            </a:r>
            <a:endParaRPr lang="en-US" sz="1600" dirty="0"/>
          </a:p>
        </p:txBody>
      </p:sp>
      <p:sp>
        <p:nvSpPr>
          <p:cNvPr id="10" name="Text 7"/>
          <p:cNvSpPr txBox="1"/>
          <p:nvPr/>
        </p:nvSpPr>
        <p:spPr>
          <a:xfrm>
            <a:off x="3547872" y="1993392"/>
            <a:ext cx="2468880" cy="272491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One agent. It sweeps channels, then fits one chain. No second opinion. No language-model slot.</a:t>
            </a:r>
            <a:endParaRPr lang="en-US" sz="1400" dirty="0"/>
          </a:p>
        </p:txBody>
      </p:sp>
      <p:sp>
        <p:nvSpPr>
          <p:cNvPr id="11" name="Shape 8"/>
          <p:cNvSpPr/>
          <p:nvPr/>
        </p:nvSpPr>
        <p:spPr>
          <a:xfrm>
            <a:off x="6300216" y="1554480"/>
            <a:ext cx="2761488" cy="3291840"/>
          </a:xfrm>
          <a:prstGeom prst="roundRect">
            <a:avLst>
              <a:gd name="adj" fmla="val 2649"/>
            </a:avLst>
          </a:prstGeom>
          <a:solidFill>
            <a:srgbClr val="FFFDF8"/>
          </a:solidFill>
          <a:ln/>
          <a:effectLst>
            <a:outerShdw sx="100000" sy="100000" kx="0" ky="0" algn="bl" rotWithShape="0" blurRad="177800" dist="38100" dir="5400000">
              <a:srgbClr val="1A1E1B">
                <a:alpha val="8000"/>
              </a:srgbClr>
            </a:outerShdw>
          </a:effectLst>
        </p:spPr>
      </p:sp>
      <p:sp>
        <p:nvSpPr>
          <p:cNvPr id="12" name="Text 9"/>
          <p:cNvSpPr txBox="1"/>
          <p:nvPr/>
        </p:nvSpPr>
        <p:spPr>
          <a:xfrm>
            <a:off x="6446520" y="1664208"/>
            <a:ext cx="2468880"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Pipeline</a:t>
            </a:r>
            <a:endParaRPr lang="en-US" sz="1600" dirty="0"/>
          </a:p>
        </p:txBody>
      </p:sp>
      <p:sp>
        <p:nvSpPr>
          <p:cNvPr id="13" name="Text 10"/>
          <p:cNvSpPr txBox="1"/>
          <p:nvPr/>
        </p:nvSpPr>
        <p:spPr>
          <a:xfrm>
            <a:off x="6446520" y="1993392"/>
            <a:ext cx="2468880" cy="272491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The same parts as the swarm, one orchestrator, fixed order. The language-model stage has the last word.</a:t>
            </a:r>
            <a:endParaRPr lang="en-US" sz="1400" dirty="0"/>
          </a:p>
        </p:txBody>
      </p:sp>
      <p:sp>
        <p:nvSpPr>
          <p:cNvPr id="14" name="Shape 11"/>
          <p:cNvSpPr/>
          <p:nvPr/>
        </p:nvSpPr>
        <p:spPr>
          <a:xfrm>
            <a:off x="9198864" y="1554480"/>
            <a:ext cx="2514600" cy="3291840"/>
          </a:xfrm>
          <a:prstGeom prst="roundRect">
            <a:avLst>
              <a:gd name="adj" fmla="val 2909"/>
            </a:avLst>
          </a:prstGeom>
          <a:solidFill>
            <a:srgbClr val="F8EBE6"/>
          </a:solidFill>
          <a:ln/>
          <a:effectLst>
            <a:outerShdw sx="100000" sy="100000" kx="0" ky="0" algn="bl" rotWithShape="0" blurRad="177800" dist="38100" dir="5400000">
              <a:srgbClr val="1A1E1B">
                <a:alpha val="8000"/>
              </a:srgbClr>
            </a:outerShdw>
          </a:effectLst>
        </p:spPr>
      </p:sp>
      <p:sp>
        <p:nvSpPr>
          <p:cNvPr id="15" name="Text 12"/>
          <p:cNvSpPr txBox="1"/>
          <p:nvPr/>
        </p:nvSpPr>
        <p:spPr>
          <a:xfrm>
            <a:off x="9345168" y="1664208"/>
            <a:ext cx="2221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Single</a:t>
            </a:r>
            <a:endParaRPr lang="en-US" sz="1600" dirty="0"/>
          </a:p>
        </p:txBody>
      </p:sp>
      <p:sp>
        <p:nvSpPr>
          <p:cNvPr id="16" name="Text 13"/>
          <p:cNvSpPr txBox="1"/>
          <p:nvPr/>
        </p:nvSpPr>
        <p:spPr>
          <a:xfrm>
            <a:off x="9345168" y="1993392"/>
            <a:ext cx="2221992" cy="272491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One chain model, no channel sweeps. It searches structures without isolating a joint.</a:t>
            </a:r>
            <a:endParaRPr lang="en-US" sz="1400" dirty="0"/>
          </a:p>
        </p:txBody>
      </p:sp>
      <p:sp>
        <p:nvSpPr>
          <p:cNvPr id="17" name="Text 14"/>
          <p:cNvSpPr txBox="1"/>
          <p:nvPr/>
        </p:nvSpPr>
        <p:spPr>
          <a:xfrm>
            <a:off x="502920" y="5074920"/>
            <a:ext cx="10972800" cy="365760"/>
          </a:xfrm>
          <a:prstGeom prst="rect">
            <a:avLst/>
          </a:prstGeom>
          <a:noFill/>
          <a:ln/>
        </p:spPr>
        <p:txBody>
          <a:bodyPr wrap="square" lIns="0" tIns="0" rIns="0" bIns="0" rtlCol="0" anchor="ctr"/>
          <a:lstStyle/>
          <a:p>
            <a:pPr indent="0" marL="0">
              <a:buNone/>
            </a:pPr>
            <a:r>
              <a:rPr lang="en-US" sz="1600" dirty="0">
                <a:solidFill>
                  <a:srgbClr val="4A463F"/>
                </a:solidFill>
                <a:latin typeface="Calibri" pitchFamily="34" charset="0"/>
                <a:ea typeface="Calibri" pitchFamily="34" charset="-122"/>
                <a:cs typeface="Calibri" pitchFamily="34" charset="-120"/>
              </a:rPr>
              <a:t>A neural net is the extra baseline on known arms. It never gets close, so it is not in the fault table.</a:t>
            </a:r>
            <a:endParaRPr lang="en-US" sz="16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143000"/>
            <a:ext cx="10972800" cy="256032"/>
          </a:xfrm>
          <a:prstGeom prst="rect">
            <a:avLst/>
          </a:prstGeom>
          <a:noFill/>
          <a:ln/>
        </p:spPr>
        <p:txBody>
          <a:bodyPr wrap="square" lIns="0" tIns="0" rIns="0" bIns="0" rtlCol="0" anchor="ctr"/>
          <a:lstStyle/>
          <a:p>
            <a:pPr indent="0" marL="0">
              <a:buNone/>
            </a:pPr>
            <a:r>
              <a:rPr lang="en-US" sz="1300" spc="120" kern="0" dirty="0">
                <a:solidFill>
                  <a:srgbClr val="F0C56A"/>
                </a:solidFill>
                <a:latin typeface="Calibri" pitchFamily="34" charset="0"/>
                <a:ea typeface="Calibri" pitchFamily="34" charset="-122"/>
                <a:cs typeface="Calibri" pitchFamily="34" charset="-120"/>
              </a:rPr>
              <a:t>THE TEST</a:t>
            </a:r>
            <a:endParaRPr lang="en-US" sz="1300" dirty="0"/>
          </a:p>
        </p:txBody>
      </p:sp>
      <p:sp>
        <p:nvSpPr>
          <p:cNvPr id="3" name="Text 0"/>
          <p:cNvSpPr/>
          <p:nvPr>
            <p:ph idx="100" type="title" hasCustomPrompt="1"/>
          </p:nvPr>
        </p:nvSpPr>
        <p:spPr>
          <a:xfrm>
            <a:off x="548640" y="1554480"/>
            <a:ext cx="11064240" cy="2103120"/>
          </a:xfrm>
          <a:prstGeom prst="rect">
            <a:avLst/>
          </a:prstGeom>
          <a:noFill/>
          <a:ln/>
        </p:spPr>
        <p:txBody>
          <a:bodyPr wrap="square" lIns="0" tIns="0" rIns="0" bIns="0" rtlCol="0"/>
          <a:lstStyle/>
          <a:p>
            <a:pPr indent="0" marL="0">
              <a:buNone/>
            </a:pPr>
            <a:r>
              <a:rPr lang="en-US" sz="4400" dirty="0">
                <a:solidFill>
                  <a:srgbClr val="F4F1EA"/>
                </a:solidFill>
                <a:latin typeface="Georgia" pitchFamily="34" charset="0"/>
                <a:ea typeface="Georgia" pitchFamily="34" charset="-122"/>
                <a:cs typeface="Georgia" pitchFamily="34" charset="-120"/>
              </a:rPr>
              <a:t>Judged on seeds the fixes never saw.</a:t>
            </a:r>
            <a:endParaRPr lang="en-US" sz="4400" dirty="0"/>
          </a:p>
        </p:txBody>
      </p:sp>
      <p:sp>
        <p:nvSpPr>
          <p:cNvPr id="5" name="Text 2"/>
          <p:cNvSpPr txBox="1"/>
          <p:nvPr/>
        </p:nvSpPr>
        <p:spPr>
          <a:xfrm>
            <a:off x="548640" y="3794760"/>
            <a:ext cx="10972800" cy="822960"/>
          </a:xfrm>
          <a:prstGeom prst="rect">
            <a:avLst/>
          </a:prstGeom>
          <a:noFill/>
          <a:ln/>
        </p:spPr>
        <p:txBody>
          <a:bodyPr wrap="square" lIns="0" tIns="0" rIns="0" bIns="0" rtlCol="0" anchor="ctr"/>
          <a:lstStyle/>
          <a:p>
            <a:pPr indent="0" marL="0">
              <a:buNone/>
            </a:pPr>
            <a:r>
              <a:rPr lang="en-US" sz="1800" dirty="0">
                <a:solidFill>
                  <a:srgbClr val="D9D2C6"/>
                </a:solidFill>
                <a:latin typeface="Calibri" pitchFamily="34" charset="0"/>
                <a:ea typeface="Calibri" pitchFamily="34" charset="-122"/>
                <a:cs typeface="Calibri" pitchFamily="34" charset="-120"/>
              </a:rPr>
              <a:t>On seeds 1 and 2, one wrong channel finding or one crashed modeler sank the swarm. Version 2 added a second probe, a review agent, and a second chain modeler. Seeds 101 to 105 came after that.</a:t>
            </a:r>
            <a:endParaRPr lang="en-US" sz="1800" dirty="0"/>
          </a:p>
        </p:txBody>
      </p:sp>
      <p:sp>
        <p:nvSpPr>
          <p:cNvPr id="6" name="Text 3"/>
          <p:cNvSpPr txBox="1"/>
          <p:nvPr/>
        </p:nvSpPr>
        <p:spPr>
          <a:xfrm>
            <a:off x="548640" y="4754880"/>
            <a:ext cx="10972800" cy="777240"/>
          </a:xfrm>
          <a:prstGeom prst="rect">
            <a:avLst/>
          </a:prstGeom>
          <a:noFill/>
          <a:ln/>
        </p:spPr>
        <p:txBody>
          <a:bodyPr wrap="square" lIns="0" tIns="0" rIns="0" bIns="0" rtlCol="0" anchor="ctr"/>
          <a:lstStyle/>
          <a:p>
            <a:pPr indent="0" marL="0">
              <a:buNone/>
            </a:pPr>
            <a:r>
              <a:rPr lang="en-US" sz="1800" dirty="0">
                <a:solidFill>
                  <a:srgbClr val="F4F1EA"/>
                </a:solidFill>
                <a:latin typeface="Calibri" pitchFamily="34" charset="0"/>
                <a:ea typeface="Calibri" pitchFamily="34" charset="-122"/>
                <a:cs typeface="Calibri" pitchFamily="34" charset="-120"/>
              </a:rPr>
              <a:t>1,938 jobs finished.  240 bodies, 480 damage, 800 faults, 320 noise, 48 real arms, 30 learning curves, 20 extrapolation runs. Language models were off, so a seed repeats.</a:t>
            </a:r>
            <a:endParaRPr lang="en-US" sz="18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C9C2B4"/>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RESULTS  ·  CLEAN BODIES</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Full structure on 20 robots out of 20</a:t>
            </a:r>
            <a:endParaRPr lang="en-US" sz="3200" dirty="0"/>
          </a:p>
        </p:txBody>
      </p:sp>
      <p:sp>
        <p:nvSpPr>
          <p:cNvPr id="5" name="Text 2"/>
          <p:cNvSpPr txBox="1"/>
          <p:nvPr/>
        </p:nvSpPr>
        <p:spPr>
          <a:xfrm>
            <a:off x="502920" y="1463040"/>
            <a:ext cx="3474720" cy="658368"/>
          </a:xfrm>
          <a:prstGeom prst="rect">
            <a:avLst/>
          </a:prstGeom>
          <a:noFill/>
          <a:ln/>
        </p:spPr>
        <p:txBody>
          <a:bodyPr wrap="square" lIns="0" tIns="0" rIns="0" bIns="0" rtlCol="0" anchor="ctr"/>
          <a:lstStyle/>
          <a:p>
            <a:pPr indent="0" marL="0">
              <a:buNone/>
            </a:pPr>
            <a:r>
              <a:rPr lang="en-US" sz="3600" dirty="0">
                <a:solidFill>
                  <a:srgbClr val="1E4D3A"/>
                </a:solidFill>
                <a:latin typeface="Georgia" pitchFamily="34" charset="0"/>
                <a:ea typeface="Georgia" pitchFamily="34" charset="-122"/>
                <a:cs typeface="Georgia" pitchFamily="34" charset="-120"/>
              </a:rPr>
              <a:t>20/20</a:t>
            </a:r>
            <a:endParaRPr lang="en-US" sz="3600" dirty="0"/>
          </a:p>
        </p:txBody>
      </p:sp>
      <p:sp>
        <p:nvSpPr>
          <p:cNvPr id="6" name="Text 3"/>
          <p:cNvSpPr txBox="1"/>
          <p:nvPr/>
        </p:nvSpPr>
        <p:spPr>
          <a:xfrm>
            <a:off x="502920" y="2103120"/>
            <a:ext cx="3474720" cy="640080"/>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Swarm, probe, and pipeline. Independent seeds.</a:t>
            </a:r>
            <a:endParaRPr lang="en-US" sz="1400" dirty="0"/>
          </a:p>
        </p:txBody>
      </p:sp>
      <p:sp>
        <p:nvSpPr>
          <p:cNvPr id="7" name="Text 4"/>
          <p:cNvSpPr txBox="1"/>
          <p:nvPr/>
        </p:nvSpPr>
        <p:spPr>
          <a:xfrm>
            <a:off x="4114800" y="1463040"/>
            <a:ext cx="3200400" cy="658368"/>
          </a:xfrm>
          <a:prstGeom prst="rect">
            <a:avLst/>
          </a:prstGeom>
          <a:noFill/>
          <a:ln/>
        </p:spPr>
        <p:txBody>
          <a:bodyPr wrap="square" lIns="0" tIns="0" rIns="0" bIns="0" rtlCol="0" anchor="ctr"/>
          <a:lstStyle/>
          <a:p>
            <a:pPr indent="0" marL="0">
              <a:buNone/>
            </a:pPr>
            <a:r>
              <a:rPr lang="en-US" sz="3600" dirty="0">
                <a:solidFill>
                  <a:srgbClr val="B8432A"/>
                </a:solidFill>
                <a:latin typeface="Georgia" pitchFamily="34" charset="0"/>
                <a:ea typeface="Georgia" pitchFamily="34" charset="-122"/>
                <a:cs typeface="Georgia" pitchFamily="34" charset="-120"/>
              </a:rPr>
              <a:t>5/20</a:t>
            </a:r>
            <a:endParaRPr lang="en-US" sz="3600" dirty="0"/>
          </a:p>
        </p:txBody>
      </p:sp>
      <p:sp>
        <p:nvSpPr>
          <p:cNvPr id="8" name="Text 5"/>
          <p:cNvSpPr txBox="1"/>
          <p:nvPr/>
        </p:nvSpPr>
        <p:spPr>
          <a:xfrm>
            <a:off x="4114800" y="2103120"/>
            <a:ext cx="3200400" cy="640080"/>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Single agent, no sweeps.</a:t>
            </a:r>
            <a:endParaRPr lang="en-US" sz="1400" dirty="0"/>
          </a:p>
        </p:txBody>
      </p:sp>
      <p:sp>
        <p:nvSpPr>
          <p:cNvPr id="9" name="Text 6"/>
          <p:cNvSpPr txBox="1"/>
          <p:nvPr/>
        </p:nvSpPr>
        <p:spPr>
          <a:xfrm>
            <a:off x="7589520" y="1463040"/>
            <a:ext cx="4023360" cy="658368"/>
          </a:xfrm>
          <a:prstGeom prst="rect">
            <a:avLst/>
          </a:prstGeom>
          <a:noFill/>
          <a:ln/>
        </p:spPr>
        <p:txBody>
          <a:bodyPr wrap="square" lIns="0" tIns="0" rIns="0" bIns="0" rtlCol="0" anchor="ctr"/>
          <a:lstStyle/>
          <a:p>
            <a:pPr indent="0" marL="0">
              <a:buNone/>
            </a:pPr>
            <a:r>
              <a:rPr lang="en-US" sz="3600" dirty="0">
                <a:solidFill>
                  <a:srgbClr val="1A1E1B"/>
                </a:solidFill>
                <a:latin typeface="Georgia" pitchFamily="34" charset="0"/>
                <a:ea typeface="Georgia" pitchFamily="34" charset="-122"/>
                <a:cs typeface="Georgia" pitchFamily="34" charset="-120"/>
              </a:rPr>
              <a:t>1.5 mm</a:t>
            </a:r>
            <a:endParaRPr lang="en-US" sz="3600" dirty="0"/>
          </a:p>
        </p:txBody>
      </p:sp>
      <p:sp>
        <p:nvSpPr>
          <p:cNvPr id="10" name="Text 7"/>
          <p:cNvSpPr txBox="1"/>
          <p:nvPr/>
        </p:nvSpPr>
        <p:spPr>
          <a:xfrm>
            <a:off x="7589520" y="2103120"/>
            <a:ext cx="4023360" cy="640080"/>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Swarm median miss. Interval 1.4 to 1.9. n = 20.</a:t>
            </a:r>
            <a:endParaRPr lang="en-US" sz="1400" dirty="0"/>
          </a:p>
        </p:txBody>
      </p:sp>
      <p:sp>
        <p:nvSpPr>
          <p:cNvPr id="11" name="Shape 8"/>
          <p:cNvSpPr/>
          <p:nvPr/>
        </p:nvSpPr>
        <p:spPr>
          <a:xfrm>
            <a:off x="502920" y="3200400"/>
            <a:ext cx="3657600" cy="2286000"/>
          </a:xfrm>
          <a:prstGeom prst="roundRect">
            <a:avLst>
              <a:gd name="adj" fmla="val 3200"/>
            </a:avLst>
          </a:prstGeom>
          <a:solidFill>
            <a:srgbClr val="FFFDF8"/>
          </a:solidFill>
          <a:ln/>
          <a:effectLst>
            <a:outerShdw sx="100000" sy="100000" kx="0" ky="0" algn="bl" rotWithShape="0" blurRad="177800" dist="38100" dir="5400000">
              <a:srgbClr val="1A1E1B">
                <a:alpha val="8000"/>
              </a:srgbClr>
            </a:outerShdw>
          </a:effectLst>
        </p:spPr>
      </p:sp>
      <p:sp>
        <p:nvSpPr>
          <p:cNvPr id="12" name="Text 9"/>
          <p:cNvSpPr txBox="1"/>
          <p:nvPr/>
        </p:nvSpPr>
        <p:spPr>
          <a:xfrm>
            <a:off x="649224" y="331012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Probe  1.3 mm</a:t>
            </a:r>
            <a:endParaRPr lang="en-US" sz="1600" dirty="0"/>
          </a:p>
        </p:txBody>
      </p:sp>
      <p:sp>
        <p:nvSpPr>
          <p:cNvPr id="13" name="Text 10"/>
          <p:cNvSpPr txBox="1"/>
          <p:nvPr/>
        </p:nvSpPr>
        <p:spPr>
          <a:xfrm>
            <a:off x="649224" y="3639312"/>
            <a:ext cx="3364992" cy="171907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Interval 1.0 to 1.7. The intervals overlap the swarm. On the original gantries the probe is genuinely closer: 0.9 against 1.8.</a:t>
            </a:r>
            <a:endParaRPr lang="en-US" sz="1400" dirty="0"/>
          </a:p>
        </p:txBody>
      </p:sp>
      <p:sp>
        <p:nvSpPr>
          <p:cNvPr id="14" name="Shape 11"/>
          <p:cNvSpPr/>
          <p:nvPr/>
        </p:nvSpPr>
        <p:spPr>
          <a:xfrm>
            <a:off x="4297680" y="3200400"/>
            <a:ext cx="3657600" cy="2286000"/>
          </a:xfrm>
          <a:prstGeom prst="roundRect">
            <a:avLst>
              <a:gd name="adj" fmla="val 3200"/>
            </a:avLst>
          </a:prstGeom>
          <a:solidFill>
            <a:srgbClr val="FFFDF8"/>
          </a:solidFill>
          <a:ln/>
          <a:effectLst>
            <a:outerShdw sx="100000" sy="100000" kx="0" ky="0" algn="bl" rotWithShape="0" blurRad="177800" dist="38100" dir="5400000">
              <a:srgbClr val="1A1E1B">
                <a:alpha val="8000"/>
              </a:srgbClr>
            </a:outerShdw>
          </a:effectLst>
        </p:spPr>
      </p:sp>
      <p:sp>
        <p:nvSpPr>
          <p:cNvPr id="15" name="Text 12"/>
          <p:cNvSpPr txBox="1"/>
          <p:nvPr/>
        </p:nvSpPr>
        <p:spPr>
          <a:xfrm>
            <a:off x="4443984" y="331012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Pipeline  1.7 mm</a:t>
            </a:r>
            <a:endParaRPr lang="en-US" sz="1600" dirty="0"/>
          </a:p>
        </p:txBody>
      </p:sp>
      <p:sp>
        <p:nvSpPr>
          <p:cNvPr id="16" name="Text 13"/>
          <p:cNvSpPr txBox="1"/>
          <p:nvPr/>
        </p:nvSpPr>
        <p:spPr>
          <a:xfrm>
            <a:off x="4443984" y="3639312"/>
            <a:ext cx="3364992" cy="171907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Interval 1.0 to 2.0. Probing works. The collective is not what finds a clean body.</a:t>
            </a:r>
            <a:endParaRPr lang="en-US" sz="1400" dirty="0"/>
          </a:p>
        </p:txBody>
      </p:sp>
      <p:sp>
        <p:nvSpPr>
          <p:cNvPr id="17" name="Shape 14"/>
          <p:cNvSpPr/>
          <p:nvPr/>
        </p:nvSpPr>
        <p:spPr>
          <a:xfrm>
            <a:off x="8092440" y="3200400"/>
            <a:ext cx="3657600" cy="2286000"/>
          </a:xfrm>
          <a:prstGeom prst="roundRect">
            <a:avLst>
              <a:gd name="adj" fmla="val 3200"/>
            </a:avLst>
          </a:prstGeom>
          <a:solidFill>
            <a:srgbClr val="FFFDF8"/>
          </a:solidFill>
          <a:ln/>
          <a:effectLst>
            <a:outerShdw sx="100000" sy="100000" kx="0" ky="0" algn="bl" rotWithShape="0" blurRad="177800" dist="38100" dir="5400000">
              <a:srgbClr val="1A1E1B">
                <a:alpha val="8000"/>
              </a:srgbClr>
            </a:outerShdw>
          </a:effectLst>
        </p:spPr>
      </p:sp>
      <p:sp>
        <p:nvSpPr>
          <p:cNvPr id="18" name="Text 15"/>
          <p:cNvSpPr txBox="1"/>
          <p:nvPr/>
        </p:nvSpPr>
        <p:spPr>
          <a:xfrm>
            <a:off x="8238744" y="331012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Original seeds</a:t>
            </a:r>
            <a:endParaRPr lang="en-US" sz="1600" dirty="0"/>
          </a:p>
        </p:txBody>
      </p:sp>
      <p:sp>
        <p:nvSpPr>
          <p:cNvPr id="19" name="Text 16"/>
          <p:cNvSpPr txBox="1"/>
          <p:nvPr/>
        </p:nvSpPr>
        <p:spPr>
          <a:xfrm>
            <a:off x="8238744" y="3639312"/>
            <a:ext cx="3364992" cy="171907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Swarm, probe, and pipeline 40/40. Single agent 6/40. Swarm reach 1.6 mm, n = 40.</a:t>
            </a:r>
            <a:endParaRPr lang="en-US" sz="1400" dirty="0"/>
          </a:p>
        </p:txBody>
      </p:sp>
      <p:sp>
        <p:nvSpPr>
          <p:cNvPr id="20" name="Text 17"/>
          <p:cNvSpPr txBox="1"/>
          <p:nvPr/>
        </p:nvSpPr>
        <p:spPr>
          <a:xfrm>
            <a:off x="502920" y="6446520"/>
            <a:ext cx="10424160"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§1. The swarm spends 36 of its 64 motions sweeping, interval 32 to 40, n = 60.</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RESULTS</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Three methods sit on the fingertip. One does not.</a:t>
            </a:r>
            <a:endParaRPr lang="en-US" sz="3200" dirty="0"/>
          </a:p>
        </p:txBody>
      </p:sp>
      <p:pic>
        <p:nvPicPr>
          <p:cNvPr id="5" name="Image 0" descr="D:/bodyscout/results/fig_bodies.png">    </p:cNvPr>
          <p:cNvPicPr>
            <a:picLocks noChangeAspect="1"/>
          </p:cNvPicPr>
          <p:nvPr/>
        </p:nvPicPr>
        <p:blipFill>
          <a:blip r:embed="rId1"/>
          <a:stretch>
            <a:fillRect/>
          </a:stretch>
        </p:blipFill>
        <p:spPr>
          <a:xfrm>
            <a:off x="2148840" y="1417320"/>
            <a:ext cx="7863840" cy="4754880"/>
          </a:xfrm>
          <a:prstGeom prst="rect">
            <a:avLst/>
          </a:prstGeom>
        </p:spPr>
      </p:pic>
      <p:sp>
        <p:nvSpPr>
          <p:cNvPr id="6" name="Text 2"/>
          <p:cNvSpPr txBox="1"/>
          <p:nvPr/>
        </p:nvSpPr>
        <p:spPr>
          <a:xfrm>
            <a:off x="502920" y="6446520"/>
            <a:ext cx="10424160"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All seeds pooled. Log scale. Big dot is the median. §1.</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REAL ARMS</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Panda, UR5e, Gen3, ViperX. Shuffled too.</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55680" cy="4389120"/>
        </p:xfrm>
        <a:graphic>
          <a:graphicData uri="http://schemas.openxmlformats.org/drawingml/2006/table">
            <a:tbl>
              <a:tblPr/>
              <a:tblGrid>
                <a:gridCol w="2011680"/>
                <a:gridCol w="2011680"/>
                <a:gridCol w="2194560"/>
                <a:gridCol w="2377440"/>
                <a:gridCol w="2560320"/>
              </a:tblGrid>
              <a:tr h="487680">
                <a:tc>
                  <a:txBody>
                    <a:bodyPr/>
                    <a:lstStyle/>
                    <a:p>
                      <a:pPr algn="l" indent="0" marL="0">
                        <a:buNone/>
                      </a:pPr>
                      <a:r>
                        <a:rPr lang="en-US" sz="1400" b="1" dirty="0">
                          <a:solidFill>
                            <a:srgbClr val="F4F1EA"/>
                          </a:solidFill>
                          <a:latin typeface="Calibri" pitchFamily="34" charset="0"/>
                          <a:ea typeface="Calibri" pitchFamily="34" charset="-122"/>
                          <a:cs typeface="Calibri" pitchFamily="34" charset="-120"/>
                        </a:rPr>
                        <a:t>Arm</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algn="l" indent="0" marL="0">
                        <a:buNone/>
                      </a:pPr>
                      <a:r>
                        <a:rPr lang="en-US" sz="1400" b="1" dirty="0">
                          <a:solidFill>
                            <a:srgbClr val="F4F1EA"/>
                          </a:solidFill>
                          <a:latin typeface="Calibri" pitchFamily="34" charset="0"/>
                          <a:ea typeface="Calibri" pitchFamily="34" charset="-122"/>
                          <a:cs typeface="Calibri" pitchFamily="34" charset="-120"/>
                        </a:rPr>
                        <a:t>Channels</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algn="l" indent="0" marL="0">
                        <a:buNone/>
                      </a:pPr>
                      <a:r>
                        <a:rPr lang="en-US" sz="1400" b="1" dirty="0">
                          <a:solidFill>
                            <a:srgbClr val="F4F1EA"/>
                          </a:solidFill>
                          <a:latin typeface="Calibri" pitchFamily="34" charset="0"/>
                          <a:ea typeface="Calibri" pitchFamily="34" charset="-122"/>
                          <a:cs typeface="Calibri" pitchFamily="34" charset="-120"/>
                        </a:rPr>
                        <a:t>Swarm</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algn="l" indent="0" marL="0">
                        <a:buNone/>
                      </a:pPr>
                      <a:r>
                        <a:rPr lang="en-US" sz="1400" b="1" dirty="0">
                          <a:solidFill>
                            <a:srgbClr val="F4F1EA"/>
                          </a:solidFill>
                          <a:latin typeface="Calibri" pitchFamily="34" charset="0"/>
                          <a:ea typeface="Calibri" pitchFamily="34" charset="-122"/>
                          <a:cs typeface="Calibri" pitchFamily="34" charset="-120"/>
                        </a:rPr>
                        <a:t>Single</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algn="l" indent="0" marL="0">
                        <a:buNone/>
                      </a:pPr>
                      <a:r>
                        <a:rPr lang="en-US" sz="1400" b="1" dirty="0">
                          <a:solidFill>
                            <a:srgbClr val="F4F1EA"/>
                          </a:solidFill>
                          <a:latin typeface="Calibri" pitchFamily="34" charset="0"/>
                          <a:ea typeface="Calibri" pitchFamily="34" charset="-122"/>
                          <a:cs typeface="Calibri" pitchFamily="34" charset="-120"/>
                        </a:rPr>
                        <a:t>Observable</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r>
              <a:tr h="487680">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Panda</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as built</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b="1" dirty="0">
                          <a:solidFill>
                            <a:srgbClr val="1E4D3A"/>
                          </a:solidFill>
                          <a:latin typeface="Calibri" pitchFamily="34" charset="0"/>
                          <a:ea typeface="Calibri" pitchFamily="34" charset="-122"/>
                          <a:cs typeface="Calibri" pitchFamily="34" charset="-120"/>
                        </a:rPr>
                        <a:t>2.1 mm</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b="1" dirty="0">
                          <a:solidFill>
                            <a:srgbClr val="B8432A"/>
                          </a:solidFill>
                          <a:latin typeface="Calibri" pitchFamily="34" charset="0"/>
                          <a:ea typeface="Calibri" pitchFamily="34" charset="-122"/>
                          <a:cs typeface="Calibri" pitchFamily="34" charset="-120"/>
                        </a:rPr>
                        <a:t>340 mm</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18/18</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r>
              <a:tr h="487680">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Panda</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shuffled</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b="1" dirty="0">
                          <a:solidFill>
                            <a:srgbClr val="1E4D3A"/>
                          </a:solidFill>
                          <a:latin typeface="Calibri" pitchFamily="34" charset="0"/>
                          <a:ea typeface="Calibri" pitchFamily="34" charset="-122"/>
                          <a:cs typeface="Calibri" pitchFamily="34" charset="-120"/>
                        </a:rPr>
                        <a:t>2.6 mm</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b="1" dirty="0">
                          <a:solidFill>
                            <a:srgbClr val="B8432A"/>
                          </a:solidFill>
                          <a:latin typeface="Calibri" pitchFamily="34" charset="0"/>
                          <a:ea typeface="Calibri" pitchFamily="34" charset="-122"/>
                          <a:cs typeface="Calibri" pitchFamily="34" charset="-120"/>
                        </a:rPr>
                        <a:t>506 mm</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18/18</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r>
              <a:tr h="487680">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UR5e</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as built</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b="1" dirty="0">
                          <a:solidFill>
                            <a:srgbClr val="1E4D3A"/>
                          </a:solidFill>
                          <a:latin typeface="Calibri" pitchFamily="34" charset="0"/>
                          <a:ea typeface="Calibri" pitchFamily="34" charset="-122"/>
                          <a:cs typeface="Calibri" pitchFamily="34" charset="-120"/>
                        </a:rPr>
                        <a:t>1.9 mm</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b="1" dirty="0">
                          <a:solidFill>
                            <a:srgbClr val="B8432A"/>
                          </a:solidFill>
                          <a:latin typeface="Calibri" pitchFamily="34" charset="0"/>
                          <a:ea typeface="Calibri" pitchFamily="34" charset="-122"/>
                          <a:cs typeface="Calibri" pitchFamily="34" charset="-120"/>
                        </a:rPr>
                        <a:t>285 mm</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15/15</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r>
              <a:tr h="487680">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UR5e</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shuffled</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b="1" dirty="0">
                          <a:solidFill>
                            <a:srgbClr val="1E4D3A"/>
                          </a:solidFill>
                          <a:latin typeface="Calibri" pitchFamily="34" charset="0"/>
                          <a:ea typeface="Calibri" pitchFamily="34" charset="-122"/>
                          <a:cs typeface="Calibri" pitchFamily="34" charset="-120"/>
                        </a:rPr>
                        <a:t>2.0 mm</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b="1" dirty="0">
                          <a:solidFill>
                            <a:srgbClr val="B8432A"/>
                          </a:solidFill>
                          <a:latin typeface="Calibri" pitchFamily="34" charset="0"/>
                          <a:ea typeface="Calibri" pitchFamily="34" charset="-122"/>
                          <a:cs typeface="Calibri" pitchFamily="34" charset="-120"/>
                        </a:rPr>
                        <a:t>348 mm</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15/15</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r>
              <a:tr h="487680">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Gen3</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as built</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b="1" dirty="0">
                          <a:solidFill>
                            <a:srgbClr val="1E4D3A"/>
                          </a:solidFill>
                          <a:latin typeface="Calibri" pitchFamily="34" charset="0"/>
                          <a:ea typeface="Calibri" pitchFamily="34" charset="-122"/>
                          <a:cs typeface="Calibri" pitchFamily="34" charset="-120"/>
                        </a:rPr>
                        <a:t>2.1 mm</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b="1" dirty="0">
                          <a:solidFill>
                            <a:srgbClr val="B8432A"/>
                          </a:solidFill>
                          <a:latin typeface="Calibri" pitchFamily="34" charset="0"/>
                          <a:ea typeface="Calibri" pitchFamily="34" charset="-122"/>
                          <a:cs typeface="Calibri" pitchFamily="34" charset="-120"/>
                        </a:rPr>
                        <a:t>392 mm</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16/16</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r>
              <a:tr h="487680">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Gen3</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shuffled</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b="1" dirty="0">
                          <a:solidFill>
                            <a:srgbClr val="1E4D3A"/>
                          </a:solidFill>
                          <a:latin typeface="Calibri" pitchFamily="34" charset="0"/>
                          <a:ea typeface="Calibri" pitchFamily="34" charset="-122"/>
                          <a:cs typeface="Calibri" pitchFamily="34" charset="-120"/>
                        </a:rPr>
                        <a:t>2.0 mm</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b="1" dirty="0">
                          <a:solidFill>
                            <a:srgbClr val="B8432A"/>
                          </a:solidFill>
                          <a:latin typeface="Calibri" pitchFamily="34" charset="0"/>
                          <a:ea typeface="Calibri" pitchFamily="34" charset="-122"/>
                          <a:cs typeface="Calibri" pitchFamily="34" charset="-120"/>
                        </a:rPr>
                        <a:t>592 mm</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16/16</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r>
              <a:tr h="487680">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ViperX</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as built</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b="1" dirty="0">
                          <a:solidFill>
                            <a:srgbClr val="1E4D3A"/>
                          </a:solidFill>
                          <a:latin typeface="Calibri" pitchFamily="34" charset="0"/>
                          <a:ea typeface="Calibri" pitchFamily="34" charset="-122"/>
                          <a:cs typeface="Calibri" pitchFamily="34" charset="-120"/>
                        </a:rPr>
                        <a:t>2.4 mm</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b="1" dirty="0">
                          <a:solidFill>
                            <a:srgbClr val="B8432A"/>
                          </a:solidFill>
                          <a:latin typeface="Calibri" pitchFamily="34" charset="0"/>
                          <a:ea typeface="Calibri" pitchFamily="34" charset="-122"/>
                          <a:cs typeface="Calibri" pitchFamily="34" charset="-120"/>
                        </a:rPr>
                        <a:t>297 mm</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15/15</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r>
              <a:tr h="487680">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ViperX</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shuffled</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b="1" dirty="0">
                          <a:solidFill>
                            <a:srgbClr val="1E4D3A"/>
                          </a:solidFill>
                          <a:latin typeface="Calibri" pitchFamily="34" charset="0"/>
                          <a:ea typeface="Calibri" pitchFamily="34" charset="-122"/>
                          <a:cs typeface="Calibri" pitchFamily="34" charset="-120"/>
                        </a:rPr>
                        <a:t>2.0 mm</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b="1" dirty="0">
                          <a:solidFill>
                            <a:srgbClr val="B8432A"/>
                          </a:solidFill>
                          <a:latin typeface="Calibri" pitchFamily="34" charset="0"/>
                          <a:ea typeface="Calibri" pitchFamily="34" charset="-122"/>
                          <a:cs typeface="Calibri" pitchFamily="34" charset="-120"/>
                        </a:rPr>
                        <a:t>270 mm</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A1E1B"/>
                          </a:solidFill>
                          <a:latin typeface="Calibri" pitchFamily="34" charset="0"/>
                          <a:ea typeface="Calibri" pitchFamily="34" charset="-122"/>
                          <a:cs typeface="Calibri" pitchFamily="34" charset="-120"/>
                        </a:rPr>
                        <a:t>15/15</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r>
            </a:tbl>
          </a:graphicData>
        </a:graphic>
      </p:graphicFrame>
      <p:sp>
        <p:nvSpPr>
          <p:cNvPr id="6" name="Text 2"/>
          <p:cNvSpPr txBox="1"/>
          <p:nvPr/>
        </p:nvSpPr>
        <p:spPr>
          <a:xfrm>
            <a:off x="502920" y="6446520"/>
            <a:ext cx="10424160"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§2. n = 3 seeds each. Joints the fingertip cannot reveal are left out of the observable count. Panda shuffled is 19/21 of all joints.</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WHICH IS BETTER  ·  INDEPENDENT SEEDS</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Only the swarm stays under 10 mm on all four faults</a:t>
            </a:r>
            <a:endParaRPr lang="en-US" sz="3200" dirty="0"/>
          </a:p>
        </p:txBody>
      </p:sp>
      <p:sp>
        <p:nvSpPr>
          <p:cNvPr id="5" name="Shape 2"/>
          <p:cNvSpPr/>
          <p:nvPr/>
        </p:nvSpPr>
        <p:spPr>
          <a:xfrm>
            <a:off x="502920" y="1417320"/>
            <a:ext cx="2761488" cy="1051560"/>
          </a:xfrm>
          <a:prstGeom prst="roundRect">
            <a:avLst>
              <a:gd name="adj" fmla="val 6957"/>
            </a:avLst>
          </a:prstGeom>
          <a:solidFill>
            <a:srgbClr val="E5F2EA"/>
          </a:solidFill>
          <a:ln/>
        </p:spPr>
      </p:sp>
      <p:sp>
        <p:nvSpPr>
          <p:cNvPr id="6" name="Text 3"/>
          <p:cNvSpPr txBox="1"/>
          <p:nvPr/>
        </p:nvSpPr>
        <p:spPr>
          <a:xfrm>
            <a:off x="640080" y="1463040"/>
            <a:ext cx="1188720" cy="502920"/>
          </a:xfrm>
          <a:prstGeom prst="rect">
            <a:avLst/>
          </a:prstGeom>
          <a:noFill/>
          <a:ln/>
        </p:spPr>
        <p:txBody>
          <a:bodyPr wrap="square" lIns="0" tIns="0" rIns="0" bIns="0" rtlCol="0" anchor="ctr"/>
          <a:lstStyle/>
          <a:p>
            <a:pPr indent="0" marL="0">
              <a:buNone/>
            </a:pPr>
            <a:r>
              <a:rPr lang="en-US" sz="2600" dirty="0">
                <a:solidFill>
                  <a:srgbClr val="1A1E1B"/>
                </a:solidFill>
                <a:latin typeface="Georgia" pitchFamily="34" charset="0"/>
                <a:ea typeface="Georgia" pitchFamily="34" charset="-122"/>
                <a:cs typeface="Georgia" pitchFamily="34" charset="-120"/>
              </a:rPr>
              <a:t>4/4</a:t>
            </a:r>
            <a:endParaRPr lang="en-US" sz="2600" dirty="0"/>
          </a:p>
        </p:txBody>
      </p:sp>
      <p:sp>
        <p:nvSpPr>
          <p:cNvPr id="7" name="Text 4"/>
          <p:cNvSpPr txBox="1"/>
          <p:nvPr/>
        </p:nvSpPr>
        <p:spPr>
          <a:xfrm>
            <a:off x="1828800" y="1554480"/>
            <a:ext cx="1280160" cy="640080"/>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Swarm</a:t>
            </a:r>
            <a:endParaRPr lang="en-US" sz="1400" dirty="0"/>
          </a:p>
        </p:txBody>
      </p:sp>
      <p:sp>
        <p:nvSpPr>
          <p:cNvPr id="8" name="Shape 5"/>
          <p:cNvSpPr/>
          <p:nvPr/>
        </p:nvSpPr>
        <p:spPr>
          <a:xfrm>
            <a:off x="3383280" y="1417320"/>
            <a:ext cx="2761488" cy="1051560"/>
          </a:xfrm>
          <a:prstGeom prst="roundRect">
            <a:avLst>
              <a:gd name="adj" fmla="val 6957"/>
            </a:avLst>
          </a:prstGeom>
          <a:solidFill>
            <a:srgbClr val="FFFDF8"/>
          </a:solidFill>
          <a:ln/>
        </p:spPr>
      </p:sp>
      <p:sp>
        <p:nvSpPr>
          <p:cNvPr id="9" name="Text 6"/>
          <p:cNvSpPr txBox="1"/>
          <p:nvPr/>
        </p:nvSpPr>
        <p:spPr>
          <a:xfrm>
            <a:off x="3520440" y="1463040"/>
            <a:ext cx="1188720" cy="502920"/>
          </a:xfrm>
          <a:prstGeom prst="rect">
            <a:avLst/>
          </a:prstGeom>
          <a:noFill/>
          <a:ln/>
        </p:spPr>
        <p:txBody>
          <a:bodyPr wrap="square" lIns="0" tIns="0" rIns="0" bIns="0" rtlCol="0" anchor="ctr"/>
          <a:lstStyle/>
          <a:p>
            <a:pPr indent="0" marL="0">
              <a:buNone/>
            </a:pPr>
            <a:r>
              <a:rPr lang="en-US" sz="2600" dirty="0">
                <a:solidFill>
                  <a:srgbClr val="1A1E1B"/>
                </a:solidFill>
                <a:latin typeface="Georgia" pitchFamily="34" charset="0"/>
                <a:ea typeface="Georgia" pitchFamily="34" charset="-122"/>
                <a:cs typeface="Georgia" pitchFamily="34" charset="-120"/>
              </a:rPr>
              <a:t>3/4</a:t>
            </a:r>
            <a:endParaRPr lang="en-US" sz="2600" dirty="0"/>
          </a:p>
        </p:txBody>
      </p:sp>
      <p:sp>
        <p:nvSpPr>
          <p:cNvPr id="10" name="Text 7"/>
          <p:cNvSpPr txBox="1"/>
          <p:nvPr/>
        </p:nvSpPr>
        <p:spPr>
          <a:xfrm>
            <a:off x="4709160" y="1554480"/>
            <a:ext cx="1280160" cy="640080"/>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Single probe</a:t>
            </a:r>
            <a:endParaRPr lang="en-US" sz="1400" dirty="0"/>
          </a:p>
        </p:txBody>
      </p:sp>
      <p:sp>
        <p:nvSpPr>
          <p:cNvPr id="11" name="Shape 8"/>
          <p:cNvSpPr/>
          <p:nvPr/>
        </p:nvSpPr>
        <p:spPr>
          <a:xfrm>
            <a:off x="6263640" y="1417320"/>
            <a:ext cx="2761488" cy="1051560"/>
          </a:xfrm>
          <a:prstGeom prst="roundRect">
            <a:avLst>
              <a:gd name="adj" fmla="val 6957"/>
            </a:avLst>
          </a:prstGeom>
          <a:solidFill>
            <a:srgbClr val="FFFDF8"/>
          </a:solidFill>
          <a:ln/>
        </p:spPr>
      </p:sp>
      <p:sp>
        <p:nvSpPr>
          <p:cNvPr id="12" name="Text 9"/>
          <p:cNvSpPr txBox="1"/>
          <p:nvPr/>
        </p:nvSpPr>
        <p:spPr>
          <a:xfrm>
            <a:off x="6400800" y="1463040"/>
            <a:ext cx="1188720" cy="502920"/>
          </a:xfrm>
          <a:prstGeom prst="rect">
            <a:avLst/>
          </a:prstGeom>
          <a:noFill/>
          <a:ln/>
        </p:spPr>
        <p:txBody>
          <a:bodyPr wrap="square" lIns="0" tIns="0" rIns="0" bIns="0" rtlCol="0" anchor="ctr"/>
          <a:lstStyle/>
          <a:p>
            <a:pPr indent="0" marL="0">
              <a:buNone/>
            </a:pPr>
            <a:r>
              <a:rPr lang="en-US" sz="2600" dirty="0">
                <a:solidFill>
                  <a:srgbClr val="1A1E1B"/>
                </a:solidFill>
                <a:latin typeface="Georgia" pitchFamily="34" charset="0"/>
                <a:ea typeface="Georgia" pitchFamily="34" charset="-122"/>
                <a:cs typeface="Georgia" pitchFamily="34" charset="-120"/>
              </a:rPr>
              <a:t>1/4</a:t>
            </a:r>
            <a:endParaRPr lang="en-US" sz="2600" dirty="0"/>
          </a:p>
        </p:txBody>
      </p:sp>
      <p:sp>
        <p:nvSpPr>
          <p:cNvPr id="13" name="Text 10"/>
          <p:cNvSpPr txBox="1"/>
          <p:nvPr/>
        </p:nvSpPr>
        <p:spPr>
          <a:xfrm>
            <a:off x="7589520" y="1554480"/>
            <a:ext cx="1280160" cy="640080"/>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Pipeline</a:t>
            </a:r>
            <a:endParaRPr lang="en-US" sz="1400" dirty="0"/>
          </a:p>
        </p:txBody>
      </p:sp>
      <p:sp>
        <p:nvSpPr>
          <p:cNvPr id="14" name="Shape 11"/>
          <p:cNvSpPr/>
          <p:nvPr/>
        </p:nvSpPr>
        <p:spPr>
          <a:xfrm>
            <a:off x="9144000" y="1417320"/>
            <a:ext cx="2761488" cy="1051560"/>
          </a:xfrm>
          <a:prstGeom prst="roundRect">
            <a:avLst>
              <a:gd name="adj" fmla="val 6957"/>
            </a:avLst>
          </a:prstGeom>
          <a:solidFill>
            <a:srgbClr val="F8EBE6"/>
          </a:solidFill>
          <a:ln/>
        </p:spPr>
      </p:sp>
      <p:sp>
        <p:nvSpPr>
          <p:cNvPr id="15" name="Text 12"/>
          <p:cNvSpPr txBox="1"/>
          <p:nvPr/>
        </p:nvSpPr>
        <p:spPr>
          <a:xfrm>
            <a:off x="9281160" y="1463040"/>
            <a:ext cx="1188720" cy="502920"/>
          </a:xfrm>
          <a:prstGeom prst="rect">
            <a:avLst/>
          </a:prstGeom>
          <a:noFill/>
          <a:ln/>
        </p:spPr>
        <p:txBody>
          <a:bodyPr wrap="square" lIns="0" tIns="0" rIns="0" bIns="0" rtlCol="0" anchor="ctr"/>
          <a:lstStyle/>
          <a:p>
            <a:pPr indent="0" marL="0">
              <a:buNone/>
            </a:pPr>
            <a:r>
              <a:rPr lang="en-US" sz="2600" dirty="0">
                <a:solidFill>
                  <a:srgbClr val="1A1E1B"/>
                </a:solidFill>
                <a:latin typeface="Georgia" pitchFamily="34" charset="0"/>
                <a:ea typeface="Georgia" pitchFamily="34" charset="-122"/>
                <a:cs typeface="Georgia" pitchFamily="34" charset="-120"/>
              </a:rPr>
              <a:t>0/4</a:t>
            </a:r>
            <a:endParaRPr lang="en-US" sz="2600" dirty="0"/>
          </a:p>
        </p:txBody>
      </p:sp>
      <p:sp>
        <p:nvSpPr>
          <p:cNvPr id="16" name="Text 13"/>
          <p:cNvSpPr txBox="1"/>
          <p:nvPr/>
        </p:nvSpPr>
        <p:spPr>
          <a:xfrm>
            <a:off x="10469880" y="1554480"/>
            <a:ext cx="1280160" cy="640080"/>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Single agent</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2651760"/>
          <a:ext cx="11155680" cy="3383280"/>
        </p:xfrm>
        <a:graphic>
          <a:graphicData uri="http://schemas.openxmlformats.org/drawingml/2006/table">
            <a:tbl>
              <a:tblPr/>
              <a:tblGrid>
                <a:gridCol w="3017520"/>
                <a:gridCol w="2103120"/>
                <a:gridCol w="2103120"/>
                <a:gridCol w="2194560"/>
                <a:gridCol w="1737360"/>
              </a:tblGrid>
              <a:tr h="563880">
                <a:tc>
                  <a:txBody>
                    <a:bodyPr/>
                    <a:lstStyle/>
                    <a:p>
                      <a:pPr indent="0" marL="0">
                        <a:buNone/>
                      </a:pPr>
                      <a:r>
                        <a:rPr lang="en-US" sz="1300" b="1" dirty="0">
                          <a:solidFill>
                            <a:srgbClr val="F4F1EA"/>
                          </a:solidFill>
                          <a:latin typeface="Calibri" pitchFamily="34" charset="0"/>
                          <a:ea typeface="Calibri" pitchFamily="34" charset="-122"/>
                          <a:cs typeface="Calibri" pitchFamily="34" charset="-120"/>
                        </a:rPr>
                        <a:t>What we broke</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indent="0" marL="0">
                        <a:buNone/>
                      </a:pPr>
                      <a:r>
                        <a:rPr lang="en-US" sz="1300" b="1" dirty="0">
                          <a:solidFill>
                            <a:srgbClr val="F4F1EA"/>
                          </a:solidFill>
                          <a:latin typeface="Calibri" pitchFamily="34" charset="0"/>
                          <a:ea typeface="Calibri" pitchFamily="34" charset="-122"/>
                          <a:cs typeface="Calibri" pitchFamily="34" charset="-120"/>
                        </a:rPr>
                        <a:t>Swarm</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indent="0" marL="0">
                        <a:buNone/>
                      </a:pPr>
                      <a:r>
                        <a:rPr lang="en-US" sz="1300" b="1" dirty="0">
                          <a:solidFill>
                            <a:srgbClr val="F4F1EA"/>
                          </a:solidFill>
                          <a:latin typeface="Calibri" pitchFamily="34" charset="0"/>
                          <a:ea typeface="Calibri" pitchFamily="34" charset="-122"/>
                          <a:cs typeface="Calibri" pitchFamily="34" charset="-120"/>
                        </a:rPr>
                        <a:t>Probe</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indent="0" marL="0">
                        <a:buNone/>
                      </a:pPr>
                      <a:r>
                        <a:rPr lang="en-US" sz="1300" b="1" dirty="0">
                          <a:solidFill>
                            <a:srgbClr val="F4F1EA"/>
                          </a:solidFill>
                          <a:latin typeface="Calibri" pitchFamily="34" charset="0"/>
                          <a:ea typeface="Calibri" pitchFamily="34" charset="-122"/>
                          <a:cs typeface="Calibri" pitchFamily="34" charset="-120"/>
                        </a:rPr>
                        <a:t>Pipeline</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indent="0" marL="0">
                        <a:buNone/>
                      </a:pPr>
                      <a:r>
                        <a:rPr lang="en-US" sz="1300" b="1" dirty="0">
                          <a:solidFill>
                            <a:srgbClr val="F4F1EA"/>
                          </a:solidFill>
                          <a:latin typeface="Calibri" pitchFamily="34" charset="0"/>
                          <a:ea typeface="Calibri" pitchFamily="34" charset="-122"/>
                          <a:cs typeface="Calibri" pitchFamily="34" charset="-120"/>
                        </a:rPr>
                        <a:t>Single</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r>
              <a:tr h="563880">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Nothing</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b="1" dirty="0">
                          <a:solidFill>
                            <a:srgbClr val="1A1E1B"/>
                          </a:solidFill>
                          <a:latin typeface="Calibri" pitchFamily="34" charset="0"/>
                          <a:ea typeface="Calibri" pitchFamily="34" charset="-122"/>
                          <a:cs typeface="Calibri" pitchFamily="34" charset="-120"/>
                        </a:rPr>
                        <a:t>1.5 mm  20/20</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1.3 mm  20/20</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1.7 mm  20/20</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45 mm  5/20</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r>
              <a:tr h="563880">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Wrong joint type</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b="1" dirty="0">
                          <a:solidFill>
                            <a:srgbClr val="1A1E1B"/>
                          </a:solidFill>
                          <a:latin typeface="Calibri" pitchFamily="34" charset="0"/>
                          <a:ea typeface="Calibri" pitchFamily="34" charset="-122"/>
                          <a:cs typeface="Calibri" pitchFamily="34" charset="-120"/>
                        </a:rPr>
                        <a:t>1.5 mm  20/20</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44 mm  1/20</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41 mm  3/20</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no slot</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r>
              <a:tr h="563880">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Wrong hypothesis</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b="1" dirty="0">
                          <a:solidFill>
                            <a:srgbClr val="1A1E1B"/>
                          </a:solidFill>
                          <a:latin typeface="Calibri" pitchFamily="34" charset="0"/>
                          <a:ea typeface="Calibri" pitchFamily="34" charset="-122"/>
                          <a:cs typeface="Calibri" pitchFamily="34" charset="-120"/>
                        </a:rPr>
                        <a:t>1.6 mm  20/20</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no slot</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27 mm  0/20</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no slot</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r>
              <a:tr h="563880">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Modeler dies</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b="1" dirty="0">
                          <a:solidFill>
                            <a:srgbClr val="1A1E1B"/>
                          </a:solidFill>
                          <a:latin typeface="Calibri" pitchFamily="34" charset="0"/>
                          <a:ea typeface="Calibri" pitchFamily="34" charset="-122"/>
                          <a:cs typeface="Calibri" pitchFamily="34" charset="-120"/>
                        </a:rPr>
                        <a:t>1.7 mm  20/20</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3.2 mm  20/20</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no model 18/20</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54 mm</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r>
              <a:tr h="563880">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Sensor lies every sweep</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b="1" dirty="0">
                          <a:solidFill>
                            <a:srgbClr val="1A1E1B"/>
                          </a:solidFill>
                          <a:latin typeface="Calibri" pitchFamily="34" charset="0"/>
                          <a:ea typeface="Calibri" pitchFamily="34" charset="-122"/>
                          <a:cs typeface="Calibri" pitchFamily="34" charset="-120"/>
                        </a:rPr>
                        <a:t>5.1 mm  13/20</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3.7 mm  12/20</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3.7 mm  14/20</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300" dirty="0">
                          <a:solidFill>
                            <a:srgbClr val="1A1E1B"/>
                          </a:solidFill>
                          <a:latin typeface="Calibri" pitchFamily="34" charset="0"/>
                          <a:ea typeface="Calibri" pitchFamily="34" charset="-122"/>
                          <a:cs typeface="Calibri" pitchFamily="34" charset="-120"/>
                        </a:rPr>
                        <a:t>no slot</a:t>
                      </a:r>
                      <a:endParaRPr lang="en-US" sz="13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r>
            </a:tbl>
          </a:graphicData>
        </a:graphic>
      </p:graphicFrame>
      <p:sp>
        <p:nvSpPr>
          <p:cNvPr id="18" name="Text 14"/>
          <p:cNvSpPr txBox="1"/>
          <p:nvPr/>
        </p:nvSpPr>
        <p:spPr>
          <a:xfrm>
            <a:off x="502920" y="6446520"/>
            <a:ext cx="10424160"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§5, seeds 101–105, n = 20. No model counts as a miss. No slot means the fault cannot reach that method. One swarm run had no model on the lying sensor.</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WHICH IS BETTER</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The second copy is for the day a part lies</a:t>
            </a:r>
            <a:endParaRPr lang="en-US" sz="3200" dirty="0"/>
          </a:p>
        </p:txBody>
      </p:sp>
      <p:sp>
        <p:nvSpPr>
          <p:cNvPr id="5" name="Shape 2"/>
          <p:cNvSpPr/>
          <p:nvPr/>
        </p:nvSpPr>
        <p:spPr>
          <a:xfrm>
            <a:off x="502920" y="1463040"/>
            <a:ext cx="5669280" cy="1965960"/>
          </a:xfrm>
          <a:prstGeom prst="roundRect">
            <a:avLst>
              <a:gd name="adj" fmla="val 3721"/>
            </a:avLst>
          </a:prstGeom>
          <a:solidFill>
            <a:srgbClr val="FFFDF8"/>
          </a:solidFill>
          <a:ln/>
          <a:effectLst>
            <a:outerShdw sx="100000" sy="100000" kx="0" ky="0" algn="bl" rotWithShape="0" blurRad="177800" dist="38100" dir="5400000">
              <a:srgbClr val="1A1E1B">
                <a:alpha val="8000"/>
              </a:srgbClr>
            </a:outerShdw>
          </a:effectLst>
        </p:spPr>
      </p:sp>
      <p:sp>
        <p:nvSpPr>
          <p:cNvPr id="6" name="Text 3"/>
          <p:cNvSpPr txBox="1"/>
          <p:nvPr/>
        </p:nvSpPr>
        <p:spPr>
          <a:xfrm>
            <a:off x="649224" y="1572768"/>
            <a:ext cx="537667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Wrong type, or a dead modeler</a:t>
            </a:r>
            <a:endParaRPr lang="en-US" sz="1600" dirty="0"/>
          </a:p>
        </p:txBody>
      </p:sp>
      <p:sp>
        <p:nvSpPr>
          <p:cNvPr id="7" name="Text 4"/>
          <p:cNvSpPr txBox="1"/>
          <p:nvPr/>
        </p:nvSpPr>
        <p:spPr>
          <a:xfrm>
            <a:off x="649224" y="1901952"/>
            <a:ext cx="5376672" cy="139903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The other probe, or the other chain modeler, is still there. Probe falls to 1/20 on a wrong type. The pipeline has no model in 18 of 20 when its modeler dies.</a:t>
            </a:r>
            <a:endParaRPr lang="en-US" sz="1400" dirty="0"/>
          </a:p>
        </p:txBody>
      </p:sp>
      <p:sp>
        <p:nvSpPr>
          <p:cNvPr id="8" name="Shape 5"/>
          <p:cNvSpPr/>
          <p:nvPr/>
        </p:nvSpPr>
        <p:spPr>
          <a:xfrm>
            <a:off x="6309360" y="1463040"/>
            <a:ext cx="5394960" cy="1965960"/>
          </a:xfrm>
          <a:prstGeom prst="roundRect">
            <a:avLst>
              <a:gd name="adj" fmla="val 3721"/>
            </a:avLst>
          </a:prstGeom>
          <a:solidFill>
            <a:srgbClr val="FFFDF8"/>
          </a:solidFill>
          <a:ln/>
          <a:effectLst>
            <a:outerShdw sx="100000" sy="100000" kx="0" ky="0" algn="bl" rotWithShape="0" blurRad="177800" dist="38100" dir="5400000">
              <a:srgbClr val="1A1E1B">
                <a:alpha val="8000"/>
              </a:srgbClr>
            </a:outerShdw>
          </a:effectLst>
        </p:spPr>
      </p:sp>
      <p:sp>
        <p:nvSpPr>
          <p:cNvPr id="9" name="Text 6"/>
          <p:cNvSpPr txBox="1"/>
          <p:nvPr/>
        </p:nvSpPr>
        <p:spPr>
          <a:xfrm>
            <a:off x="6455664" y="1572768"/>
            <a:ext cx="510235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A confident wrong hypothesis</a:t>
            </a:r>
            <a:endParaRPr lang="en-US" sz="1600" dirty="0"/>
          </a:p>
        </p:txBody>
      </p:sp>
      <p:sp>
        <p:nvSpPr>
          <p:cNvPr id="10" name="Text 7"/>
          <p:cNvSpPr txBox="1"/>
          <p:nvPr/>
        </p:nvSpPr>
        <p:spPr>
          <a:xfrm>
            <a:off x="6455664" y="1901952"/>
            <a:ext cx="5102352" cy="139903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The pipeline lets that stage decide: 0 of 20 structures, 27 mm. The swarm still crowns the findings. The probe has no such slot.</a:t>
            </a:r>
            <a:endParaRPr lang="en-US" sz="1400" dirty="0"/>
          </a:p>
        </p:txBody>
      </p:sp>
      <p:pic>
        <p:nvPicPr>
          <p:cNvPr id="11" name="Image 0" descr="D:/bodyscout/results/fig_faults.png">    </p:cNvPr>
          <p:cNvPicPr>
            <a:picLocks noChangeAspect="1"/>
          </p:cNvPicPr>
          <p:nvPr/>
        </p:nvPicPr>
        <p:blipFill>
          <a:blip r:embed="rId1"/>
          <a:stretch>
            <a:fillRect/>
          </a:stretch>
        </p:blipFill>
        <p:spPr>
          <a:xfrm>
            <a:off x="2862072" y="3611880"/>
            <a:ext cx="6464808" cy="2606040"/>
          </a:xfrm>
          <a:prstGeom prst="rect">
            <a:avLst/>
          </a:prstGeom>
        </p:spPr>
      </p:pic>
      <p:sp>
        <p:nvSpPr>
          <p:cNvPr id="12" name="Text 8"/>
          <p:cNvSpPr txBox="1"/>
          <p:nvPr/>
        </p:nvSpPr>
        <p:spPr>
          <a:xfrm>
            <a:off x="502920" y="6446520"/>
            <a:ext cx="10424160"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Right-hand panel is the independent seeds. Dashed line is 10 mm. Whiskers are the bootstrap interval. §5.</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DAMAGE</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Break it at motion 64. The alarm is the monitor.</a:t>
            </a:r>
            <a:endParaRPr lang="en-US" sz="3200" dirty="0"/>
          </a:p>
        </p:txBody>
      </p:sp>
      <p:sp>
        <p:nvSpPr>
          <p:cNvPr id="5" name="Shape 2"/>
          <p:cNvSpPr/>
          <p:nvPr/>
        </p:nvSpPr>
        <p:spPr>
          <a:xfrm>
            <a:off x="502920" y="1463040"/>
            <a:ext cx="1828800" cy="1051560"/>
          </a:xfrm>
          <a:prstGeom prst="roundRect">
            <a:avLst>
              <a:gd name="adj" fmla="val 6957"/>
            </a:avLst>
          </a:prstGeom>
          <a:solidFill>
            <a:srgbClr val="FFFDF8"/>
          </a:solidFill>
          <a:ln/>
        </p:spPr>
      </p:sp>
      <p:sp>
        <p:nvSpPr>
          <p:cNvPr id="6" name="Text 3"/>
          <p:cNvSpPr txBox="1"/>
          <p:nvPr/>
        </p:nvSpPr>
        <p:spPr>
          <a:xfrm>
            <a:off x="594360" y="1536192"/>
            <a:ext cx="1645920" cy="457200"/>
          </a:xfrm>
          <a:prstGeom prst="rect">
            <a:avLst/>
          </a:prstGeom>
          <a:noFill/>
          <a:ln/>
        </p:spPr>
        <p:txBody>
          <a:bodyPr wrap="square" lIns="0" tIns="0" rIns="0" bIns="0" rtlCol="0" anchor="ctr"/>
          <a:lstStyle/>
          <a:p>
            <a:pPr indent="0" marL="0">
              <a:buNone/>
            </a:pPr>
            <a:r>
              <a:rPr lang="en-US" sz="2200" dirty="0">
                <a:solidFill>
                  <a:srgbClr val="1A1E1B"/>
                </a:solidFill>
                <a:latin typeface="Georgia" pitchFamily="34" charset="0"/>
                <a:ea typeface="Georgia" pitchFamily="34" charset="-122"/>
                <a:cs typeface="Georgia" pitchFamily="34" charset="-120"/>
              </a:rPr>
              <a:t>20/20</a:t>
            </a:r>
            <a:endParaRPr lang="en-US" sz="2200" dirty="0"/>
          </a:p>
        </p:txBody>
      </p:sp>
      <p:sp>
        <p:nvSpPr>
          <p:cNvPr id="7" name="Text 4"/>
          <p:cNvSpPr txBox="1"/>
          <p:nvPr/>
        </p:nvSpPr>
        <p:spPr>
          <a:xfrm>
            <a:off x="594360" y="2011680"/>
            <a:ext cx="1645920" cy="365760"/>
          </a:xfrm>
          <a:prstGeom prst="rect">
            <a:avLst/>
          </a:prstGeom>
          <a:noFill/>
          <a:ln/>
        </p:spPr>
        <p:txBody>
          <a:bodyPr wrap="square" lIns="0" tIns="0" rIns="0" bIns="0" rtlCol="0" anchor="ctr"/>
          <a:lstStyle/>
          <a:p>
            <a:pPr indent="0" marL="0">
              <a:buNone/>
            </a:pPr>
            <a:r>
              <a:rPr lang="en-US" sz="1300" dirty="0">
                <a:solidFill>
                  <a:srgbClr val="4A463F"/>
                </a:solidFill>
                <a:latin typeface="Calibri" pitchFamily="34" charset="0"/>
                <a:ea typeface="Calibri" pitchFamily="34" charset="-122"/>
                <a:cs typeface="Calibri" pitchFamily="34" charset="-120"/>
              </a:rPr>
              <a:t>Locked joint</a:t>
            </a:r>
            <a:endParaRPr lang="en-US" sz="1300" dirty="0"/>
          </a:p>
        </p:txBody>
      </p:sp>
      <p:sp>
        <p:nvSpPr>
          <p:cNvPr id="8" name="Shape 5"/>
          <p:cNvSpPr/>
          <p:nvPr/>
        </p:nvSpPr>
        <p:spPr>
          <a:xfrm>
            <a:off x="2423160" y="1463040"/>
            <a:ext cx="1828800" cy="1051560"/>
          </a:xfrm>
          <a:prstGeom prst="roundRect">
            <a:avLst>
              <a:gd name="adj" fmla="val 6957"/>
            </a:avLst>
          </a:prstGeom>
          <a:solidFill>
            <a:srgbClr val="FFFDF8"/>
          </a:solidFill>
          <a:ln/>
        </p:spPr>
      </p:sp>
      <p:sp>
        <p:nvSpPr>
          <p:cNvPr id="9" name="Text 6"/>
          <p:cNvSpPr txBox="1"/>
          <p:nvPr/>
        </p:nvSpPr>
        <p:spPr>
          <a:xfrm>
            <a:off x="2514600" y="1536192"/>
            <a:ext cx="1645920" cy="457200"/>
          </a:xfrm>
          <a:prstGeom prst="rect">
            <a:avLst/>
          </a:prstGeom>
          <a:noFill/>
          <a:ln/>
        </p:spPr>
        <p:txBody>
          <a:bodyPr wrap="square" lIns="0" tIns="0" rIns="0" bIns="0" rtlCol="0" anchor="ctr"/>
          <a:lstStyle/>
          <a:p>
            <a:pPr indent="0" marL="0">
              <a:buNone/>
            </a:pPr>
            <a:r>
              <a:rPr lang="en-US" sz="2200" dirty="0">
                <a:solidFill>
                  <a:srgbClr val="1A1E1B"/>
                </a:solidFill>
                <a:latin typeface="Georgia" pitchFamily="34" charset="0"/>
                <a:ea typeface="Georgia" pitchFamily="34" charset="-122"/>
                <a:cs typeface="Georgia" pitchFamily="34" charset="-120"/>
              </a:rPr>
              <a:t>20/20</a:t>
            </a:r>
            <a:endParaRPr lang="en-US" sz="2200" dirty="0"/>
          </a:p>
        </p:txBody>
      </p:sp>
      <p:sp>
        <p:nvSpPr>
          <p:cNvPr id="10" name="Text 7"/>
          <p:cNvSpPr txBox="1"/>
          <p:nvPr/>
        </p:nvSpPr>
        <p:spPr>
          <a:xfrm>
            <a:off x="2514600" y="2011680"/>
            <a:ext cx="1645920" cy="365760"/>
          </a:xfrm>
          <a:prstGeom prst="rect">
            <a:avLst/>
          </a:prstGeom>
          <a:noFill/>
          <a:ln/>
        </p:spPr>
        <p:txBody>
          <a:bodyPr wrap="square" lIns="0" tIns="0" rIns="0" bIns="0" rtlCol="0" anchor="ctr"/>
          <a:lstStyle/>
          <a:p>
            <a:pPr indent="0" marL="0">
              <a:buNone/>
            </a:pPr>
            <a:r>
              <a:rPr lang="en-US" sz="1300" dirty="0">
                <a:solidFill>
                  <a:srgbClr val="4A463F"/>
                </a:solidFill>
                <a:latin typeface="Calibri" pitchFamily="34" charset="0"/>
                <a:ea typeface="Calibri" pitchFamily="34" charset="-122"/>
                <a:cs typeface="Calibri" pitchFamily="34" charset="-120"/>
              </a:rPr>
              <a:t>Longer link</a:t>
            </a:r>
            <a:endParaRPr lang="en-US" sz="1300" dirty="0"/>
          </a:p>
        </p:txBody>
      </p:sp>
      <p:sp>
        <p:nvSpPr>
          <p:cNvPr id="11" name="Shape 8"/>
          <p:cNvSpPr/>
          <p:nvPr/>
        </p:nvSpPr>
        <p:spPr>
          <a:xfrm>
            <a:off x="4343400" y="1463040"/>
            <a:ext cx="1828800" cy="1051560"/>
          </a:xfrm>
          <a:prstGeom prst="roundRect">
            <a:avLst>
              <a:gd name="adj" fmla="val 6957"/>
            </a:avLst>
          </a:prstGeom>
          <a:solidFill>
            <a:srgbClr val="FFFDF8"/>
          </a:solidFill>
          <a:ln/>
        </p:spPr>
      </p:sp>
      <p:sp>
        <p:nvSpPr>
          <p:cNvPr id="12" name="Text 9"/>
          <p:cNvSpPr txBox="1"/>
          <p:nvPr/>
        </p:nvSpPr>
        <p:spPr>
          <a:xfrm>
            <a:off x="4434840" y="1536192"/>
            <a:ext cx="1645920" cy="457200"/>
          </a:xfrm>
          <a:prstGeom prst="rect">
            <a:avLst/>
          </a:prstGeom>
          <a:noFill/>
          <a:ln/>
        </p:spPr>
        <p:txBody>
          <a:bodyPr wrap="square" lIns="0" tIns="0" rIns="0" bIns="0" rtlCol="0" anchor="ctr"/>
          <a:lstStyle/>
          <a:p>
            <a:pPr indent="0" marL="0">
              <a:buNone/>
            </a:pPr>
            <a:r>
              <a:rPr lang="en-US" sz="2200" dirty="0">
                <a:solidFill>
                  <a:srgbClr val="1A1E1B"/>
                </a:solidFill>
                <a:latin typeface="Georgia" pitchFamily="34" charset="0"/>
                <a:ea typeface="Georgia" pitchFamily="34" charset="-122"/>
                <a:cs typeface="Georgia" pitchFamily="34" charset="-120"/>
              </a:rPr>
              <a:t>20/20</a:t>
            </a:r>
            <a:endParaRPr lang="en-US" sz="2200" dirty="0"/>
          </a:p>
        </p:txBody>
      </p:sp>
      <p:sp>
        <p:nvSpPr>
          <p:cNvPr id="13" name="Text 10"/>
          <p:cNvSpPr txBox="1"/>
          <p:nvPr/>
        </p:nvSpPr>
        <p:spPr>
          <a:xfrm>
            <a:off x="4434840" y="2011680"/>
            <a:ext cx="1645920" cy="365760"/>
          </a:xfrm>
          <a:prstGeom prst="rect">
            <a:avLst/>
          </a:prstGeom>
          <a:noFill/>
          <a:ln/>
        </p:spPr>
        <p:txBody>
          <a:bodyPr wrap="square" lIns="0" tIns="0" rIns="0" bIns="0" rtlCol="0" anchor="ctr"/>
          <a:lstStyle/>
          <a:p>
            <a:pPr indent="0" marL="0">
              <a:buNone/>
            </a:pPr>
            <a:r>
              <a:rPr lang="en-US" sz="1300" dirty="0">
                <a:solidFill>
                  <a:srgbClr val="4A463F"/>
                </a:solidFill>
                <a:latin typeface="Calibri" pitchFamily="34" charset="0"/>
                <a:ea typeface="Calibri" pitchFamily="34" charset="-122"/>
                <a:cs typeface="Calibri" pitchFamily="34" charset="-120"/>
              </a:rPr>
              <a:t>Reversed motor</a:t>
            </a:r>
            <a:endParaRPr lang="en-US" sz="1300" dirty="0"/>
          </a:p>
        </p:txBody>
      </p:sp>
      <p:sp>
        <p:nvSpPr>
          <p:cNvPr id="14" name="Shape 11"/>
          <p:cNvSpPr/>
          <p:nvPr/>
        </p:nvSpPr>
        <p:spPr>
          <a:xfrm>
            <a:off x="6263640" y="1463040"/>
            <a:ext cx="1828800" cy="1051560"/>
          </a:xfrm>
          <a:prstGeom prst="roundRect">
            <a:avLst>
              <a:gd name="adj" fmla="val 6957"/>
            </a:avLst>
          </a:prstGeom>
          <a:solidFill>
            <a:srgbClr val="FFFDF8"/>
          </a:solidFill>
          <a:ln/>
        </p:spPr>
      </p:sp>
      <p:sp>
        <p:nvSpPr>
          <p:cNvPr id="15" name="Text 12"/>
          <p:cNvSpPr txBox="1"/>
          <p:nvPr/>
        </p:nvSpPr>
        <p:spPr>
          <a:xfrm>
            <a:off x="6355080" y="1536192"/>
            <a:ext cx="1645920" cy="457200"/>
          </a:xfrm>
          <a:prstGeom prst="rect">
            <a:avLst/>
          </a:prstGeom>
          <a:noFill/>
          <a:ln/>
        </p:spPr>
        <p:txBody>
          <a:bodyPr wrap="square" lIns="0" tIns="0" rIns="0" bIns="0" rtlCol="0" anchor="ctr"/>
          <a:lstStyle/>
          <a:p>
            <a:pPr indent="0" marL="0">
              <a:buNone/>
            </a:pPr>
            <a:r>
              <a:rPr lang="en-US" sz="2200" dirty="0">
                <a:solidFill>
                  <a:srgbClr val="1A1E1B"/>
                </a:solidFill>
                <a:latin typeface="Georgia" pitchFamily="34" charset="0"/>
                <a:ea typeface="Georgia" pitchFamily="34" charset="-122"/>
                <a:cs typeface="Georgia" pitchFamily="34" charset="-120"/>
              </a:rPr>
              <a:t>20/20</a:t>
            </a:r>
            <a:endParaRPr lang="en-US" sz="2200" dirty="0"/>
          </a:p>
        </p:txBody>
      </p:sp>
      <p:sp>
        <p:nvSpPr>
          <p:cNvPr id="16" name="Text 13"/>
          <p:cNvSpPr txBox="1"/>
          <p:nvPr/>
        </p:nvSpPr>
        <p:spPr>
          <a:xfrm>
            <a:off x="6355080" y="2011680"/>
            <a:ext cx="1645920" cy="365760"/>
          </a:xfrm>
          <a:prstGeom prst="rect">
            <a:avLst/>
          </a:prstGeom>
          <a:noFill/>
          <a:ln/>
        </p:spPr>
        <p:txBody>
          <a:bodyPr wrap="square" lIns="0" tIns="0" rIns="0" bIns="0" rtlCol="0" anchor="ctr"/>
          <a:lstStyle/>
          <a:p>
            <a:pPr indent="0" marL="0">
              <a:buNone/>
            </a:pPr>
            <a:r>
              <a:rPr lang="en-US" sz="1300" dirty="0">
                <a:solidFill>
                  <a:srgbClr val="4A463F"/>
                </a:solidFill>
                <a:latin typeface="Calibri" pitchFamily="34" charset="0"/>
                <a:ea typeface="Calibri" pitchFamily="34" charset="-122"/>
                <a:cs typeface="Calibri" pitchFamily="34" charset="-120"/>
              </a:rPr>
              <a:t>Tool change</a:t>
            </a:r>
            <a:endParaRPr lang="en-US" sz="1300" dirty="0"/>
          </a:p>
        </p:txBody>
      </p:sp>
      <p:sp>
        <p:nvSpPr>
          <p:cNvPr id="17" name="Shape 14"/>
          <p:cNvSpPr/>
          <p:nvPr/>
        </p:nvSpPr>
        <p:spPr>
          <a:xfrm>
            <a:off x="8183880" y="1463040"/>
            <a:ext cx="1828800" cy="1051560"/>
          </a:xfrm>
          <a:prstGeom prst="roundRect">
            <a:avLst>
              <a:gd name="adj" fmla="val 6957"/>
            </a:avLst>
          </a:prstGeom>
          <a:solidFill>
            <a:srgbClr val="FFFDF8"/>
          </a:solidFill>
          <a:ln/>
        </p:spPr>
      </p:sp>
      <p:sp>
        <p:nvSpPr>
          <p:cNvPr id="18" name="Text 15"/>
          <p:cNvSpPr txBox="1"/>
          <p:nvPr/>
        </p:nvSpPr>
        <p:spPr>
          <a:xfrm>
            <a:off x="8275320" y="1536192"/>
            <a:ext cx="1645920" cy="457200"/>
          </a:xfrm>
          <a:prstGeom prst="rect">
            <a:avLst/>
          </a:prstGeom>
          <a:noFill/>
          <a:ln/>
        </p:spPr>
        <p:txBody>
          <a:bodyPr wrap="square" lIns="0" tIns="0" rIns="0" bIns="0" rtlCol="0" anchor="ctr"/>
          <a:lstStyle/>
          <a:p>
            <a:pPr indent="0" marL="0">
              <a:buNone/>
            </a:pPr>
            <a:r>
              <a:rPr lang="en-US" sz="2200" dirty="0">
                <a:solidFill>
                  <a:srgbClr val="1A1E1B"/>
                </a:solidFill>
                <a:latin typeface="Georgia" pitchFamily="34" charset="0"/>
                <a:ea typeface="Georgia" pitchFamily="34" charset="-122"/>
                <a:cs typeface="Georgia" pitchFamily="34" charset="-120"/>
              </a:rPr>
              <a:t>16/20</a:t>
            </a:r>
            <a:endParaRPr lang="en-US" sz="2200" dirty="0"/>
          </a:p>
        </p:txBody>
      </p:sp>
      <p:sp>
        <p:nvSpPr>
          <p:cNvPr id="19" name="Text 16"/>
          <p:cNvSpPr txBox="1"/>
          <p:nvPr/>
        </p:nvSpPr>
        <p:spPr>
          <a:xfrm>
            <a:off x="8275320" y="2011680"/>
            <a:ext cx="1645920" cy="365760"/>
          </a:xfrm>
          <a:prstGeom prst="rect">
            <a:avLst/>
          </a:prstGeom>
          <a:noFill/>
          <a:ln/>
        </p:spPr>
        <p:txBody>
          <a:bodyPr wrap="square" lIns="0" tIns="0" rIns="0" bIns="0" rtlCol="0" anchor="ctr"/>
          <a:lstStyle/>
          <a:p>
            <a:pPr indent="0" marL="0">
              <a:buNone/>
            </a:pPr>
            <a:r>
              <a:rPr lang="en-US" sz="1300" dirty="0">
                <a:solidFill>
                  <a:srgbClr val="4A463F"/>
                </a:solidFill>
                <a:latin typeface="Calibri" pitchFamily="34" charset="0"/>
                <a:ea typeface="Calibri" pitchFamily="34" charset="-122"/>
                <a:cs typeface="Calibri" pitchFamily="34" charset="-120"/>
              </a:rPr>
              <a:t>Bent axis</a:t>
            </a:r>
            <a:endParaRPr lang="en-US" sz="1300" dirty="0"/>
          </a:p>
        </p:txBody>
      </p:sp>
      <p:sp>
        <p:nvSpPr>
          <p:cNvPr id="20" name="Shape 17"/>
          <p:cNvSpPr/>
          <p:nvPr/>
        </p:nvSpPr>
        <p:spPr>
          <a:xfrm>
            <a:off x="10104120" y="1463040"/>
            <a:ext cx="1828800" cy="1051560"/>
          </a:xfrm>
          <a:prstGeom prst="roundRect">
            <a:avLst>
              <a:gd name="adj" fmla="val 6957"/>
            </a:avLst>
          </a:prstGeom>
          <a:solidFill>
            <a:srgbClr val="F8EBE6"/>
          </a:solidFill>
          <a:ln/>
        </p:spPr>
      </p:sp>
      <p:sp>
        <p:nvSpPr>
          <p:cNvPr id="21" name="Text 18"/>
          <p:cNvSpPr txBox="1"/>
          <p:nvPr/>
        </p:nvSpPr>
        <p:spPr>
          <a:xfrm>
            <a:off x="10195560" y="1536192"/>
            <a:ext cx="1645920" cy="457200"/>
          </a:xfrm>
          <a:prstGeom prst="rect">
            <a:avLst/>
          </a:prstGeom>
          <a:noFill/>
          <a:ln/>
        </p:spPr>
        <p:txBody>
          <a:bodyPr wrap="square" lIns="0" tIns="0" rIns="0" bIns="0" rtlCol="0" anchor="ctr"/>
          <a:lstStyle/>
          <a:p>
            <a:pPr indent="0" marL="0">
              <a:buNone/>
            </a:pPr>
            <a:r>
              <a:rPr lang="en-US" sz="2200" dirty="0">
                <a:solidFill>
                  <a:srgbClr val="1A1E1B"/>
                </a:solidFill>
                <a:latin typeface="Georgia" pitchFamily="34" charset="0"/>
                <a:ea typeface="Georgia" pitchFamily="34" charset="-122"/>
                <a:cs typeface="Georgia" pitchFamily="34" charset="-120"/>
              </a:rPr>
              <a:t>1/20</a:t>
            </a:r>
            <a:endParaRPr lang="en-US" sz="2200" dirty="0"/>
          </a:p>
        </p:txBody>
      </p:sp>
      <p:sp>
        <p:nvSpPr>
          <p:cNvPr id="22" name="Text 19"/>
          <p:cNvSpPr txBox="1"/>
          <p:nvPr/>
        </p:nvSpPr>
        <p:spPr>
          <a:xfrm>
            <a:off x="10195560" y="2011680"/>
            <a:ext cx="1645920" cy="365760"/>
          </a:xfrm>
          <a:prstGeom prst="rect">
            <a:avLst/>
          </a:prstGeom>
          <a:noFill/>
          <a:ln/>
        </p:spPr>
        <p:txBody>
          <a:bodyPr wrap="square" lIns="0" tIns="0" rIns="0" bIns="0" rtlCol="0" anchor="ctr"/>
          <a:lstStyle/>
          <a:p>
            <a:pPr indent="0" marL="0">
              <a:buNone/>
            </a:pPr>
            <a:r>
              <a:rPr lang="en-US" sz="1300" dirty="0">
                <a:solidFill>
                  <a:srgbClr val="4A463F"/>
                </a:solidFill>
                <a:latin typeface="Calibri" pitchFamily="34" charset="0"/>
                <a:ea typeface="Calibri" pitchFamily="34" charset="-122"/>
                <a:cs typeface="Calibri" pitchFamily="34" charset="-120"/>
              </a:rPr>
              <a:t>Payload</a:t>
            </a:r>
            <a:endParaRPr lang="en-US" sz="1300" dirty="0"/>
          </a:p>
        </p:txBody>
      </p:sp>
      <p:sp>
        <p:nvSpPr>
          <p:cNvPr id="23" name="Shape 20"/>
          <p:cNvSpPr/>
          <p:nvPr/>
        </p:nvSpPr>
        <p:spPr>
          <a:xfrm>
            <a:off x="502920" y="2743200"/>
            <a:ext cx="3657600" cy="2468880"/>
          </a:xfrm>
          <a:prstGeom prst="roundRect">
            <a:avLst>
              <a:gd name="adj" fmla="val 2963"/>
            </a:avLst>
          </a:prstGeom>
          <a:solidFill>
            <a:srgbClr val="FFFDF8"/>
          </a:solidFill>
          <a:ln/>
          <a:effectLst>
            <a:outerShdw sx="100000" sy="100000" kx="0" ky="0" algn="bl" rotWithShape="0" blurRad="177800" dist="38100" dir="5400000">
              <a:srgbClr val="1A1E1B">
                <a:alpha val="8000"/>
              </a:srgbClr>
            </a:outerShdw>
          </a:effectLst>
        </p:spPr>
      </p:sp>
      <p:sp>
        <p:nvSpPr>
          <p:cNvPr id="24" name="Text 21"/>
          <p:cNvSpPr txBox="1"/>
          <p:nvPr/>
        </p:nvSpPr>
        <p:spPr>
          <a:xfrm>
            <a:off x="649224" y="285292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97 / 120 alarms</a:t>
            </a:r>
            <a:endParaRPr lang="en-US" sz="1600" dirty="0"/>
          </a:p>
        </p:txBody>
      </p:sp>
      <p:sp>
        <p:nvSpPr>
          <p:cNvPr id="25" name="Text 22"/>
          <p:cNvSpPr txBox="1"/>
          <p:nvPr/>
        </p:nvSpPr>
        <p:spPr>
          <a:xfrm>
            <a:off x="649224" y="3182112"/>
            <a:ext cx="3364992" cy="190195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The pipeline's monitor gets 95 / 120. Latency is 26 to 32 motions for the five kinds it can see. This belongs to the monitor.</a:t>
            </a:r>
            <a:endParaRPr lang="en-US" sz="1400" dirty="0"/>
          </a:p>
        </p:txBody>
      </p:sp>
      <p:sp>
        <p:nvSpPr>
          <p:cNvPr id="26" name="Shape 23"/>
          <p:cNvSpPr/>
          <p:nvPr/>
        </p:nvSpPr>
        <p:spPr>
          <a:xfrm>
            <a:off x="4297680" y="2743200"/>
            <a:ext cx="3657600" cy="2468880"/>
          </a:xfrm>
          <a:prstGeom prst="roundRect">
            <a:avLst>
              <a:gd name="adj" fmla="val 2963"/>
            </a:avLst>
          </a:prstGeom>
          <a:solidFill>
            <a:srgbClr val="FFFDF8"/>
          </a:solidFill>
          <a:ln/>
          <a:effectLst>
            <a:outerShdw sx="100000" sy="100000" kx="0" ky="0" algn="bl" rotWithShape="0" blurRad="177800" dist="38100" dir="5400000">
              <a:srgbClr val="1A1E1B">
                <a:alpha val="8000"/>
              </a:srgbClr>
            </a:outerShdw>
          </a:effectLst>
        </p:spPr>
      </p:sp>
      <p:sp>
        <p:nvSpPr>
          <p:cNvPr id="27" name="Text 24"/>
          <p:cNvSpPr txBox="1"/>
          <p:nvPr/>
        </p:nvSpPr>
        <p:spPr>
          <a:xfrm>
            <a:off x="4443984" y="285292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59 / 120 trusted models</a:t>
            </a:r>
            <a:endParaRPr lang="en-US" sz="1600" dirty="0"/>
          </a:p>
        </p:txBody>
      </p:sp>
      <p:sp>
        <p:nvSpPr>
          <p:cNvPr id="28" name="Text 25"/>
          <p:cNvSpPr txBox="1"/>
          <p:nvPr/>
        </p:nvSpPr>
        <p:spPr>
          <a:xfrm>
            <a:off x="4443984" y="3182112"/>
            <a:ext cx="3364992" cy="190195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At motion 128. The pipeline has one in 112 / 120. Both single agents have one in every run. Relearning is the open problem.</a:t>
            </a:r>
            <a:endParaRPr lang="en-US" sz="1400" dirty="0"/>
          </a:p>
        </p:txBody>
      </p:sp>
      <p:sp>
        <p:nvSpPr>
          <p:cNvPr id="29" name="Shape 26"/>
          <p:cNvSpPr/>
          <p:nvPr/>
        </p:nvSpPr>
        <p:spPr>
          <a:xfrm>
            <a:off x="8092440" y="2743200"/>
            <a:ext cx="3657600" cy="2468880"/>
          </a:xfrm>
          <a:prstGeom prst="roundRect">
            <a:avLst>
              <a:gd name="adj" fmla="val 2963"/>
            </a:avLst>
          </a:prstGeom>
          <a:solidFill>
            <a:srgbClr val="FFFDF8"/>
          </a:solidFill>
          <a:ln/>
          <a:effectLst>
            <a:outerShdw sx="100000" sy="100000" kx="0" ky="0" algn="bl" rotWithShape="0" blurRad="177800" dist="38100" dir="5400000">
              <a:srgbClr val="1A1E1B">
                <a:alpha val="8000"/>
              </a:srgbClr>
            </a:outerShdw>
          </a:effectLst>
        </p:spPr>
      </p:sp>
      <p:sp>
        <p:nvSpPr>
          <p:cNvPr id="30" name="Text 27"/>
          <p:cNvSpPr txBox="1"/>
          <p:nvPr/>
        </p:nvSpPr>
        <p:spPr>
          <a:xfrm>
            <a:off x="8238744" y="285292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Payload, 1 / 20</a:t>
            </a:r>
            <a:endParaRPr lang="en-US" sz="1600" dirty="0"/>
          </a:p>
        </p:txBody>
      </p:sp>
      <p:sp>
        <p:nvSpPr>
          <p:cNvPr id="31" name="Text 28"/>
          <p:cNvSpPr txBox="1"/>
          <p:nvPr/>
        </p:nvSpPr>
        <p:spPr>
          <a:xfrm>
            <a:off x="8238744" y="3182112"/>
            <a:ext cx="3364992" cy="190195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The fingertip still lands near 2 mm, so there is little surprise. The pipeline notices 0 of 20. The old model still reaches.</a:t>
            </a:r>
            <a:endParaRPr lang="en-US" sz="1400" dirty="0"/>
          </a:p>
        </p:txBody>
      </p:sp>
      <p:sp>
        <p:nvSpPr>
          <p:cNvPr id="32" name="Text 29"/>
          <p:cNvSpPr txBox="1"/>
          <p:nvPr/>
        </p:nvSpPr>
        <p:spPr>
          <a:xfrm>
            <a:off x="502920" y="6446520"/>
            <a:ext cx="10424160"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§3. Medians after damage skip runs with no model. A bent axis leaves 10 of 20 swarm runs with no model.</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A TASK</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The cube still gets placed</a:t>
            </a:r>
            <a:endParaRPr lang="en-US" sz="3200" dirty="0"/>
          </a:p>
        </p:txBody>
      </p:sp>
      <p:sp>
        <p:nvSpPr>
          <p:cNvPr id="5" name="Shape 2"/>
          <p:cNvSpPr/>
          <p:nvPr/>
        </p:nvSpPr>
        <p:spPr>
          <a:xfrm>
            <a:off x="502920" y="1554480"/>
            <a:ext cx="2761488" cy="3108960"/>
          </a:xfrm>
          <a:prstGeom prst="roundRect">
            <a:avLst>
              <a:gd name="adj" fmla="val 3311"/>
            </a:avLst>
          </a:prstGeom>
          <a:solidFill>
            <a:srgbClr val="E5F2EA"/>
          </a:solidFill>
          <a:ln/>
        </p:spPr>
      </p:sp>
      <p:sp>
        <p:nvSpPr>
          <p:cNvPr id="6" name="Text 3"/>
          <p:cNvSpPr txBox="1"/>
          <p:nvPr/>
        </p:nvSpPr>
        <p:spPr>
          <a:xfrm>
            <a:off x="649224" y="1737360"/>
            <a:ext cx="2468880" cy="731520"/>
          </a:xfrm>
          <a:prstGeom prst="rect">
            <a:avLst/>
          </a:prstGeom>
          <a:noFill/>
          <a:ln/>
        </p:spPr>
        <p:txBody>
          <a:bodyPr wrap="square" lIns="0" tIns="0" rIns="0" bIns="0" rtlCol="0" anchor="ctr"/>
          <a:lstStyle/>
          <a:p>
            <a:pPr indent="0" marL="0">
              <a:buNone/>
            </a:pPr>
            <a:r>
              <a:rPr lang="en-US" sz="4000" dirty="0">
                <a:solidFill>
                  <a:srgbClr val="1A1E1B"/>
                </a:solidFill>
                <a:latin typeface="Georgia" pitchFamily="34" charset="0"/>
                <a:ea typeface="Georgia" pitchFamily="34" charset="-122"/>
                <a:cs typeface="Georgia" pitchFamily="34" charset="-120"/>
              </a:rPr>
              <a:t>20/20</a:t>
            </a:r>
            <a:endParaRPr lang="en-US" sz="4000" dirty="0"/>
          </a:p>
        </p:txBody>
      </p:sp>
      <p:sp>
        <p:nvSpPr>
          <p:cNvPr id="7" name="Text 4"/>
          <p:cNvSpPr txBox="1"/>
          <p:nvPr/>
        </p:nvSpPr>
        <p:spPr>
          <a:xfrm>
            <a:off x="649224" y="2560320"/>
            <a:ext cx="2468880" cy="365760"/>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Swarm, before</a:t>
            </a:r>
            <a:endParaRPr lang="en-US" sz="1600" dirty="0"/>
          </a:p>
        </p:txBody>
      </p:sp>
      <p:sp>
        <p:nvSpPr>
          <p:cNvPr id="8" name="Text 5"/>
          <p:cNvSpPr txBox="1"/>
          <p:nvPr/>
        </p:nvSpPr>
        <p:spPr>
          <a:xfrm>
            <a:off x="649224" y="3108960"/>
            <a:ext cx="2468880" cy="1097280"/>
          </a:xfrm>
          <a:prstGeom prst="rect">
            <a:avLst/>
          </a:prstGeom>
          <a:noFill/>
          <a:ln/>
        </p:spPr>
        <p:txBody>
          <a:bodyPr wrap="square" lIns="0" tIns="0" rIns="0" bIns="0" rtlCol="0" anchor="ctr"/>
          <a:lstStyle/>
          <a:p>
            <a:pPr indent="0" marL="0">
              <a:buNone/>
            </a:pPr>
            <a:r>
              <a:rPr lang="en-US" sz="1500" dirty="0">
                <a:solidFill>
                  <a:srgbClr val="4A463F"/>
                </a:solidFill>
                <a:latin typeface="Calibri" pitchFamily="34" charset="0"/>
                <a:ea typeface="Calibri" pitchFamily="34" charset="-122"/>
                <a:cs typeface="Calibri" pitchFamily="34" charset="-120"/>
              </a:rPr>
              <a:t>Place error 2.9 mm. Interval 2.3 to 3.7.</a:t>
            </a:r>
            <a:endParaRPr lang="en-US" sz="1500" dirty="0"/>
          </a:p>
        </p:txBody>
      </p:sp>
      <p:sp>
        <p:nvSpPr>
          <p:cNvPr id="9" name="Shape 6"/>
          <p:cNvSpPr/>
          <p:nvPr/>
        </p:nvSpPr>
        <p:spPr>
          <a:xfrm>
            <a:off x="3383280" y="1554480"/>
            <a:ext cx="2761488" cy="3108960"/>
          </a:xfrm>
          <a:prstGeom prst="roundRect">
            <a:avLst>
              <a:gd name="adj" fmla="val 3311"/>
            </a:avLst>
          </a:prstGeom>
          <a:solidFill>
            <a:srgbClr val="E5F2EA"/>
          </a:solidFill>
          <a:ln/>
        </p:spPr>
      </p:sp>
      <p:sp>
        <p:nvSpPr>
          <p:cNvPr id="10" name="Text 7"/>
          <p:cNvSpPr txBox="1"/>
          <p:nvPr/>
        </p:nvSpPr>
        <p:spPr>
          <a:xfrm>
            <a:off x="3529584" y="1737360"/>
            <a:ext cx="2468880" cy="731520"/>
          </a:xfrm>
          <a:prstGeom prst="rect">
            <a:avLst/>
          </a:prstGeom>
          <a:noFill/>
          <a:ln/>
        </p:spPr>
        <p:txBody>
          <a:bodyPr wrap="square" lIns="0" tIns="0" rIns="0" bIns="0" rtlCol="0" anchor="ctr"/>
          <a:lstStyle/>
          <a:p>
            <a:pPr indent="0" marL="0">
              <a:buNone/>
            </a:pPr>
            <a:r>
              <a:rPr lang="en-US" sz="4000" dirty="0">
                <a:solidFill>
                  <a:srgbClr val="1A1E1B"/>
                </a:solidFill>
                <a:latin typeface="Georgia" pitchFamily="34" charset="0"/>
                <a:ea typeface="Georgia" pitchFamily="34" charset="-122"/>
                <a:cs typeface="Georgia" pitchFamily="34" charset="-120"/>
              </a:rPr>
              <a:t>20/20</a:t>
            </a:r>
            <a:endParaRPr lang="en-US" sz="4000" dirty="0"/>
          </a:p>
        </p:txBody>
      </p:sp>
      <p:sp>
        <p:nvSpPr>
          <p:cNvPr id="11" name="Text 8"/>
          <p:cNvSpPr txBox="1"/>
          <p:nvPr/>
        </p:nvSpPr>
        <p:spPr>
          <a:xfrm>
            <a:off x="3529584" y="2560320"/>
            <a:ext cx="2468880" cy="365760"/>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Swarm, after</a:t>
            </a:r>
            <a:endParaRPr lang="en-US" sz="1600" dirty="0"/>
          </a:p>
        </p:txBody>
      </p:sp>
      <p:sp>
        <p:nvSpPr>
          <p:cNvPr id="12" name="Text 9"/>
          <p:cNvSpPr txBox="1"/>
          <p:nvPr/>
        </p:nvSpPr>
        <p:spPr>
          <a:xfrm>
            <a:off x="3529584" y="3108960"/>
            <a:ext cx="2468880" cy="1097280"/>
          </a:xfrm>
          <a:prstGeom prst="rect">
            <a:avLst/>
          </a:prstGeom>
          <a:noFill/>
          <a:ln/>
        </p:spPr>
        <p:txBody>
          <a:bodyPr wrap="square" lIns="0" tIns="0" rIns="0" bIns="0" rtlCol="0" anchor="ctr"/>
          <a:lstStyle/>
          <a:p>
            <a:pPr indent="0" marL="0">
              <a:buNone/>
            </a:pPr>
            <a:r>
              <a:rPr lang="en-US" sz="1500" dirty="0">
                <a:solidFill>
                  <a:srgbClr val="4A463F"/>
                </a:solidFill>
                <a:latin typeface="Calibri" pitchFamily="34" charset="0"/>
                <a:ea typeface="Calibri" pitchFamily="34" charset="-122"/>
                <a:cs typeface="Calibri" pitchFamily="34" charset="-120"/>
              </a:rPr>
              <a:t>4.7 mm, interval 2.4 to 6.5. A replan in all 20.</a:t>
            </a:r>
            <a:endParaRPr lang="en-US" sz="1500" dirty="0"/>
          </a:p>
        </p:txBody>
      </p:sp>
      <p:sp>
        <p:nvSpPr>
          <p:cNvPr id="13" name="Shape 10"/>
          <p:cNvSpPr/>
          <p:nvPr/>
        </p:nvSpPr>
        <p:spPr>
          <a:xfrm>
            <a:off x="6263640" y="1554480"/>
            <a:ext cx="2761488" cy="3108960"/>
          </a:xfrm>
          <a:prstGeom prst="roundRect">
            <a:avLst>
              <a:gd name="adj" fmla="val 3311"/>
            </a:avLst>
          </a:prstGeom>
          <a:solidFill>
            <a:srgbClr val="FFFDF8"/>
          </a:solidFill>
          <a:ln/>
        </p:spPr>
      </p:sp>
      <p:sp>
        <p:nvSpPr>
          <p:cNvPr id="14" name="Text 11"/>
          <p:cNvSpPr txBox="1"/>
          <p:nvPr/>
        </p:nvSpPr>
        <p:spPr>
          <a:xfrm>
            <a:off x="6409944" y="1737360"/>
            <a:ext cx="2468880" cy="731520"/>
          </a:xfrm>
          <a:prstGeom prst="rect">
            <a:avLst/>
          </a:prstGeom>
          <a:noFill/>
          <a:ln/>
        </p:spPr>
        <p:txBody>
          <a:bodyPr wrap="square" lIns="0" tIns="0" rIns="0" bIns="0" rtlCol="0" anchor="ctr"/>
          <a:lstStyle/>
          <a:p>
            <a:pPr indent="0" marL="0">
              <a:buNone/>
            </a:pPr>
            <a:r>
              <a:rPr lang="en-US" sz="4000" dirty="0">
                <a:solidFill>
                  <a:srgbClr val="1A1E1B"/>
                </a:solidFill>
                <a:latin typeface="Georgia" pitchFamily="34" charset="0"/>
                <a:ea typeface="Georgia" pitchFamily="34" charset="-122"/>
                <a:cs typeface="Georgia" pitchFamily="34" charset="-120"/>
              </a:rPr>
              <a:t>20/20</a:t>
            </a:r>
            <a:endParaRPr lang="en-US" sz="4000" dirty="0"/>
          </a:p>
        </p:txBody>
      </p:sp>
      <p:sp>
        <p:nvSpPr>
          <p:cNvPr id="15" name="Text 12"/>
          <p:cNvSpPr txBox="1"/>
          <p:nvPr/>
        </p:nvSpPr>
        <p:spPr>
          <a:xfrm>
            <a:off x="6409944" y="2560320"/>
            <a:ext cx="2468880" cy="365760"/>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Single, before</a:t>
            </a:r>
            <a:endParaRPr lang="en-US" sz="1600" dirty="0"/>
          </a:p>
        </p:txBody>
      </p:sp>
      <p:sp>
        <p:nvSpPr>
          <p:cNvPr id="16" name="Text 13"/>
          <p:cNvSpPr txBox="1"/>
          <p:nvPr/>
        </p:nvSpPr>
        <p:spPr>
          <a:xfrm>
            <a:off x="6409944" y="3108960"/>
            <a:ext cx="2468880" cy="1097280"/>
          </a:xfrm>
          <a:prstGeom prst="rect">
            <a:avLst/>
          </a:prstGeom>
          <a:noFill/>
          <a:ln/>
        </p:spPr>
        <p:txBody>
          <a:bodyPr wrap="square" lIns="0" tIns="0" rIns="0" bIns="0" rtlCol="0" anchor="ctr"/>
          <a:lstStyle/>
          <a:p>
            <a:pPr indent="0" marL="0">
              <a:buNone/>
            </a:pPr>
            <a:r>
              <a:rPr lang="en-US" sz="1500" dirty="0">
                <a:solidFill>
                  <a:srgbClr val="4A463F"/>
                </a:solidFill>
                <a:latin typeface="Calibri" pitchFamily="34" charset="0"/>
                <a:ea typeface="Calibri" pitchFamily="34" charset="-122"/>
                <a:cs typeface="Calibri" pitchFamily="34" charset="-120"/>
              </a:rPr>
              <a:t>3.1 mm, interval 2.0 to 4.7.</a:t>
            </a:r>
            <a:endParaRPr lang="en-US" sz="1500" dirty="0"/>
          </a:p>
        </p:txBody>
      </p:sp>
      <p:sp>
        <p:nvSpPr>
          <p:cNvPr id="17" name="Shape 14"/>
          <p:cNvSpPr/>
          <p:nvPr/>
        </p:nvSpPr>
        <p:spPr>
          <a:xfrm>
            <a:off x="9144000" y="1554480"/>
            <a:ext cx="2761488" cy="3108960"/>
          </a:xfrm>
          <a:prstGeom prst="roundRect">
            <a:avLst>
              <a:gd name="adj" fmla="val 3311"/>
            </a:avLst>
          </a:prstGeom>
          <a:solidFill>
            <a:srgbClr val="F8EBE6"/>
          </a:solidFill>
          <a:ln/>
        </p:spPr>
      </p:sp>
      <p:sp>
        <p:nvSpPr>
          <p:cNvPr id="18" name="Text 15"/>
          <p:cNvSpPr txBox="1"/>
          <p:nvPr/>
        </p:nvSpPr>
        <p:spPr>
          <a:xfrm>
            <a:off x="9290304" y="1737360"/>
            <a:ext cx="2468880" cy="731520"/>
          </a:xfrm>
          <a:prstGeom prst="rect">
            <a:avLst/>
          </a:prstGeom>
          <a:noFill/>
          <a:ln/>
        </p:spPr>
        <p:txBody>
          <a:bodyPr wrap="square" lIns="0" tIns="0" rIns="0" bIns="0" rtlCol="0" anchor="ctr"/>
          <a:lstStyle/>
          <a:p>
            <a:pPr indent="0" marL="0">
              <a:buNone/>
            </a:pPr>
            <a:r>
              <a:rPr lang="en-US" sz="4000" dirty="0">
                <a:solidFill>
                  <a:srgbClr val="1A1E1B"/>
                </a:solidFill>
                <a:latin typeface="Georgia" pitchFamily="34" charset="0"/>
                <a:ea typeface="Georgia" pitchFamily="34" charset="-122"/>
                <a:cs typeface="Georgia" pitchFamily="34" charset="-120"/>
              </a:rPr>
              <a:t>4/20</a:t>
            </a:r>
            <a:endParaRPr lang="en-US" sz="4000" dirty="0"/>
          </a:p>
        </p:txBody>
      </p:sp>
      <p:sp>
        <p:nvSpPr>
          <p:cNvPr id="19" name="Text 16"/>
          <p:cNvSpPr txBox="1"/>
          <p:nvPr/>
        </p:nvSpPr>
        <p:spPr>
          <a:xfrm>
            <a:off x="9290304" y="2560320"/>
            <a:ext cx="2468880" cy="365760"/>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Single, after</a:t>
            </a:r>
            <a:endParaRPr lang="en-US" sz="1600" dirty="0"/>
          </a:p>
        </p:txBody>
      </p:sp>
      <p:sp>
        <p:nvSpPr>
          <p:cNvPr id="20" name="Text 17"/>
          <p:cNvSpPr txBox="1"/>
          <p:nvPr/>
        </p:nvSpPr>
        <p:spPr>
          <a:xfrm>
            <a:off x="9290304" y="3108960"/>
            <a:ext cx="2468880" cy="1097280"/>
          </a:xfrm>
          <a:prstGeom prst="rect">
            <a:avLst/>
          </a:prstGeom>
          <a:noFill/>
          <a:ln/>
        </p:spPr>
        <p:txBody>
          <a:bodyPr wrap="square" lIns="0" tIns="0" rIns="0" bIns="0" rtlCol="0" anchor="ctr"/>
          <a:lstStyle/>
          <a:p>
            <a:pPr indent="0" marL="0">
              <a:buNone/>
            </a:pPr>
            <a:r>
              <a:rPr lang="en-US" sz="1500" dirty="0">
                <a:solidFill>
                  <a:srgbClr val="4A463F"/>
                </a:solidFill>
                <a:latin typeface="Calibri" pitchFamily="34" charset="0"/>
                <a:ea typeface="Calibri" pitchFamily="34" charset="-122"/>
                <a:cs typeface="Calibri" pitchFamily="34" charset="-120"/>
              </a:rPr>
              <a:t>149 mm, interval 55 to 376. No replan.</a:t>
            </a:r>
            <a:endParaRPr lang="en-US" sz="1500" dirty="0"/>
          </a:p>
        </p:txBody>
      </p:sp>
      <p:sp>
        <p:nvSpPr>
          <p:cNvPr id="21" name="Text 18"/>
          <p:cNvSpPr txBox="1"/>
          <p:nvPr/>
        </p:nvSpPr>
        <p:spPr>
          <a:xfrm>
            <a:off x="502920" y="6446520"/>
            <a:ext cx="10424160"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§4. Pick and place. A link is lengthened at motion 48. n = 20 arms. Place error is only where the cube was placed.</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CAMERA NOISE</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At 10 mm of noise, the swarm is still near the target</a:t>
            </a:r>
            <a:endParaRPr lang="en-US" sz="3200" dirty="0"/>
          </a:p>
        </p:txBody>
      </p:sp>
      <p:sp>
        <p:nvSpPr>
          <p:cNvPr id="5" name="Text 2"/>
          <p:cNvSpPr txBox="1"/>
          <p:nvPr/>
        </p:nvSpPr>
        <p:spPr>
          <a:xfrm>
            <a:off x="502920" y="1463040"/>
            <a:ext cx="3291840" cy="658368"/>
          </a:xfrm>
          <a:prstGeom prst="rect">
            <a:avLst/>
          </a:prstGeom>
          <a:noFill/>
          <a:ln/>
        </p:spPr>
        <p:txBody>
          <a:bodyPr wrap="square" lIns="0" tIns="0" rIns="0" bIns="0" rtlCol="0" anchor="ctr"/>
          <a:lstStyle/>
          <a:p>
            <a:pPr indent="0" marL="0">
              <a:buNone/>
            </a:pPr>
            <a:r>
              <a:rPr lang="en-US" sz="3600" dirty="0">
                <a:solidFill>
                  <a:srgbClr val="1E4D3A"/>
                </a:solidFill>
                <a:latin typeface="Georgia" pitchFamily="34" charset="0"/>
                <a:ea typeface="Georgia" pitchFamily="34" charset="-122"/>
                <a:cs typeface="Georgia" pitchFamily="34" charset="-120"/>
              </a:rPr>
              <a:t>9.1 mm</a:t>
            </a:r>
            <a:endParaRPr lang="en-US" sz="3600" dirty="0"/>
          </a:p>
        </p:txBody>
      </p:sp>
      <p:sp>
        <p:nvSpPr>
          <p:cNvPr id="6" name="Text 3"/>
          <p:cNvSpPr txBox="1"/>
          <p:nvPr/>
        </p:nvSpPr>
        <p:spPr>
          <a:xfrm>
            <a:off x="502920" y="2103120"/>
            <a:ext cx="3291840" cy="640080"/>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Swarm. Interval 6.4 to 21.2. Structure right on 13 of 20.</a:t>
            </a:r>
            <a:endParaRPr lang="en-US" sz="1400" dirty="0"/>
          </a:p>
        </p:txBody>
      </p:sp>
      <p:sp>
        <p:nvSpPr>
          <p:cNvPr id="7" name="Text 4"/>
          <p:cNvSpPr txBox="1"/>
          <p:nvPr/>
        </p:nvSpPr>
        <p:spPr>
          <a:xfrm>
            <a:off x="3931920" y="1463040"/>
            <a:ext cx="3657600" cy="658368"/>
          </a:xfrm>
          <a:prstGeom prst="rect">
            <a:avLst/>
          </a:prstGeom>
          <a:noFill/>
          <a:ln/>
        </p:spPr>
        <p:txBody>
          <a:bodyPr wrap="square" lIns="0" tIns="0" rIns="0" bIns="0" rtlCol="0" anchor="ctr"/>
          <a:lstStyle/>
          <a:p>
            <a:pPr indent="0" marL="0">
              <a:buNone/>
            </a:pPr>
            <a:r>
              <a:rPr lang="en-US" sz="3600" dirty="0">
                <a:solidFill>
                  <a:srgbClr val="B8432A"/>
                </a:solidFill>
                <a:latin typeface="Georgia" pitchFamily="34" charset="0"/>
                <a:ea typeface="Georgia" pitchFamily="34" charset="-122"/>
                <a:cs typeface="Georgia" pitchFamily="34" charset="-120"/>
              </a:rPr>
              <a:t>31–50 mm</a:t>
            </a:r>
            <a:endParaRPr lang="en-US" sz="3600" dirty="0"/>
          </a:p>
        </p:txBody>
      </p:sp>
      <p:sp>
        <p:nvSpPr>
          <p:cNvPr id="8" name="Text 5"/>
          <p:cNvSpPr txBox="1"/>
          <p:nvPr/>
        </p:nvSpPr>
        <p:spPr>
          <a:xfrm>
            <a:off x="3931920" y="2103120"/>
            <a:ext cx="3657600" cy="640080"/>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Pipeline 31, probe 43, single 50. Structures right on 4, 3, and 4 of 20.</a:t>
            </a:r>
            <a:endParaRPr lang="en-US" sz="1400" dirty="0"/>
          </a:p>
        </p:txBody>
      </p:sp>
      <p:sp>
        <p:nvSpPr>
          <p:cNvPr id="9" name="Text 6"/>
          <p:cNvSpPr txBox="1"/>
          <p:nvPr/>
        </p:nvSpPr>
        <p:spPr>
          <a:xfrm>
            <a:off x="7863840" y="1463040"/>
            <a:ext cx="3657600" cy="658368"/>
          </a:xfrm>
          <a:prstGeom prst="rect">
            <a:avLst/>
          </a:prstGeom>
          <a:noFill/>
          <a:ln/>
        </p:spPr>
        <p:txBody>
          <a:bodyPr wrap="square" lIns="0" tIns="0" rIns="0" bIns="0" rtlCol="0" anchor="ctr"/>
          <a:lstStyle/>
          <a:p>
            <a:pPr indent="0" marL="0">
              <a:buNone/>
            </a:pPr>
            <a:r>
              <a:rPr lang="en-US" sz="3600" dirty="0">
                <a:solidFill>
                  <a:srgbClr val="1A1E1B"/>
                </a:solidFill>
                <a:latin typeface="Georgia" pitchFamily="34" charset="0"/>
                <a:ea typeface="Georgia" pitchFamily="34" charset="-122"/>
                <a:cs typeface="Georgia" pitchFamily="34" charset="-120"/>
              </a:rPr>
              <a:t>0 / 20</a:t>
            </a:r>
            <a:endParaRPr lang="en-US" sz="3600" dirty="0"/>
          </a:p>
        </p:txBody>
      </p:sp>
      <p:sp>
        <p:nvSpPr>
          <p:cNvPr id="10" name="Text 7"/>
          <p:cNvSpPr txBox="1"/>
          <p:nvPr/>
        </p:nvSpPr>
        <p:spPr>
          <a:xfrm>
            <a:off x="7863840" y="2103120"/>
            <a:ext cx="3657600" cy="640080"/>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False alarms at 1, 2, 5, and 10 mm, swarm and pipeline.</a:t>
            </a:r>
            <a:endParaRPr lang="en-US" sz="1400" dirty="0"/>
          </a:p>
        </p:txBody>
      </p:sp>
      <p:sp>
        <p:nvSpPr>
          <p:cNvPr id="11" name="Text 8"/>
          <p:cNvSpPr txBox="1"/>
          <p:nvPr/>
        </p:nvSpPr>
        <p:spPr>
          <a:xfrm>
            <a:off x="502920" y="3017520"/>
            <a:ext cx="11155680" cy="640080"/>
          </a:xfrm>
          <a:prstGeom prst="rect">
            <a:avLst/>
          </a:prstGeom>
          <a:noFill/>
          <a:ln/>
        </p:spPr>
        <p:txBody>
          <a:bodyPr wrap="square" lIns="0" tIns="0" rIns="0" bIns="0" rtlCol="0" anchor="ctr"/>
          <a:lstStyle/>
          <a:p>
            <a:pPr indent="0" marL="0">
              <a:buNone/>
            </a:pPr>
            <a:r>
              <a:rPr lang="en-US" sz="1600" dirty="0">
                <a:solidFill>
                  <a:srgbClr val="4A463F"/>
                </a:solidFill>
                <a:latin typeface="Calibri" pitchFamily="34" charset="0"/>
                <a:ea typeface="Calibri" pitchFamily="34" charset="-122"/>
                <a:cs typeface="Calibri" pitchFamily="34" charset="-120"/>
              </a:rPr>
              <a:t>At 1, 2, and 5 mm the probe is as close or closer, and everyone who probes still names the structure. The gap opens when the noise gets large. This is noise on every reading, not the one-channel fault.</a:t>
            </a:r>
            <a:endParaRPr lang="en-US" sz="1600" dirty="0"/>
          </a:p>
        </p:txBody>
      </p:sp>
      <p:pic>
        <p:nvPicPr>
          <p:cNvPr id="12" name="Image 0" descr="D:/bodyscout/results/fig_noise.png">    </p:cNvPr>
          <p:cNvPicPr>
            <a:picLocks noChangeAspect="1"/>
          </p:cNvPicPr>
          <p:nvPr/>
        </p:nvPicPr>
        <p:blipFill>
          <a:blip r:embed="rId1"/>
          <a:stretch>
            <a:fillRect/>
          </a:stretch>
        </p:blipFill>
        <p:spPr>
          <a:xfrm>
            <a:off x="3931920" y="3657600"/>
            <a:ext cx="4297680" cy="2505456"/>
          </a:xfrm>
          <a:prstGeom prst="rect">
            <a:avLst/>
          </a:prstGeom>
        </p:spPr>
      </p:pic>
      <p:sp>
        <p:nvSpPr>
          <p:cNvPr id="13" name="Text 9"/>
          <p:cNvSpPr txBox="1"/>
          <p:nvPr/>
        </p:nvSpPr>
        <p:spPr>
          <a:xfrm>
            <a:off x="502920" y="6446520"/>
            <a:ext cx="10424160"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§6. n = 20 at each noise level.</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H5</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It declines a point it has not earned</a:t>
            </a:r>
            <a:endParaRPr lang="en-US" sz="3200" dirty="0"/>
          </a:p>
        </p:txBody>
      </p:sp>
      <p:sp>
        <p:nvSpPr>
          <p:cNvPr id="5" name="Text 2"/>
          <p:cNvSpPr txBox="1"/>
          <p:nvPr/>
        </p:nvSpPr>
        <p:spPr>
          <a:xfrm>
            <a:off x="502920" y="1463040"/>
            <a:ext cx="3657600" cy="658368"/>
          </a:xfrm>
          <a:prstGeom prst="rect">
            <a:avLst/>
          </a:prstGeom>
          <a:noFill/>
          <a:ln/>
        </p:spPr>
        <p:txBody>
          <a:bodyPr wrap="square" lIns="0" tIns="0" rIns="0" bIns="0" rtlCol="0" anchor="ctr"/>
          <a:lstStyle/>
          <a:p>
            <a:pPr indent="0" marL="0">
              <a:buNone/>
            </a:pPr>
            <a:r>
              <a:rPr lang="en-US" sz="3600" dirty="0">
                <a:solidFill>
                  <a:srgbClr val="1E4D3A"/>
                </a:solidFill>
                <a:latin typeface="Georgia" pitchFamily="34" charset="0"/>
                <a:ea typeface="Georgia" pitchFamily="34" charset="-122"/>
                <a:cs typeface="Georgia" pitchFamily="34" charset="-120"/>
              </a:rPr>
              <a:t>200/200</a:t>
            </a:r>
            <a:endParaRPr lang="en-US" sz="3600" dirty="0"/>
          </a:p>
        </p:txBody>
      </p:sp>
      <p:sp>
        <p:nvSpPr>
          <p:cNvPr id="6" name="Text 3"/>
          <p:cNvSpPr txBox="1"/>
          <p:nvPr/>
        </p:nvSpPr>
        <p:spPr>
          <a:xfrm>
            <a:off x="502920" y="2103120"/>
            <a:ext cx="3657600" cy="640080"/>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Out-of-reach targets refused.</a:t>
            </a:r>
            <a:endParaRPr lang="en-US" sz="1400" dirty="0"/>
          </a:p>
        </p:txBody>
      </p:sp>
      <p:sp>
        <p:nvSpPr>
          <p:cNvPr id="7" name="Text 4"/>
          <p:cNvSpPr txBox="1"/>
          <p:nvPr/>
        </p:nvSpPr>
        <p:spPr>
          <a:xfrm>
            <a:off x="4297680" y="1463040"/>
            <a:ext cx="3474720" cy="658368"/>
          </a:xfrm>
          <a:prstGeom prst="rect">
            <a:avLst/>
          </a:prstGeom>
          <a:noFill/>
          <a:ln/>
        </p:spPr>
        <p:txBody>
          <a:bodyPr wrap="square" lIns="0" tIns="0" rIns="0" bIns="0" rtlCol="0" anchor="ctr"/>
          <a:lstStyle/>
          <a:p>
            <a:pPr indent="0" marL="0">
              <a:buNone/>
            </a:pPr>
            <a:r>
              <a:rPr lang="en-US" sz="3600" dirty="0">
                <a:solidFill>
                  <a:srgbClr val="1E4D3A"/>
                </a:solidFill>
                <a:latin typeface="Georgia" pitchFamily="34" charset="0"/>
                <a:ea typeface="Georgia" pitchFamily="34" charset="-122"/>
                <a:cs typeface="Georgia" pitchFamily="34" charset="-120"/>
              </a:rPr>
              <a:t>0/200</a:t>
            </a:r>
            <a:endParaRPr lang="en-US" sz="3600" dirty="0"/>
          </a:p>
        </p:txBody>
      </p:sp>
      <p:sp>
        <p:nvSpPr>
          <p:cNvPr id="8" name="Text 5"/>
          <p:cNvSpPr txBox="1"/>
          <p:nvPr/>
        </p:nvSpPr>
        <p:spPr>
          <a:xfrm>
            <a:off x="4297680" y="2103120"/>
            <a:ext cx="3474720" cy="640080"/>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Reachable targets refused.</a:t>
            </a:r>
            <a:endParaRPr lang="en-US" sz="1400" dirty="0"/>
          </a:p>
        </p:txBody>
      </p:sp>
      <p:sp>
        <p:nvSpPr>
          <p:cNvPr id="9" name="Text 6"/>
          <p:cNvSpPr txBox="1"/>
          <p:nvPr/>
        </p:nvSpPr>
        <p:spPr>
          <a:xfrm>
            <a:off x="7955280" y="1463040"/>
            <a:ext cx="3657600" cy="658368"/>
          </a:xfrm>
          <a:prstGeom prst="rect">
            <a:avLst/>
          </a:prstGeom>
          <a:noFill/>
          <a:ln/>
        </p:spPr>
        <p:txBody>
          <a:bodyPr wrap="square" lIns="0" tIns="0" rIns="0" bIns="0" rtlCol="0" anchor="ctr"/>
          <a:lstStyle/>
          <a:p>
            <a:pPr indent="0" marL="0">
              <a:buNone/>
            </a:pPr>
            <a:r>
              <a:rPr lang="en-US" sz="3600" dirty="0">
                <a:solidFill>
                  <a:srgbClr val="B8432A"/>
                </a:solidFill>
                <a:latin typeface="Georgia" pitchFamily="34" charset="0"/>
                <a:ea typeface="Georgia" pitchFamily="34" charset="-122"/>
                <a:cs typeface="Georgia" pitchFamily="34" charset="-120"/>
              </a:rPr>
              <a:t>466 mm</a:t>
            </a:r>
            <a:endParaRPr lang="en-US" sz="3600" dirty="0"/>
          </a:p>
        </p:txBody>
      </p:sp>
      <p:sp>
        <p:nvSpPr>
          <p:cNvPr id="10" name="Text 7"/>
          <p:cNvSpPr txBox="1"/>
          <p:nvPr/>
        </p:nvSpPr>
        <p:spPr>
          <a:xfrm>
            <a:off x="7955280" y="2103120"/>
            <a:ext cx="3657600" cy="640080"/>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An unguarded planner, on those far targets. Interval 452 to 517.</a:t>
            </a:r>
            <a:endParaRPr lang="en-US" sz="1400" dirty="0"/>
          </a:p>
        </p:txBody>
      </p:sp>
      <p:pic>
        <p:nvPicPr>
          <p:cNvPr id="11" name="Image 0" descr="D:/bodyscout/results/fig_extrapolation.png">    </p:cNvPr>
          <p:cNvPicPr>
            <a:picLocks noChangeAspect="1"/>
          </p:cNvPicPr>
          <p:nvPr/>
        </p:nvPicPr>
        <p:blipFill>
          <a:blip r:embed="rId1"/>
          <a:stretch>
            <a:fillRect/>
          </a:stretch>
        </p:blipFill>
        <p:spPr>
          <a:xfrm>
            <a:off x="3108960" y="3108960"/>
            <a:ext cx="5943600" cy="3108960"/>
          </a:xfrm>
          <a:prstGeom prst="rect">
            <a:avLst/>
          </a:prstGeom>
        </p:spPr>
      </p:pic>
      <p:sp>
        <p:nvSpPr>
          <p:cNvPr id="12" name="Text 8"/>
          <p:cNvSpPr txBox="1"/>
          <p:nvPr/>
        </p:nvSpPr>
        <p:spPr>
          <a:xfrm>
            <a:off x="502920" y="6446520"/>
            <a:ext cx="10424160"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§8. Out of reach means 1.3 times past the largest reach. n = 200, fifty per family. On reachable targets the unguarded miss is 2 mm.</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REDUNDANCY</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Remove one role. The structure still comes back.</a:t>
            </a:r>
            <a:endParaRPr lang="en-US" sz="3200" dirty="0"/>
          </a:p>
        </p:txBody>
      </p:sp>
      <p:sp>
        <p:nvSpPr>
          <p:cNvPr id="5" name="Text 2"/>
          <p:cNvSpPr txBox="1"/>
          <p:nvPr/>
        </p:nvSpPr>
        <p:spPr>
          <a:xfrm>
            <a:off x="502920" y="1463040"/>
            <a:ext cx="11155680" cy="548640"/>
          </a:xfrm>
          <a:prstGeom prst="rect">
            <a:avLst/>
          </a:prstGeom>
          <a:noFill/>
          <a:ln/>
        </p:spPr>
        <p:txBody>
          <a:bodyPr wrap="square" lIns="0" tIns="0" rIns="0" bIns="0" rtlCol="0" anchor="ctr"/>
          <a:lstStyle/>
          <a:p>
            <a:pPr indent="0" marL="0">
              <a:buNone/>
            </a:pPr>
            <a:r>
              <a:rPr lang="en-US" sz="1600" dirty="0">
                <a:solidFill>
                  <a:srgbClr val="4A463F"/>
                </a:solidFill>
                <a:latin typeface="Calibri" pitchFamily="34" charset="0"/>
                <a:ea typeface="Calibri" pitchFamily="34" charset="-122"/>
                <a:cs typeface="Calibri" pitchFamily="34" charset="-120"/>
              </a:rPr>
              <a:t>Ten knockouts, twenty unknown bodies each, removed at motion 24. Structure right 20/20 on every row. Reach stays between 1.4 and 1.7 mm.</a:t>
            </a:r>
            <a:endParaRPr lang="en-US" sz="1600" dirty="0"/>
          </a:p>
        </p:txBody>
      </p:sp>
      <p:sp>
        <p:nvSpPr>
          <p:cNvPr id="6" name="Shape 3"/>
          <p:cNvSpPr/>
          <p:nvPr/>
        </p:nvSpPr>
        <p:spPr>
          <a:xfrm>
            <a:off x="502920" y="2286000"/>
            <a:ext cx="2148840" cy="594360"/>
          </a:xfrm>
          <a:prstGeom prst="roundRect">
            <a:avLst>
              <a:gd name="adj" fmla="val 15385"/>
            </a:avLst>
          </a:prstGeom>
          <a:solidFill>
            <a:srgbClr val="FFFDF8"/>
          </a:solidFill>
          <a:ln/>
        </p:spPr>
      </p:sp>
      <p:sp>
        <p:nvSpPr>
          <p:cNvPr id="7" name="Text 4"/>
          <p:cNvSpPr txBox="1"/>
          <p:nvPr/>
        </p:nvSpPr>
        <p:spPr>
          <a:xfrm>
            <a:off x="594360" y="2395728"/>
            <a:ext cx="1965960" cy="384048"/>
          </a:xfrm>
          <a:prstGeom prst="rect">
            <a:avLst/>
          </a:prstGeom>
          <a:noFill/>
          <a:ln/>
        </p:spPr>
        <p:txBody>
          <a:bodyPr wrap="square" lIns="0" tIns="0" rIns="0" bIns="0" rtlCol="0" anchor="ctr"/>
          <a:lstStyle/>
          <a:p>
            <a:pPr algn="ctr" indent="0" marL="0">
              <a:buNone/>
            </a:pPr>
            <a:r>
              <a:rPr lang="en-US" sz="1400" dirty="0">
                <a:solidFill>
                  <a:srgbClr val="1A1E1B"/>
                </a:solidFill>
                <a:latin typeface="Calibri" pitchFamily="34" charset="0"/>
                <a:ea typeface="Calibri" pitchFamily="34" charset="-122"/>
                <a:cs typeface="Calibri" pitchFamily="34" charset="-120"/>
              </a:rPr>
              <a:t>findings</a:t>
            </a:r>
            <a:endParaRPr lang="en-US" sz="1400" dirty="0"/>
          </a:p>
        </p:txBody>
      </p:sp>
      <p:sp>
        <p:nvSpPr>
          <p:cNvPr id="8" name="Shape 5"/>
          <p:cNvSpPr/>
          <p:nvPr/>
        </p:nvSpPr>
        <p:spPr>
          <a:xfrm>
            <a:off x="2788920" y="2286000"/>
            <a:ext cx="2148840" cy="594360"/>
          </a:xfrm>
          <a:prstGeom prst="roundRect">
            <a:avLst>
              <a:gd name="adj" fmla="val 15385"/>
            </a:avLst>
          </a:prstGeom>
          <a:solidFill>
            <a:srgbClr val="FFFDF8"/>
          </a:solidFill>
          <a:ln/>
        </p:spPr>
      </p:sp>
      <p:sp>
        <p:nvSpPr>
          <p:cNvPr id="9" name="Text 6"/>
          <p:cNvSpPr txBox="1"/>
          <p:nvPr/>
        </p:nvSpPr>
        <p:spPr>
          <a:xfrm>
            <a:off x="2880360" y="2395728"/>
            <a:ext cx="1965960" cy="384048"/>
          </a:xfrm>
          <a:prstGeom prst="rect">
            <a:avLst/>
          </a:prstGeom>
          <a:noFill/>
          <a:ln/>
        </p:spPr>
        <p:txBody>
          <a:bodyPr wrap="square" lIns="0" tIns="0" rIns="0" bIns="0" rtlCol="0" anchor="ctr"/>
          <a:lstStyle/>
          <a:p>
            <a:pPr algn="ctr" indent="0" marL="0">
              <a:buNone/>
            </a:pPr>
            <a:r>
              <a:rPr lang="en-US" sz="1400" dirty="0">
                <a:solidFill>
                  <a:srgbClr val="1A1E1B"/>
                </a:solidFill>
                <a:latin typeface="Calibri" pitchFamily="34" charset="0"/>
                <a:ea typeface="Calibri" pitchFamily="34" charset="-122"/>
                <a:cs typeface="Calibri" pitchFamily="34" charset="-120"/>
              </a:rPr>
              <a:t>prior</a:t>
            </a:r>
            <a:endParaRPr lang="en-US" sz="1400" dirty="0"/>
          </a:p>
        </p:txBody>
      </p:sp>
      <p:sp>
        <p:nvSpPr>
          <p:cNvPr id="10" name="Shape 7"/>
          <p:cNvSpPr/>
          <p:nvPr/>
        </p:nvSpPr>
        <p:spPr>
          <a:xfrm>
            <a:off x="5074920" y="2286000"/>
            <a:ext cx="2148840" cy="594360"/>
          </a:xfrm>
          <a:prstGeom prst="roundRect">
            <a:avLst>
              <a:gd name="adj" fmla="val 15385"/>
            </a:avLst>
          </a:prstGeom>
          <a:solidFill>
            <a:srgbClr val="FFFDF8"/>
          </a:solidFill>
          <a:ln/>
        </p:spPr>
      </p:sp>
      <p:sp>
        <p:nvSpPr>
          <p:cNvPr id="11" name="Text 8"/>
          <p:cNvSpPr txBox="1"/>
          <p:nvPr/>
        </p:nvSpPr>
        <p:spPr>
          <a:xfrm>
            <a:off x="5166360" y="2395728"/>
            <a:ext cx="1965960" cy="384048"/>
          </a:xfrm>
          <a:prstGeom prst="rect">
            <a:avLst/>
          </a:prstGeom>
          <a:noFill/>
          <a:ln/>
        </p:spPr>
        <p:txBody>
          <a:bodyPr wrap="square" lIns="0" tIns="0" rIns="0" bIns="0" rtlCol="0" anchor="ctr"/>
          <a:lstStyle/>
          <a:p>
            <a:pPr algn="ctr" indent="0" marL="0">
              <a:buNone/>
            </a:pPr>
            <a:r>
              <a:rPr lang="en-US" sz="1400" dirty="0">
                <a:solidFill>
                  <a:srgbClr val="1A1E1B"/>
                </a:solidFill>
                <a:latin typeface="Calibri" pitchFamily="34" charset="0"/>
                <a:ea typeface="Calibri" pitchFamily="34" charset="-122"/>
                <a:cs typeface="Calibri" pitchFamily="34" charset="-120"/>
              </a:rPr>
              <a:t>library</a:t>
            </a:r>
            <a:endParaRPr lang="en-US" sz="1400" dirty="0"/>
          </a:p>
        </p:txBody>
      </p:sp>
      <p:sp>
        <p:nvSpPr>
          <p:cNvPr id="12" name="Shape 9"/>
          <p:cNvSpPr/>
          <p:nvPr/>
        </p:nvSpPr>
        <p:spPr>
          <a:xfrm>
            <a:off x="7360920" y="2286000"/>
            <a:ext cx="2148840" cy="594360"/>
          </a:xfrm>
          <a:prstGeom prst="roundRect">
            <a:avLst>
              <a:gd name="adj" fmla="val 15385"/>
            </a:avLst>
          </a:prstGeom>
          <a:solidFill>
            <a:srgbClr val="FFFDF8"/>
          </a:solidFill>
          <a:ln/>
        </p:spPr>
      </p:sp>
      <p:sp>
        <p:nvSpPr>
          <p:cNvPr id="13" name="Text 10"/>
          <p:cNvSpPr txBox="1"/>
          <p:nvPr/>
        </p:nvSpPr>
        <p:spPr>
          <a:xfrm>
            <a:off x="7452360" y="2395728"/>
            <a:ext cx="1965960" cy="384048"/>
          </a:xfrm>
          <a:prstGeom prst="rect">
            <a:avLst/>
          </a:prstGeom>
          <a:noFill/>
          <a:ln/>
        </p:spPr>
        <p:txBody>
          <a:bodyPr wrap="square" lIns="0" tIns="0" rIns="0" bIns="0" rtlCol="0" anchor="ctr"/>
          <a:lstStyle/>
          <a:p>
            <a:pPr algn="ctr" indent="0" marL="0">
              <a:buNone/>
            </a:pPr>
            <a:r>
              <a:rPr lang="en-US" sz="1400" dirty="0">
                <a:solidFill>
                  <a:srgbClr val="1A1E1B"/>
                </a:solidFill>
                <a:latin typeface="Calibri" pitchFamily="34" charset="0"/>
                <a:ea typeface="Calibri" pitchFamily="34" charset="-122"/>
                <a:cs typeface="Calibri" pitchFamily="34" charset="-120"/>
              </a:rPr>
              <a:t>one validator</a:t>
            </a:r>
            <a:endParaRPr lang="en-US" sz="1400" dirty="0"/>
          </a:p>
        </p:txBody>
      </p:sp>
      <p:sp>
        <p:nvSpPr>
          <p:cNvPr id="14" name="Shape 11"/>
          <p:cNvSpPr/>
          <p:nvPr/>
        </p:nvSpPr>
        <p:spPr>
          <a:xfrm>
            <a:off x="9646920" y="2286000"/>
            <a:ext cx="2148840" cy="594360"/>
          </a:xfrm>
          <a:prstGeom prst="roundRect">
            <a:avLst>
              <a:gd name="adj" fmla="val 15385"/>
            </a:avLst>
          </a:prstGeom>
          <a:solidFill>
            <a:srgbClr val="FFFDF8"/>
          </a:solidFill>
          <a:ln/>
        </p:spPr>
      </p:sp>
      <p:sp>
        <p:nvSpPr>
          <p:cNvPr id="15" name="Text 12"/>
          <p:cNvSpPr txBox="1"/>
          <p:nvPr/>
        </p:nvSpPr>
        <p:spPr>
          <a:xfrm>
            <a:off x="9738360" y="2395728"/>
            <a:ext cx="1965960" cy="384048"/>
          </a:xfrm>
          <a:prstGeom prst="rect">
            <a:avLst/>
          </a:prstGeom>
          <a:noFill/>
          <a:ln/>
        </p:spPr>
        <p:txBody>
          <a:bodyPr wrap="square" lIns="0" tIns="0" rIns="0" bIns="0" rtlCol="0" anchor="ctr"/>
          <a:lstStyle/>
          <a:p>
            <a:pPr algn="ctr" indent="0" marL="0">
              <a:buNone/>
            </a:pPr>
            <a:r>
              <a:rPr lang="en-US" sz="1400" dirty="0">
                <a:solidFill>
                  <a:srgbClr val="1A1E1B"/>
                </a:solidFill>
                <a:latin typeface="Calibri" pitchFamily="34" charset="0"/>
                <a:ea typeface="Calibri" pitchFamily="34" charset="-122"/>
                <a:cs typeface="Calibri" pitchFamily="34" charset="-120"/>
              </a:rPr>
              <a:t>one explorer</a:t>
            </a:r>
            <a:endParaRPr lang="en-US" sz="1400" dirty="0"/>
          </a:p>
        </p:txBody>
      </p:sp>
      <p:sp>
        <p:nvSpPr>
          <p:cNvPr id="16" name="Shape 13"/>
          <p:cNvSpPr/>
          <p:nvPr/>
        </p:nvSpPr>
        <p:spPr>
          <a:xfrm>
            <a:off x="502920" y="3063240"/>
            <a:ext cx="2148840" cy="594360"/>
          </a:xfrm>
          <a:prstGeom prst="roundRect">
            <a:avLst>
              <a:gd name="adj" fmla="val 15385"/>
            </a:avLst>
          </a:prstGeom>
          <a:solidFill>
            <a:srgbClr val="FFFDF8"/>
          </a:solidFill>
          <a:ln/>
        </p:spPr>
      </p:sp>
      <p:sp>
        <p:nvSpPr>
          <p:cNvPr id="17" name="Text 14"/>
          <p:cNvSpPr txBox="1"/>
          <p:nvPr/>
        </p:nvSpPr>
        <p:spPr>
          <a:xfrm>
            <a:off x="594360" y="3172968"/>
            <a:ext cx="1965960" cy="384048"/>
          </a:xfrm>
          <a:prstGeom prst="rect">
            <a:avLst/>
          </a:prstGeom>
          <a:noFill/>
          <a:ln/>
        </p:spPr>
        <p:txBody>
          <a:bodyPr wrap="square" lIns="0" tIns="0" rIns="0" bIns="0" rtlCol="0" anchor="ctr"/>
          <a:lstStyle/>
          <a:p>
            <a:pPr algn="ctr" indent="0" marL="0">
              <a:buNone/>
            </a:pPr>
            <a:r>
              <a:rPr lang="en-US" sz="1400" dirty="0">
                <a:solidFill>
                  <a:srgbClr val="1A1E1B"/>
                </a:solidFill>
                <a:latin typeface="Calibri" pitchFamily="34" charset="0"/>
                <a:ea typeface="Calibri" pitchFamily="34" charset="-122"/>
                <a:cs typeface="Calibri" pitchFamily="34" charset="-120"/>
              </a:rPr>
              <a:t>the monitor</a:t>
            </a:r>
            <a:endParaRPr lang="en-US" sz="1400" dirty="0"/>
          </a:p>
        </p:txBody>
      </p:sp>
      <p:sp>
        <p:nvSpPr>
          <p:cNvPr id="18" name="Shape 15"/>
          <p:cNvSpPr/>
          <p:nvPr/>
        </p:nvSpPr>
        <p:spPr>
          <a:xfrm>
            <a:off x="2788920" y="3063240"/>
            <a:ext cx="2148840" cy="594360"/>
          </a:xfrm>
          <a:prstGeom prst="roundRect">
            <a:avLst>
              <a:gd name="adj" fmla="val 15385"/>
            </a:avLst>
          </a:prstGeom>
          <a:solidFill>
            <a:srgbClr val="FFFDF8"/>
          </a:solidFill>
          <a:ln/>
        </p:spPr>
      </p:sp>
      <p:sp>
        <p:nvSpPr>
          <p:cNvPr id="19" name="Text 16"/>
          <p:cNvSpPr txBox="1"/>
          <p:nvPr/>
        </p:nvSpPr>
        <p:spPr>
          <a:xfrm>
            <a:off x="2880360" y="3172968"/>
            <a:ext cx="1965960" cy="384048"/>
          </a:xfrm>
          <a:prstGeom prst="rect">
            <a:avLst/>
          </a:prstGeom>
          <a:noFill/>
          <a:ln/>
        </p:spPr>
        <p:txBody>
          <a:bodyPr wrap="square" lIns="0" tIns="0" rIns="0" bIns="0" rtlCol="0" anchor="ctr"/>
          <a:lstStyle/>
          <a:p>
            <a:pPr algn="ctr" indent="0" marL="0">
              <a:buNone/>
            </a:pPr>
            <a:r>
              <a:rPr lang="en-US" sz="1400" dirty="0">
                <a:solidFill>
                  <a:srgbClr val="1A1E1B"/>
                </a:solidFill>
                <a:latin typeface="Calibri" pitchFamily="34" charset="0"/>
                <a:ea typeface="Calibri" pitchFamily="34" charset="-122"/>
                <a:cs typeface="Calibri" pitchFamily="34" charset="-120"/>
              </a:rPr>
              <a:t>every hypothesizer</a:t>
            </a:r>
            <a:endParaRPr lang="en-US" sz="1400" dirty="0"/>
          </a:p>
        </p:txBody>
      </p:sp>
      <p:sp>
        <p:nvSpPr>
          <p:cNvPr id="20" name="Shape 17"/>
          <p:cNvSpPr/>
          <p:nvPr/>
        </p:nvSpPr>
        <p:spPr>
          <a:xfrm>
            <a:off x="5074920" y="3063240"/>
            <a:ext cx="2148840" cy="594360"/>
          </a:xfrm>
          <a:prstGeom prst="roundRect">
            <a:avLst>
              <a:gd name="adj" fmla="val 15385"/>
            </a:avLst>
          </a:prstGeom>
          <a:solidFill>
            <a:srgbClr val="FFFDF8"/>
          </a:solidFill>
          <a:ln/>
        </p:spPr>
      </p:sp>
      <p:sp>
        <p:nvSpPr>
          <p:cNvPr id="21" name="Text 18"/>
          <p:cNvSpPr txBox="1"/>
          <p:nvPr/>
        </p:nvSpPr>
        <p:spPr>
          <a:xfrm>
            <a:off x="5166360" y="3172968"/>
            <a:ext cx="1965960" cy="384048"/>
          </a:xfrm>
          <a:prstGeom prst="rect">
            <a:avLst/>
          </a:prstGeom>
          <a:noFill/>
          <a:ln/>
        </p:spPr>
        <p:txBody>
          <a:bodyPr wrap="square" lIns="0" tIns="0" rIns="0" bIns="0" rtlCol="0" anchor="ctr"/>
          <a:lstStyle/>
          <a:p>
            <a:pPr algn="ctr" indent="0" marL="0">
              <a:buNone/>
            </a:pPr>
            <a:r>
              <a:rPr lang="en-US" sz="1400" dirty="0">
                <a:solidFill>
                  <a:srgbClr val="1A1E1B"/>
                </a:solidFill>
                <a:latin typeface="Calibri" pitchFamily="34" charset="0"/>
                <a:ea typeface="Calibri" pitchFamily="34" charset="-122"/>
                <a:cs typeface="Calibri" pitchFamily="34" charset="-120"/>
              </a:rPr>
              <a:t>one chain modeler</a:t>
            </a:r>
            <a:endParaRPr lang="en-US" sz="1400" dirty="0"/>
          </a:p>
        </p:txBody>
      </p:sp>
      <p:sp>
        <p:nvSpPr>
          <p:cNvPr id="22" name="Shape 19"/>
          <p:cNvSpPr/>
          <p:nvPr/>
        </p:nvSpPr>
        <p:spPr>
          <a:xfrm>
            <a:off x="7360920" y="3063240"/>
            <a:ext cx="2148840" cy="594360"/>
          </a:xfrm>
          <a:prstGeom prst="roundRect">
            <a:avLst>
              <a:gd name="adj" fmla="val 15385"/>
            </a:avLst>
          </a:prstGeom>
          <a:solidFill>
            <a:srgbClr val="FFFDF8"/>
          </a:solidFill>
          <a:ln/>
        </p:spPr>
      </p:sp>
      <p:sp>
        <p:nvSpPr>
          <p:cNvPr id="23" name="Text 20"/>
          <p:cNvSpPr txBox="1"/>
          <p:nvPr/>
        </p:nvSpPr>
        <p:spPr>
          <a:xfrm>
            <a:off x="7452360" y="3172968"/>
            <a:ext cx="1965960" cy="384048"/>
          </a:xfrm>
          <a:prstGeom prst="rect">
            <a:avLst/>
          </a:prstGeom>
          <a:noFill/>
          <a:ln/>
        </p:spPr>
        <p:txBody>
          <a:bodyPr wrap="square" lIns="0" tIns="0" rIns="0" bIns="0" rtlCol="0" anchor="ctr"/>
          <a:lstStyle/>
          <a:p>
            <a:pPr algn="ctr" indent="0" marL="0">
              <a:buNone/>
            </a:pPr>
            <a:r>
              <a:rPr lang="en-US" sz="1400" dirty="0">
                <a:solidFill>
                  <a:srgbClr val="1A1E1B"/>
                </a:solidFill>
                <a:latin typeface="Calibri" pitchFamily="34" charset="0"/>
                <a:ea typeface="Calibri" pitchFamily="34" charset="-122"/>
                <a:cs typeface="Calibri" pitchFamily="34" charset="-120"/>
              </a:rPr>
              <a:t>bent-pose probes</a:t>
            </a:r>
            <a:endParaRPr lang="en-US" sz="1400" dirty="0"/>
          </a:p>
        </p:txBody>
      </p:sp>
      <p:sp>
        <p:nvSpPr>
          <p:cNvPr id="24" name="Shape 21"/>
          <p:cNvSpPr/>
          <p:nvPr/>
        </p:nvSpPr>
        <p:spPr>
          <a:xfrm>
            <a:off x="9646920" y="3063240"/>
            <a:ext cx="2148840" cy="594360"/>
          </a:xfrm>
          <a:prstGeom prst="roundRect">
            <a:avLst>
              <a:gd name="adj" fmla="val 15385"/>
            </a:avLst>
          </a:prstGeom>
          <a:solidFill>
            <a:srgbClr val="FFFDF8"/>
          </a:solidFill>
          <a:ln/>
        </p:spPr>
      </p:sp>
      <p:sp>
        <p:nvSpPr>
          <p:cNvPr id="25" name="Text 22"/>
          <p:cNvSpPr txBox="1"/>
          <p:nvPr/>
        </p:nvSpPr>
        <p:spPr>
          <a:xfrm>
            <a:off x="9738360" y="3172968"/>
            <a:ext cx="1965960" cy="384048"/>
          </a:xfrm>
          <a:prstGeom prst="rect">
            <a:avLst/>
          </a:prstGeom>
          <a:noFill/>
          <a:ln/>
        </p:spPr>
        <p:txBody>
          <a:bodyPr wrap="square" lIns="0" tIns="0" rIns="0" bIns="0" rtlCol="0" anchor="ctr"/>
          <a:lstStyle/>
          <a:p>
            <a:pPr algn="ctr" indent="0" marL="0">
              <a:buNone/>
            </a:pPr>
            <a:r>
              <a:rPr lang="en-US" sz="1400" dirty="0">
                <a:solidFill>
                  <a:srgbClr val="1A1E1B"/>
                </a:solidFill>
                <a:latin typeface="Calibri" pitchFamily="34" charset="0"/>
                <a:ea typeface="Calibri" pitchFamily="34" charset="-122"/>
                <a:cs typeface="Calibri" pitchFamily="34" charset="-120"/>
              </a:rPr>
              <a:t>the review agent</a:t>
            </a:r>
            <a:endParaRPr lang="en-US" sz="1400" dirty="0"/>
          </a:p>
        </p:txBody>
      </p:sp>
      <p:sp>
        <p:nvSpPr>
          <p:cNvPr id="26" name="Text 23"/>
          <p:cNvSpPr txBox="1"/>
          <p:nvPr/>
        </p:nvSpPr>
        <p:spPr>
          <a:xfrm>
            <a:off x="502920" y="4023360"/>
            <a:ext cx="11155680" cy="548640"/>
          </a:xfrm>
          <a:prstGeom prst="rect">
            <a:avLst/>
          </a:prstGeom>
          <a:noFill/>
          <a:ln/>
        </p:spPr>
        <p:txBody>
          <a:bodyPr wrap="square" lIns="0" tIns="0" rIns="0" bIns="0" rtlCol="0" anchor="ctr"/>
          <a:lstStyle/>
          <a:p>
            <a:pPr indent="0" marL="0">
              <a:buNone/>
            </a:pPr>
            <a:r>
              <a:rPr lang="en-US" sz="1600" dirty="0">
                <a:solidFill>
                  <a:srgbClr val="4A463F"/>
                </a:solidFill>
                <a:latin typeface="Calibri" pitchFamily="34" charset="0"/>
                <a:ea typeface="Calibri" pitchFamily="34" charset="-122"/>
                <a:cs typeface="Calibri" pitchFamily="34" charset="-120"/>
              </a:rPr>
              <a:t>The library was empty, so removing it changes nothing. Language-model hypothesizers were off, so that knockout was not run.</a:t>
            </a:r>
            <a:endParaRPr lang="en-US" sz="1600" dirty="0"/>
          </a:p>
        </p:txBody>
      </p:sp>
      <p:sp>
        <p:nvSpPr>
          <p:cNvPr id="27" name="Text 24"/>
          <p:cNvSpPr txBox="1"/>
          <p:nvPr/>
        </p:nvSpPr>
        <p:spPr>
          <a:xfrm>
            <a:off x="502920" y="6446520"/>
            <a:ext cx="10424160"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§7 and results/knockout.md.</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HONEST LIMITS</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Six places a simpler method wins</a:t>
            </a:r>
            <a:endParaRPr lang="en-US" sz="3200" dirty="0"/>
          </a:p>
        </p:txBody>
      </p:sp>
      <p:sp>
        <p:nvSpPr>
          <p:cNvPr id="5" name="Shape 2"/>
          <p:cNvSpPr/>
          <p:nvPr/>
        </p:nvSpPr>
        <p:spPr>
          <a:xfrm>
            <a:off x="502920" y="1417320"/>
            <a:ext cx="3657600" cy="2194560"/>
          </a:xfrm>
          <a:prstGeom prst="roundRect">
            <a:avLst>
              <a:gd name="adj" fmla="val 3333"/>
            </a:avLst>
          </a:prstGeom>
          <a:solidFill>
            <a:srgbClr val="FFFDF8"/>
          </a:solidFill>
          <a:ln/>
          <a:effectLst>
            <a:outerShdw sx="100000" sy="100000" kx="0" ky="0" algn="bl" rotWithShape="0" blurRad="177800" dist="38100" dir="5400000">
              <a:srgbClr val="1A1E1B">
                <a:alpha val="8000"/>
              </a:srgbClr>
            </a:outerShdw>
          </a:effectLst>
        </p:spPr>
      </p:sp>
      <p:sp>
        <p:nvSpPr>
          <p:cNvPr id="6" name="Text 3"/>
          <p:cNvSpPr txBox="1"/>
          <p:nvPr/>
        </p:nvSpPr>
        <p:spPr>
          <a:xfrm>
            <a:off x="649224" y="152704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1  A sensor that always lies</a:t>
            </a:r>
            <a:endParaRPr lang="en-US" sz="1600" dirty="0"/>
          </a:p>
        </p:txBody>
      </p:sp>
      <p:sp>
        <p:nvSpPr>
          <p:cNvPr id="7" name="Text 4"/>
          <p:cNvSpPr txBox="1"/>
          <p:nvPr/>
        </p:nvSpPr>
        <p:spPr>
          <a:xfrm>
            <a:off x="649224" y="1856232"/>
            <a:ext cx="3364992" cy="162763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Swarm 5.1 mm and 13/20 structures. Probe and pipeline 3.7 mm. Agreeing twice on a biased sweep is worse than sweeping once.</a:t>
            </a:r>
            <a:endParaRPr lang="en-US" sz="1400" dirty="0"/>
          </a:p>
        </p:txBody>
      </p:sp>
      <p:sp>
        <p:nvSpPr>
          <p:cNvPr id="8" name="Shape 5"/>
          <p:cNvSpPr/>
          <p:nvPr/>
        </p:nvSpPr>
        <p:spPr>
          <a:xfrm>
            <a:off x="4297680" y="1417320"/>
            <a:ext cx="3657600" cy="2194560"/>
          </a:xfrm>
          <a:prstGeom prst="roundRect">
            <a:avLst>
              <a:gd name="adj" fmla="val 3333"/>
            </a:avLst>
          </a:prstGeom>
          <a:solidFill>
            <a:srgbClr val="FFFDF8"/>
          </a:solidFill>
          <a:ln/>
          <a:effectLst>
            <a:outerShdw sx="100000" sy="100000" kx="0" ky="0" algn="bl" rotWithShape="0" blurRad="177800" dist="38100" dir="5400000">
              <a:srgbClr val="1A1E1B">
                <a:alpha val="8000"/>
              </a:srgbClr>
            </a:outerShdw>
          </a:effectLst>
        </p:spPr>
      </p:sp>
      <p:sp>
        <p:nvSpPr>
          <p:cNvPr id="9" name="Text 6"/>
          <p:cNvSpPr txBox="1"/>
          <p:nvPr/>
        </p:nvSpPr>
        <p:spPr>
          <a:xfrm>
            <a:off x="4443984" y="152704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2  Relearning after damage</a:t>
            </a:r>
            <a:endParaRPr lang="en-US" sz="1600" dirty="0"/>
          </a:p>
        </p:txBody>
      </p:sp>
      <p:sp>
        <p:nvSpPr>
          <p:cNvPr id="10" name="Text 7"/>
          <p:cNvSpPr txBox="1"/>
          <p:nvPr/>
        </p:nvSpPr>
        <p:spPr>
          <a:xfrm>
            <a:off x="4443984" y="1856232"/>
            <a:ext cx="3364992" cy="162763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A trusted model at motion 128 in 59 of 120 swarm runs. The pipeline has one in 112 of 120.</a:t>
            </a:r>
            <a:endParaRPr lang="en-US" sz="1400" dirty="0"/>
          </a:p>
        </p:txBody>
      </p:sp>
      <p:sp>
        <p:nvSpPr>
          <p:cNvPr id="11" name="Shape 8"/>
          <p:cNvSpPr/>
          <p:nvPr/>
        </p:nvSpPr>
        <p:spPr>
          <a:xfrm>
            <a:off x="8092440" y="1417320"/>
            <a:ext cx="3657600" cy="2194560"/>
          </a:xfrm>
          <a:prstGeom prst="roundRect">
            <a:avLst>
              <a:gd name="adj" fmla="val 3333"/>
            </a:avLst>
          </a:prstGeom>
          <a:solidFill>
            <a:srgbClr val="FFFDF8"/>
          </a:solidFill>
          <a:ln/>
          <a:effectLst>
            <a:outerShdw sx="100000" sy="100000" kx="0" ky="0" algn="bl" rotWithShape="0" blurRad="177800" dist="38100" dir="5400000">
              <a:srgbClr val="1A1E1B">
                <a:alpha val="8000"/>
              </a:srgbClr>
            </a:outerShdw>
          </a:effectLst>
        </p:spPr>
      </p:sp>
      <p:sp>
        <p:nvSpPr>
          <p:cNvPr id="12" name="Text 9"/>
          <p:cNvSpPr txBox="1"/>
          <p:nvPr/>
        </p:nvSpPr>
        <p:spPr>
          <a:xfrm>
            <a:off x="8238744" y="152704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3  Payload</a:t>
            </a:r>
            <a:endParaRPr lang="en-US" sz="1600" dirty="0"/>
          </a:p>
        </p:txBody>
      </p:sp>
      <p:sp>
        <p:nvSpPr>
          <p:cNvPr id="13" name="Text 10"/>
          <p:cNvSpPr txBox="1"/>
          <p:nvPr/>
        </p:nvSpPr>
        <p:spPr>
          <a:xfrm>
            <a:off x="8238744" y="1856232"/>
            <a:ext cx="3364992" cy="162763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Noticed in 1 of 20. The reach error never really leaves 2 mm, so the monitor has almost nothing to see.</a:t>
            </a:r>
            <a:endParaRPr lang="en-US" sz="1400" dirty="0"/>
          </a:p>
        </p:txBody>
      </p:sp>
      <p:sp>
        <p:nvSpPr>
          <p:cNvPr id="14" name="Shape 11"/>
          <p:cNvSpPr/>
          <p:nvPr/>
        </p:nvSpPr>
        <p:spPr>
          <a:xfrm>
            <a:off x="502920" y="3749040"/>
            <a:ext cx="3657600" cy="2194560"/>
          </a:xfrm>
          <a:prstGeom prst="roundRect">
            <a:avLst>
              <a:gd name="adj" fmla="val 3333"/>
            </a:avLst>
          </a:prstGeom>
          <a:solidFill>
            <a:srgbClr val="FFFDF8"/>
          </a:solidFill>
          <a:ln/>
          <a:effectLst>
            <a:outerShdw sx="100000" sy="100000" kx="0" ky="0" algn="bl" rotWithShape="0" blurRad="177800" dist="38100" dir="5400000">
              <a:srgbClr val="1A1E1B">
                <a:alpha val="8000"/>
              </a:srgbClr>
            </a:outerShdw>
          </a:effectLst>
        </p:spPr>
      </p:sp>
      <p:sp>
        <p:nvSpPr>
          <p:cNvPr id="15" name="Text 12"/>
          <p:cNvSpPr txBox="1"/>
          <p:nvPr/>
        </p:nvSpPr>
        <p:spPr>
          <a:xfrm>
            <a:off x="649224" y="385876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4  Nothing to discover</a:t>
            </a:r>
            <a:endParaRPr lang="en-US" sz="1600" dirty="0"/>
          </a:p>
        </p:txBody>
      </p:sp>
      <p:sp>
        <p:nvSpPr>
          <p:cNvPr id="16" name="Text 13"/>
          <p:cNvSpPr txBox="1"/>
          <p:nvPr/>
        </p:nvSpPr>
        <p:spPr>
          <a:xfrm>
            <a:off x="649224" y="4187952"/>
            <a:ext cx="3364992" cy="162763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On known arms the single agent wins at every checkpoint. At 64 motions, 1.5 mm against 2.4. n = 10. H6 fails.</a:t>
            </a:r>
            <a:endParaRPr lang="en-US" sz="1400" dirty="0"/>
          </a:p>
        </p:txBody>
      </p:sp>
      <p:sp>
        <p:nvSpPr>
          <p:cNvPr id="17" name="Shape 14"/>
          <p:cNvSpPr/>
          <p:nvPr/>
        </p:nvSpPr>
        <p:spPr>
          <a:xfrm>
            <a:off x="4297680" y="3749040"/>
            <a:ext cx="3657600" cy="2194560"/>
          </a:xfrm>
          <a:prstGeom prst="roundRect">
            <a:avLst>
              <a:gd name="adj" fmla="val 3333"/>
            </a:avLst>
          </a:prstGeom>
          <a:solidFill>
            <a:srgbClr val="FFFDF8"/>
          </a:solidFill>
          <a:ln/>
          <a:effectLst>
            <a:outerShdw sx="100000" sy="100000" kx="0" ky="0" algn="bl" rotWithShape="0" blurRad="177800" dist="38100" dir="5400000">
              <a:srgbClr val="1A1E1B">
                <a:alpha val="8000"/>
              </a:srgbClr>
            </a:outerShdw>
          </a:effectLst>
        </p:spPr>
      </p:sp>
      <p:sp>
        <p:nvSpPr>
          <p:cNvPr id="18" name="Text 15"/>
          <p:cNvSpPr txBox="1"/>
          <p:nvPr/>
        </p:nvSpPr>
        <p:spPr>
          <a:xfrm>
            <a:off x="4443984" y="385876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5  Clean bodies</a:t>
            </a:r>
            <a:endParaRPr lang="en-US" sz="1600" dirty="0"/>
          </a:p>
        </p:txBody>
      </p:sp>
      <p:sp>
        <p:nvSpPr>
          <p:cNvPr id="19" name="Text 16"/>
          <p:cNvSpPr txBox="1"/>
          <p:nvPr/>
        </p:nvSpPr>
        <p:spPr>
          <a:xfrm>
            <a:off x="4443984" y="4187952"/>
            <a:ext cx="3364992" cy="162763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Probe 1.3 and pipeline 1.7 tie the swarm's 1.5. On original-seed gantries the probe is ahead outright, 0.9 against 1.8.</a:t>
            </a:r>
            <a:endParaRPr lang="en-US" sz="1400" dirty="0"/>
          </a:p>
        </p:txBody>
      </p:sp>
      <p:sp>
        <p:nvSpPr>
          <p:cNvPr id="20" name="Shape 17"/>
          <p:cNvSpPr/>
          <p:nvPr/>
        </p:nvSpPr>
        <p:spPr>
          <a:xfrm>
            <a:off x="8092440" y="3749040"/>
            <a:ext cx="3657600" cy="2194560"/>
          </a:xfrm>
          <a:prstGeom prst="roundRect">
            <a:avLst>
              <a:gd name="adj" fmla="val 3333"/>
            </a:avLst>
          </a:prstGeom>
          <a:solidFill>
            <a:srgbClr val="FFFDF8"/>
          </a:solidFill>
          <a:ln/>
          <a:effectLst>
            <a:outerShdw sx="100000" sy="100000" kx="0" ky="0" algn="bl" rotWithShape="0" blurRad="177800" dist="38100" dir="5400000">
              <a:srgbClr val="1A1E1B">
                <a:alpha val="8000"/>
              </a:srgbClr>
            </a:outerShdw>
          </a:effectLst>
        </p:spPr>
      </p:sp>
      <p:sp>
        <p:nvSpPr>
          <p:cNvPr id="21" name="Text 18"/>
          <p:cNvSpPr txBox="1"/>
          <p:nvPr/>
        </p:nvSpPr>
        <p:spPr>
          <a:xfrm>
            <a:off x="8238744" y="385876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6  Cost</a:t>
            </a:r>
            <a:endParaRPr lang="en-US" sz="1600" dirty="0"/>
          </a:p>
        </p:txBody>
      </p:sp>
      <p:sp>
        <p:nvSpPr>
          <p:cNvPr id="22" name="Text 19"/>
          <p:cNvSpPr txBox="1"/>
          <p:nvPr/>
        </p:nvSpPr>
        <p:spPr>
          <a:xfrm>
            <a:off x="8238744" y="4187952"/>
            <a:ext cx="3364992" cy="162763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91.5 seconds of agent CPU, interval 73 to 105. Pipeline 5.8. Probe 9.4. n = 60. The minute is the price of the second opinion.</a:t>
            </a:r>
            <a:endParaRPr lang="en-US" sz="1400" dirty="0"/>
          </a:p>
        </p:txBody>
      </p:sp>
      <p:sp>
        <p:nvSpPr>
          <p:cNvPr id="23" name="Text 20"/>
          <p:cNvSpPr txBox="1"/>
          <p:nvPr/>
        </p:nvSpPr>
        <p:spPr>
          <a:xfrm>
            <a:off x="502920" y="6446520"/>
            <a:ext cx="10424160"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§3, §5, §9, §10. The full list, including overlapping intervals, is 102 rows in results/summary.md.</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AFTER THE EVIDENCE</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What we would claim, and what we would not</a:t>
            </a:r>
            <a:endParaRPr lang="en-US" sz="3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55680" cy="4663440"/>
        </p:xfrm>
        <a:graphic>
          <a:graphicData uri="http://schemas.openxmlformats.org/drawingml/2006/table">
            <a:tbl>
              <a:tblPr/>
              <a:tblGrid>
                <a:gridCol w="2194560"/>
                <a:gridCol w="1828800"/>
                <a:gridCol w="7132320"/>
              </a:tblGrid>
              <a:tr h="666206">
                <a:tc>
                  <a:txBody>
                    <a:bodyPr/>
                    <a:lstStyle/>
                    <a:p>
                      <a:pPr indent="0" marL="0">
                        <a:buNone/>
                      </a:pPr>
                      <a:r>
                        <a:rPr lang="en-US" sz="1400" b="1" dirty="0">
                          <a:solidFill>
                            <a:srgbClr val="F4F1EA"/>
                          </a:solidFill>
                          <a:latin typeface="Calibri" pitchFamily="34" charset="0"/>
                          <a:ea typeface="Calibri" pitchFamily="34" charset="-122"/>
                          <a:cs typeface="Calibri" pitchFamily="34" charset="-120"/>
                        </a:rPr>
                        <a:t>Bet</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indent="0" marL="0">
                        <a:buNone/>
                      </a:pPr>
                      <a:r>
                        <a:rPr lang="en-US" sz="1400" b="1" dirty="0">
                          <a:solidFill>
                            <a:srgbClr val="F4F1EA"/>
                          </a:solidFill>
                          <a:latin typeface="Calibri" pitchFamily="34" charset="0"/>
                          <a:ea typeface="Calibri" pitchFamily="34" charset="-122"/>
                          <a:cs typeface="Calibri" pitchFamily="34" charset="-120"/>
                        </a:rPr>
                        <a:t>Verdict</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c>
                  <a:txBody>
                    <a:bodyPr/>
                    <a:lstStyle/>
                    <a:p>
                      <a:pPr indent="0" marL="0">
                        <a:buNone/>
                      </a:pPr>
                      <a:r>
                        <a:rPr lang="en-US" sz="1400" b="1" dirty="0">
                          <a:solidFill>
                            <a:srgbClr val="F4F1EA"/>
                          </a:solidFill>
                          <a:latin typeface="Calibri" pitchFamily="34" charset="0"/>
                          <a:ea typeface="Calibri" pitchFamily="34" charset="-122"/>
                          <a:cs typeface="Calibri" pitchFamily="34" charset="-120"/>
                        </a:rPr>
                        <a:t>What the runs say</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1E4D3A"/>
                    </a:solidFill>
                  </a:tcPr>
                </a:tc>
              </a:tr>
              <a:tr h="666206">
                <a:tc>
                  <a:txBody>
                    <a:bodyPr/>
                    <a:lstStyle/>
                    <a:p>
                      <a:pPr indent="0" marL="0">
                        <a:buNone/>
                      </a:pPr>
                      <a:r>
                        <a:rPr lang="en-US" sz="1400" dirty="0">
                          <a:solidFill>
                            <a:srgbClr val="1A1E1B"/>
                          </a:solidFill>
                          <a:latin typeface="Calibri" pitchFamily="34" charset="0"/>
                          <a:ea typeface="Calibri" pitchFamily="34" charset="-122"/>
                          <a:cs typeface="Calibri" pitchFamily="34" charset="-120"/>
                        </a:rPr>
                        <a:t>H1  Path</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400" b="1" dirty="0">
                          <a:solidFill>
                            <a:srgbClr val="1E4D3A"/>
                          </a:solidFill>
                          <a:latin typeface="Calibri" pitchFamily="34" charset="0"/>
                          <a:ea typeface="Calibri" pitchFamily="34" charset="-122"/>
                          <a:cs typeface="Calibri" pitchFamily="34" charset="-120"/>
                        </a:rPr>
                        <a:t>Holds</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400" dirty="0">
                          <a:solidFill>
                            <a:srgbClr val="1A1E1B"/>
                          </a:solidFill>
                          <a:latin typeface="Calibri" pitchFamily="34" charset="0"/>
                          <a:ea typeface="Calibri" pitchFamily="34" charset="-122"/>
                          <a:cs typeface="Calibri" pitchFamily="34" charset="-120"/>
                        </a:rPr>
                        <a:t>20/20 structures. Probe and pipeline hold it too, so the sweep is the cause.</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r>
              <a:tr h="666206">
                <a:tc>
                  <a:txBody>
                    <a:bodyPr/>
                    <a:lstStyle/>
                    <a:p>
                      <a:pPr indent="0" marL="0">
                        <a:buNone/>
                      </a:pPr>
                      <a:r>
                        <a:rPr lang="en-US" sz="1400" dirty="0">
                          <a:solidFill>
                            <a:srgbClr val="1A1E1B"/>
                          </a:solidFill>
                          <a:latin typeface="Calibri" pitchFamily="34" charset="0"/>
                          <a:ea typeface="Calibri" pitchFamily="34" charset="-122"/>
                          <a:cs typeface="Calibri" pitchFamily="34" charset="-120"/>
                        </a:rPr>
                        <a:t>H2  Agreement</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400" b="1" dirty="0">
                          <a:solidFill>
                            <a:srgbClr val="1E4D3A"/>
                          </a:solidFill>
                          <a:latin typeface="Calibri" pitchFamily="34" charset="0"/>
                          <a:ea typeface="Calibri" pitchFamily="34" charset="-122"/>
                          <a:cs typeface="Calibri" pitchFamily="34" charset="-120"/>
                        </a:rPr>
                        <a:t>Holds</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400" dirty="0">
                          <a:solidFill>
                            <a:srgbClr val="1A1E1B"/>
                          </a:solidFill>
                          <a:latin typeface="Calibri" pitchFamily="34" charset="0"/>
                          <a:ea typeface="Calibri" pitchFamily="34" charset="-122"/>
                          <a:cs typeface="Calibri" pitchFamily="34" charset="-120"/>
                        </a:rPr>
                        <a:t>A wrong finding leaves the swarm at 1.5 mm and 20/20. The probe falls to 1/20.</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r>
              <a:tr h="666206">
                <a:tc>
                  <a:txBody>
                    <a:bodyPr/>
                    <a:lstStyle/>
                    <a:p>
                      <a:pPr indent="0" marL="0">
                        <a:buNone/>
                      </a:pPr>
                      <a:r>
                        <a:rPr lang="en-US" sz="1400" dirty="0">
                          <a:solidFill>
                            <a:srgbClr val="1A1E1B"/>
                          </a:solidFill>
                          <a:latin typeface="Calibri" pitchFamily="34" charset="0"/>
                          <a:ea typeface="Calibri" pitchFamily="34" charset="-122"/>
                          <a:cs typeface="Calibri" pitchFamily="34" charset="-120"/>
                        </a:rPr>
                        <a:t>H3  Collective</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400" b="1" dirty="0">
                          <a:solidFill>
                            <a:srgbClr val="8A5A10"/>
                          </a:solidFill>
                          <a:latin typeface="Calibri" pitchFamily="34" charset="0"/>
                          <a:ea typeface="Calibri" pitchFamily="34" charset="-122"/>
                          <a:cs typeface="Calibri" pitchFamily="34" charset="-120"/>
                        </a:rPr>
                        <a:t>Three of four</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400" dirty="0">
                          <a:solidFill>
                            <a:srgbClr val="1A1E1B"/>
                          </a:solidFill>
                          <a:latin typeface="Calibri" pitchFamily="34" charset="0"/>
                          <a:ea typeface="Calibri" pitchFamily="34" charset="-122"/>
                          <a:cs typeface="Calibri" pitchFamily="34" charset="-120"/>
                        </a:rPr>
                        <a:t>Holds on a wrong finding, a bad hypothesis, and a dead modeler. Fails when one sensor lies every sweep. Ties when nothing is wrong.</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r>
              <a:tr h="666206">
                <a:tc>
                  <a:txBody>
                    <a:bodyPr/>
                    <a:lstStyle/>
                    <a:p>
                      <a:pPr indent="0" marL="0">
                        <a:buNone/>
                      </a:pPr>
                      <a:r>
                        <a:rPr lang="en-US" sz="1400" dirty="0">
                          <a:solidFill>
                            <a:srgbClr val="1A1E1B"/>
                          </a:solidFill>
                          <a:latin typeface="Calibri" pitchFamily="34" charset="0"/>
                          <a:ea typeface="Calibri" pitchFamily="34" charset="-122"/>
                          <a:cs typeface="Calibri" pitchFamily="34" charset="-120"/>
                        </a:rPr>
                        <a:t>H4  Change</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400" b="1" dirty="0">
                          <a:solidFill>
                            <a:srgbClr val="8A5A10"/>
                          </a:solidFill>
                          <a:latin typeface="Calibri" pitchFamily="34" charset="0"/>
                          <a:ea typeface="Calibri" pitchFamily="34" charset="-122"/>
                          <a:cs typeface="Calibri" pitchFamily="34" charset="-120"/>
                        </a:rPr>
                        <a:t>Five kinds</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400" dirty="0">
                          <a:solidFill>
                            <a:srgbClr val="1A1E1B"/>
                          </a:solidFill>
                          <a:latin typeface="Calibri" pitchFamily="34" charset="0"/>
                          <a:ea typeface="Calibri" pitchFamily="34" charset="-122"/>
                          <a:cs typeface="Calibri" pitchFamily="34" charset="-120"/>
                        </a:rPr>
                        <a:t>97/120 alarms. Payload is 1/20. The pipeline matches the alarm and rebuilds faster.</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r>
              <a:tr h="666206">
                <a:tc>
                  <a:txBody>
                    <a:bodyPr/>
                    <a:lstStyle/>
                    <a:p>
                      <a:pPr indent="0" marL="0">
                        <a:buNone/>
                      </a:pPr>
                      <a:r>
                        <a:rPr lang="en-US" sz="1400" dirty="0">
                          <a:solidFill>
                            <a:srgbClr val="1A1E1B"/>
                          </a:solidFill>
                          <a:latin typeface="Calibri" pitchFamily="34" charset="0"/>
                          <a:ea typeface="Calibri" pitchFamily="34" charset="-122"/>
                          <a:cs typeface="Calibri" pitchFamily="34" charset="-120"/>
                        </a:rPr>
                        <a:t>H5  Refusal</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400" b="1" dirty="0">
                          <a:solidFill>
                            <a:srgbClr val="1E4D3A"/>
                          </a:solidFill>
                          <a:latin typeface="Calibri" pitchFamily="34" charset="0"/>
                          <a:ea typeface="Calibri" pitchFamily="34" charset="-122"/>
                          <a:cs typeface="Calibri" pitchFamily="34" charset="-120"/>
                        </a:rPr>
                        <a:t>Holds</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400" dirty="0">
                          <a:solidFill>
                            <a:srgbClr val="1A1E1B"/>
                          </a:solidFill>
                          <a:latin typeface="Calibri" pitchFamily="34" charset="0"/>
                          <a:ea typeface="Calibri" pitchFamily="34" charset="-122"/>
                          <a:cs typeface="Calibri" pitchFamily="34" charset="-120"/>
                        </a:rPr>
                        <a:t>200/200 far targets refused. 0/200 reachable ones refused.</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r>
              <a:tr h="666206">
                <a:tc>
                  <a:txBody>
                    <a:bodyPr/>
                    <a:lstStyle/>
                    <a:p>
                      <a:pPr indent="0" marL="0">
                        <a:buNone/>
                      </a:pPr>
                      <a:r>
                        <a:rPr lang="en-US" sz="1400" dirty="0">
                          <a:solidFill>
                            <a:srgbClr val="1A1E1B"/>
                          </a:solidFill>
                          <a:latin typeface="Calibri" pitchFamily="34" charset="0"/>
                          <a:ea typeface="Calibri" pitchFamily="34" charset="-122"/>
                          <a:cs typeface="Calibri" pitchFamily="34" charset="-120"/>
                        </a:rPr>
                        <a:t>H6  Known body</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400" b="1" dirty="0">
                          <a:solidFill>
                            <a:srgbClr val="B8432A"/>
                          </a:solidFill>
                          <a:latin typeface="Calibri" pitchFamily="34" charset="0"/>
                          <a:ea typeface="Calibri" pitchFamily="34" charset="-122"/>
                          <a:cs typeface="Calibri" pitchFamily="34" charset="-120"/>
                        </a:rPr>
                        <a:t>Fails</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c>
                  <a:txBody>
                    <a:bodyPr/>
                    <a:lstStyle/>
                    <a:p>
                      <a:pPr indent="0" marL="0">
                        <a:buNone/>
                      </a:pPr>
                      <a:r>
                        <a:rPr lang="en-US" sz="1400" dirty="0">
                          <a:solidFill>
                            <a:srgbClr val="1A1E1B"/>
                          </a:solidFill>
                          <a:latin typeface="Calibri" pitchFamily="34" charset="0"/>
                          <a:ea typeface="Calibri" pitchFamily="34" charset="-122"/>
                          <a:cs typeface="Calibri" pitchFamily="34" charset="-120"/>
                        </a:rPr>
                        <a:t>The single agent is closer at every checkpoint when there is nothing to discover.</a:t>
                      </a:r>
                      <a:endParaRPr lang="en-US" sz="1400" dirty="0">
                        <a:latin typeface="Calibri" charset="0"/>
                        <a:ea typeface="Calibri" charset="0"/>
                        <a:cs typeface="Calibri" charset="0"/>
                      </a:endParaRPr>
                    </a:p>
                  </a:txBody>
                  <a:tcPr marL="91440" marR="91440" marT="45720" marB="45720" anchor="ctr">
                    <a:lnL w="6350" cap="flat" cmpd="sng" algn="ctr">
                      <a:solidFill>
                        <a:srgbClr val="DDD6C8"/>
                      </a:solidFill>
                      <a:prstDash val="solid"/>
                      <a:round/>
                      <a:headEnd type="none" w="med" len="med"/>
                      <a:tailEnd type="none" w="med" len="med"/>
                    </a:lnL>
                    <a:lnR w="6350" cap="flat" cmpd="sng" algn="ctr">
                      <a:solidFill>
                        <a:srgbClr val="DDD6C8"/>
                      </a:solidFill>
                      <a:prstDash val="solid"/>
                      <a:round/>
                      <a:headEnd type="none" w="med" len="med"/>
                      <a:tailEnd type="none" w="med" len="med"/>
                    </a:lnR>
                    <a:lnT w="6350" cap="flat" cmpd="sng" algn="ctr">
                      <a:solidFill>
                        <a:srgbClr val="DDD6C8"/>
                      </a:solidFill>
                      <a:prstDash val="solid"/>
                      <a:round/>
                      <a:headEnd type="none" w="med" len="med"/>
                      <a:tailEnd type="none" w="med" len="med"/>
                    </a:lnT>
                    <a:lnB w="6350" cap="flat" cmpd="sng" algn="ctr">
                      <a:solidFill>
                        <a:srgbClr val="DDD6C8"/>
                      </a:solidFill>
                      <a:prstDash val="solid"/>
                      <a:round/>
                      <a:headEnd type="none" w="med" len="med"/>
                      <a:tailEnd type="none" w="med" len="med"/>
                    </a:lnB>
                    <a:solidFill>
                      <a:srgbClr val="FFFDF8"/>
                    </a:solidFill>
                  </a:tcPr>
                </a:tc>
              </a:tr>
            </a:tbl>
          </a:graphicData>
        </a:graphic>
      </p:graphicFrame>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AGENCY</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Every clean champion has seven kinds of agent behind it</a:t>
            </a:r>
            <a:endParaRPr lang="en-US" sz="3200" dirty="0"/>
          </a:p>
        </p:txBody>
      </p:sp>
      <p:sp>
        <p:nvSpPr>
          <p:cNvPr id="5" name="Text 2"/>
          <p:cNvSpPr txBox="1"/>
          <p:nvPr/>
        </p:nvSpPr>
        <p:spPr>
          <a:xfrm>
            <a:off x="502920" y="1508760"/>
            <a:ext cx="5029200" cy="658368"/>
          </a:xfrm>
          <a:prstGeom prst="rect">
            <a:avLst/>
          </a:prstGeom>
          <a:noFill/>
          <a:ln/>
        </p:spPr>
        <p:txBody>
          <a:bodyPr wrap="square" lIns="0" tIns="0" rIns="0" bIns="0" rtlCol="0" anchor="ctr"/>
          <a:lstStyle/>
          <a:p>
            <a:pPr indent="0" marL="0">
              <a:buNone/>
            </a:pPr>
            <a:r>
              <a:rPr lang="en-US" sz="3600" dirty="0">
                <a:solidFill>
                  <a:srgbClr val="1A1E1B"/>
                </a:solidFill>
                <a:latin typeface="Georgia" pitchFamily="34" charset="0"/>
                <a:ea typeface="Georgia" pitchFamily="34" charset="-122"/>
                <a:cs typeface="Georgia" pitchFamily="34" charset="-120"/>
              </a:rPr>
              <a:t>7</a:t>
            </a:r>
            <a:endParaRPr lang="en-US" sz="3600" dirty="0"/>
          </a:p>
        </p:txBody>
      </p:sp>
      <p:sp>
        <p:nvSpPr>
          <p:cNvPr id="6" name="Text 3"/>
          <p:cNvSpPr txBox="1"/>
          <p:nvPr/>
        </p:nvSpPr>
        <p:spPr>
          <a:xfrm>
            <a:off x="502920" y="2148840"/>
            <a:ext cx="5029200" cy="640080"/>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Agent types in the ancestry. Range 6 to 8. n = 40 clean runs.</a:t>
            </a:r>
            <a:endParaRPr lang="en-US" sz="1400" dirty="0"/>
          </a:p>
        </p:txBody>
      </p:sp>
      <p:sp>
        <p:nvSpPr>
          <p:cNvPr id="7" name="Text 4"/>
          <p:cNvSpPr txBox="1"/>
          <p:nvPr/>
        </p:nvSpPr>
        <p:spPr>
          <a:xfrm>
            <a:off x="5852160" y="1508760"/>
            <a:ext cx="5669280" cy="658368"/>
          </a:xfrm>
          <a:prstGeom prst="rect">
            <a:avLst/>
          </a:prstGeom>
          <a:noFill/>
          <a:ln/>
        </p:spPr>
        <p:txBody>
          <a:bodyPr wrap="square" lIns="0" tIns="0" rIns="0" bIns="0" rtlCol="0" anchor="ctr"/>
          <a:lstStyle/>
          <a:p>
            <a:pPr indent="0" marL="0">
              <a:buNone/>
            </a:pPr>
            <a:r>
              <a:rPr lang="en-US" sz="3600" dirty="0">
                <a:solidFill>
                  <a:srgbClr val="1E4D3A"/>
                </a:solidFill>
                <a:latin typeface="Georgia" pitchFamily="34" charset="0"/>
                <a:ea typeface="Georgia" pitchFamily="34" charset="-122"/>
                <a:cs typeface="Georgia" pitchFamily="34" charset="-120"/>
              </a:rPr>
              <a:t>39/40</a:t>
            </a:r>
            <a:endParaRPr lang="en-US" sz="3600" dirty="0"/>
          </a:p>
        </p:txBody>
      </p:sp>
      <p:sp>
        <p:nvSpPr>
          <p:cNvPr id="8" name="Text 5"/>
          <p:cNvSpPr txBox="1"/>
          <p:nvPr/>
        </p:nvSpPr>
        <p:spPr>
          <a:xfrm>
            <a:off x="5852160" y="2148840"/>
            <a:ext cx="5669280" cy="640080"/>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Champions fit while two or more sources had proposed structures that disagreed.</a:t>
            </a:r>
            <a:endParaRPr lang="en-US" sz="1400" dirty="0"/>
          </a:p>
        </p:txBody>
      </p:sp>
      <p:sp>
        <p:nvSpPr>
          <p:cNvPr id="9" name="Shape 6"/>
          <p:cNvSpPr/>
          <p:nvPr/>
        </p:nvSpPr>
        <p:spPr>
          <a:xfrm>
            <a:off x="502920" y="3200400"/>
            <a:ext cx="3657600" cy="2377440"/>
          </a:xfrm>
          <a:prstGeom prst="roundRect">
            <a:avLst>
              <a:gd name="adj" fmla="val 3077"/>
            </a:avLst>
          </a:prstGeom>
          <a:solidFill>
            <a:srgbClr val="FFFDF8"/>
          </a:solidFill>
          <a:ln/>
          <a:effectLst>
            <a:outerShdw sx="100000" sy="100000" kx="0" ky="0" algn="bl" rotWithShape="0" blurRad="177800" dist="38100" dir="5400000">
              <a:srgbClr val="1A1E1B">
                <a:alpha val="8000"/>
              </a:srgbClr>
            </a:outerShdw>
          </a:effectLst>
        </p:spPr>
      </p:sp>
      <p:sp>
        <p:nvSpPr>
          <p:cNvPr id="10" name="Text 7"/>
          <p:cNvSpPr txBox="1"/>
          <p:nvPr/>
        </p:nvSpPr>
        <p:spPr>
          <a:xfrm>
            <a:off x="649224" y="331012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Parents are the proof</a:t>
            </a:r>
            <a:endParaRPr lang="en-US" sz="1600" dirty="0"/>
          </a:p>
        </p:txBody>
      </p:sp>
      <p:sp>
        <p:nvSpPr>
          <p:cNvPr id="11" name="Text 8"/>
          <p:cNvSpPr txBox="1"/>
          <p:nvPr/>
        </p:nvSpPr>
        <p:spPr>
          <a:xfrm>
            <a:off x="649224" y="3639312"/>
            <a:ext cx="3364992" cy="181051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Each note names the notes it came from. The crowned model traces back to raw motions. The dashboard draws that chain.</a:t>
            </a:r>
            <a:endParaRPr lang="en-US" sz="1400" dirty="0"/>
          </a:p>
        </p:txBody>
      </p:sp>
      <p:sp>
        <p:nvSpPr>
          <p:cNvPr id="12" name="Shape 9"/>
          <p:cNvSpPr/>
          <p:nvPr/>
        </p:nvSpPr>
        <p:spPr>
          <a:xfrm>
            <a:off x="4297680" y="3200400"/>
            <a:ext cx="3657600" cy="2377440"/>
          </a:xfrm>
          <a:prstGeom prst="roundRect">
            <a:avLst>
              <a:gd name="adj" fmla="val 3077"/>
            </a:avLst>
          </a:prstGeom>
          <a:solidFill>
            <a:srgbClr val="FFFDF8"/>
          </a:solidFill>
          <a:ln/>
          <a:effectLst>
            <a:outerShdw sx="100000" sy="100000" kx="0" ky="0" algn="bl" rotWithShape="0" blurRad="177800" dist="38100" dir="5400000">
              <a:srgbClr val="1A1E1B">
                <a:alpha val="8000"/>
              </a:srgbClr>
            </a:outerShdw>
          </a:effectLst>
        </p:spPr>
      </p:sp>
      <p:sp>
        <p:nvSpPr>
          <p:cNvPr id="13" name="Text 10"/>
          <p:cNvSpPr txBox="1"/>
          <p:nvPr/>
        </p:nvSpPr>
        <p:spPr>
          <a:xfrm>
            <a:off x="4443984" y="331012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Disagreement is normal</a:t>
            </a:r>
            <a:endParaRPr lang="en-US" sz="1600" dirty="0"/>
          </a:p>
        </p:txBody>
      </p:sp>
      <p:sp>
        <p:nvSpPr>
          <p:cNvPr id="14" name="Text 11"/>
          <p:cNvSpPr txBox="1"/>
          <p:nvPr/>
        </p:nvSpPr>
        <p:spPr>
          <a:xfrm>
            <a:off x="4443984" y="3639312"/>
            <a:ext cx="3364992" cy="181051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On a clean body the winning structure still came from the channel findings, after other sources had proposed something else.</a:t>
            </a:r>
            <a:endParaRPr lang="en-US" sz="1400" dirty="0"/>
          </a:p>
        </p:txBody>
      </p:sp>
      <p:sp>
        <p:nvSpPr>
          <p:cNvPr id="15" name="Shape 12"/>
          <p:cNvSpPr/>
          <p:nvPr/>
        </p:nvSpPr>
        <p:spPr>
          <a:xfrm>
            <a:off x="8092440" y="3200400"/>
            <a:ext cx="3657600" cy="2377440"/>
          </a:xfrm>
          <a:prstGeom prst="roundRect">
            <a:avLst>
              <a:gd name="adj" fmla="val 3077"/>
            </a:avLst>
          </a:prstGeom>
          <a:solidFill>
            <a:srgbClr val="FFFDF8"/>
          </a:solidFill>
          <a:ln/>
          <a:effectLst>
            <a:outerShdw sx="100000" sy="100000" kx="0" ky="0" algn="bl" rotWithShape="0" blurRad="177800" dist="38100" dir="5400000">
              <a:srgbClr val="1A1E1B">
                <a:alpha val="8000"/>
              </a:srgbClr>
            </a:outerShdw>
          </a:effectLst>
        </p:spPr>
      </p:sp>
      <p:sp>
        <p:nvSpPr>
          <p:cNvPr id="16" name="Text 13"/>
          <p:cNvSpPr txBox="1"/>
          <p:nvPr/>
        </p:nvSpPr>
        <p:spPr>
          <a:xfrm>
            <a:off x="8238744" y="331012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A pipeline trace differs</a:t>
            </a:r>
            <a:endParaRPr lang="en-US" sz="1600" dirty="0"/>
          </a:p>
        </p:txBody>
      </p:sp>
      <p:sp>
        <p:nvSpPr>
          <p:cNvPr id="17" name="Text 14"/>
          <p:cNvSpPr txBox="1"/>
          <p:nvPr/>
        </p:nvSpPr>
        <p:spPr>
          <a:xfrm>
            <a:off x="8238744" y="3639312"/>
            <a:ext cx="3364992" cy="181051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Those parents are stages of one program, in order. They are not independent agents.</a:t>
            </a:r>
            <a:endParaRPr lang="en-US" sz="1400" dirty="0"/>
          </a:p>
        </p:txBody>
      </p:sp>
      <p:sp>
        <p:nvSpPr>
          <p:cNvPr id="18" name="Text 15"/>
          <p:cNvSpPr txBox="1"/>
          <p:nvPr/>
        </p:nvSpPr>
        <p:spPr>
          <a:xfrm>
            <a:off x="502920" y="6446520"/>
            <a:ext cx="10424160" cy="219456"/>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§11. Vision, added on the same board: 3.0 to 4.3 mm median triangulation error by family (§13). Dynamics predate version 2 and were not rerun.</a:t>
            </a:r>
            <a:endParaRPr lang="en-US" sz="11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1143000"/>
            <a:ext cx="10972800" cy="256032"/>
          </a:xfrm>
          <a:prstGeom prst="rect">
            <a:avLst/>
          </a:prstGeom>
          <a:noFill/>
          <a:ln/>
        </p:spPr>
        <p:txBody>
          <a:bodyPr wrap="square" lIns="0" tIns="0" rIns="0" bIns="0" rtlCol="0" anchor="ctr"/>
          <a:lstStyle/>
          <a:p>
            <a:pPr indent="0" marL="0">
              <a:buNone/>
            </a:pPr>
            <a:r>
              <a:rPr lang="en-US" sz="1300" spc="120" kern="0" dirty="0">
                <a:solidFill>
                  <a:srgbClr val="F0C56A"/>
                </a:solidFill>
                <a:latin typeface="Calibri" pitchFamily="34" charset="0"/>
                <a:ea typeface="Calibri" pitchFamily="34" charset="-122"/>
                <a:cs typeface="Calibri" pitchFamily="34" charset="-120"/>
              </a:rPr>
              <a:t>FOR OTHER TEAMS</a:t>
            </a:r>
            <a:endParaRPr lang="en-US" sz="1300" dirty="0"/>
          </a:p>
        </p:txBody>
      </p:sp>
      <p:sp>
        <p:nvSpPr>
          <p:cNvPr id="3" name="Text 0"/>
          <p:cNvSpPr/>
          <p:nvPr>
            <p:ph idx="100" type="title" hasCustomPrompt="1"/>
          </p:nvPr>
        </p:nvSpPr>
        <p:spPr>
          <a:xfrm>
            <a:off x="548640" y="1554480"/>
            <a:ext cx="11064240" cy="2103120"/>
          </a:xfrm>
          <a:prstGeom prst="rect">
            <a:avLst/>
          </a:prstGeom>
          <a:noFill/>
          <a:ln/>
        </p:spPr>
        <p:txBody>
          <a:bodyPr wrap="square" lIns="0" tIns="0" rIns="0" bIns="0" rtlCol="0"/>
          <a:lstStyle/>
          <a:p>
            <a:pPr indent="0" marL="0">
              <a:buNone/>
            </a:pPr>
            <a:r>
              <a:rPr lang="en-US" sz="4400" dirty="0">
                <a:solidFill>
                  <a:srgbClr val="F4F1EA"/>
                </a:solidFill>
                <a:latin typeface="Georgia" pitchFamily="34" charset="0"/>
                <a:ea typeface="Georgia" pitchFamily="34" charset="-122"/>
                <a:cs typeface="Georgia" pitchFamily="34" charset="-120"/>
              </a:rPr>
              <a:t>Three ways in. None of them need our robots.</a:t>
            </a:r>
            <a:endParaRPr lang="en-US" sz="4400" dirty="0"/>
          </a:p>
        </p:txBody>
      </p:sp>
      <p:sp>
        <p:nvSpPr>
          <p:cNvPr id="5" name="Shape 2"/>
          <p:cNvSpPr/>
          <p:nvPr/>
        </p:nvSpPr>
        <p:spPr>
          <a:xfrm>
            <a:off x="548640" y="3886200"/>
            <a:ext cx="3611880" cy="2148840"/>
          </a:xfrm>
          <a:prstGeom prst="roundRect">
            <a:avLst>
              <a:gd name="adj" fmla="val 4255"/>
            </a:avLst>
          </a:prstGeom>
          <a:solidFill>
            <a:srgbClr val="1E2422"/>
          </a:solidFill>
          <a:ln/>
        </p:spPr>
      </p:sp>
      <p:sp>
        <p:nvSpPr>
          <p:cNvPr id="6" name="Text 3"/>
          <p:cNvSpPr txBox="1"/>
          <p:nvPr/>
        </p:nvSpPr>
        <p:spPr>
          <a:xfrm>
            <a:off x="713232" y="4023360"/>
            <a:ext cx="3291840" cy="365760"/>
          </a:xfrm>
          <a:prstGeom prst="rect">
            <a:avLst/>
          </a:prstGeom>
          <a:noFill/>
          <a:ln/>
        </p:spPr>
        <p:txBody>
          <a:bodyPr wrap="square" lIns="0" tIns="0" rIns="0" bIns="0" rtlCol="0" anchor="ctr"/>
          <a:lstStyle/>
          <a:p>
            <a:pPr indent="0" marL="0">
              <a:buNone/>
            </a:pPr>
            <a:r>
              <a:rPr lang="en-US" sz="1600" dirty="0">
                <a:solidFill>
                  <a:srgbClr val="F0C56A"/>
                </a:solidFill>
                <a:latin typeface="Georgia" pitchFamily="34" charset="0"/>
                <a:ea typeface="Georgia" pitchFamily="34" charset="-122"/>
                <a:cs typeface="Georgia" pitchFamily="34" charset="-120"/>
              </a:rPr>
              <a:t>1  Call the skill</a:t>
            </a:r>
            <a:endParaRPr lang="en-US" sz="1600" dirty="0"/>
          </a:p>
        </p:txBody>
      </p:sp>
      <p:sp>
        <p:nvSpPr>
          <p:cNvPr id="7" name="Text 4"/>
          <p:cNvSpPr txBox="1"/>
          <p:nvPr/>
        </p:nvSpPr>
        <p:spPr>
          <a:xfrm>
            <a:off x="713232" y="4480560"/>
            <a:ext cx="3291840" cy="1371600"/>
          </a:xfrm>
          <a:prstGeom prst="rect">
            <a:avLst/>
          </a:prstGeom>
          <a:noFill/>
          <a:ln/>
        </p:spPr>
        <p:txBody>
          <a:bodyPr wrap="square" lIns="0" tIns="0" rIns="0" bIns="0" rtlCol="0" anchor="ctr"/>
          <a:lstStyle/>
          <a:p>
            <a:pPr indent="0" marL="0">
              <a:buNone/>
            </a:pPr>
            <a:r>
              <a:rPr lang="en-US" sz="1400" dirty="0">
                <a:solidFill>
                  <a:srgbClr val="F4F1EA"/>
                </a:solidFill>
                <a:latin typeface="Calibri" pitchFamily="34" charset="0"/>
                <a:ea typeface="Calibri" pitchFamily="34" charset="-122"/>
                <a:cs typeface="Calibri" pitchFamily="34" charset="-120"/>
              </a:rPr>
              <a:t>robot_motion sends commands and returns the fingertip in millimetres. Nothing else. Another team's agent can probe a body without our swarm.</a:t>
            </a:r>
            <a:endParaRPr lang="en-US" sz="1400" dirty="0"/>
          </a:p>
        </p:txBody>
      </p:sp>
      <p:sp>
        <p:nvSpPr>
          <p:cNvPr id="8" name="Shape 5"/>
          <p:cNvSpPr/>
          <p:nvPr/>
        </p:nvSpPr>
        <p:spPr>
          <a:xfrm>
            <a:off x="4343400" y="3886200"/>
            <a:ext cx="3611880" cy="2148840"/>
          </a:xfrm>
          <a:prstGeom prst="roundRect">
            <a:avLst>
              <a:gd name="adj" fmla="val 4255"/>
            </a:avLst>
          </a:prstGeom>
          <a:solidFill>
            <a:srgbClr val="1E2422"/>
          </a:solidFill>
          <a:ln/>
        </p:spPr>
      </p:sp>
      <p:sp>
        <p:nvSpPr>
          <p:cNvPr id="9" name="Text 6"/>
          <p:cNvSpPr txBox="1"/>
          <p:nvPr/>
        </p:nvSpPr>
        <p:spPr>
          <a:xfrm>
            <a:off x="4507992" y="4023360"/>
            <a:ext cx="3291840" cy="365760"/>
          </a:xfrm>
          <a:prstGeom prst="rect">
            <a:avLst/>
          </a:prstGeom>
          <a:noFill/>
          <a:ln/>
        </p:spPr>
        <p:txBody>
          <a:bodyPr wrap="square" lIns="0" tIns="0" rIns="0" bIns="0" rtlCol="0" anchor="ctr"/>
          <a:lstStyle/>
          <a:p>
            <a:pPr indent="0" marL="0">
              <a:buNone/>
            </a:pPr>
            <a:r>
              <a:rPr lang="en-US" sz="1600" dirty="0">
                <a:solidFill>
                  <a:srgbClr val="F0C56A"/>
                </a:solidFill>
                <a:latin typeface="Georgia" pitchFamily="34" charset="0"/>
                <a:ea typeface="Georgia" pitchFamily="34" charset="-122"/>
                <a:cs typeface="Georgia" pitchFamily="34" charset="-120"/>
              </a:rPr>
              <a:t>2  Point learn at your class</a:t>
            </a:r>
            <a:endParaRPr lang="en-US" sz="1600" dirty="0"/>
          </a:p>
        </p:txBody>
      </p:sp>
      <p:sp>
        <p:nvSpPr>
          <p:cNvPr id="10" name="Text 7"/>
          <p:cNvSpPr txBox="1"/>
          <p:nvPr/>
        </p:nvSpPr>
        <p:spPr>
          <a:xfrm>
            <a:off x="4507992" y="4480560"/>
            <a:ext cx="3291840" cy="1371600"/>
          </a:xfrm>
          <a:prstGeom prst="rect">
            <a:avLst/>
          </a:prstGeom>
          <a:noFill/>
          <a:ln/>
        </p:spPr>
        <p:txBody>
          <a:bodyPr wrap="square" lIns="0" tIns="0" rIns="0" bIns="0" rtlCol="0" anchor="ctr"/>
          <a:lstStyle/>
          <a:p>
            <a:pPr indent="0" marL="0">
              <a:buNone/>
            </a:pPr>
            <a:r>
              <a:rPr lang="en-US" sz="1400" dirty="0">
                <a:solidFill>
                  <a:srgbClr val="F4F1EA"/>
                </a:solidFill>
                <a:latin typeface="Calibri" pitchFamily="34" charset="0"/>
                <a:ea typeface="Calibri" pitchFamily="34" charset="-122"/>
                <a:cs typeface="Calibri" pitchFamily="34" charset="-120"/>
              </a:rPr>
              <a:t>move, n_channels, and limits are enough to run. Add true_tip only if you want a score. Agents still cannot see it.</a:t>
            </a:r>
            <a:endParaRPr lang="en-US" sz="1400" dirty="0"/>
          </a:p>
        </p:txBody>
      </p:sp>
      <p:sp>
        <p:nvSpPr>
          <p:cNvPr id="11" name="Shape 8"/>
          <p:cNvSpPr/>
          <p:nvPr/>
        </p:nvSpPr>
        <p:spPr>
          <a:xfrm>
            <a:off x="8138160" y="3886200"/>
            <a:ext cx="3611880" cy="2148840"/>
          </a:xfrm>
          <a:prstGeom prst="roundRect">
            <a:avLst>
              <a:gd name="adj" fmla="val 4255"/>
            </a:avLst>
          </a:prstGeom>
          <a:solidFill>
            <a:srgbClr val="1E2422"/>
          </a:solidFill>
          <a:ln/>
        </p:spPr>
      </p:sp>
      <p:sp>
        <p:nvSpPr>
          <p:cNvPr id="12" name="Text 9"/>
          <p:cNvSpPr txBox="1"/>
          <p:nvPr/>
        </p:nvSpPr>
        <p:spPr>
          <a:xfrm>
            <a:off x="8302752" y="4023360"/>
            <a:ext cx="3291840" cy="365760"/>
          </a:xfrm>
          <a:prstGeom prst="rect">
            <a:avLst/>
          </a:prstGeom>
          <a:noFill/>
          <a:ln/>
        </p:spPr>
        <p:txBody>
          <a:bodyPr wrap="square" lIns="0" tIns="0" rIns="0" bIns="0" rtlCol="0" anchor="ctr"/>
          <a:lstStyle/>
          <a:p>
            <a:pPr indent="0" marL="0">
              <a:buNone/>
            </a:pPr>
            <a:r>
              <a:rPr lang="en-US" sz="1600" dirty="0">
                <a:solidFill>
                  <a:srgbClr val="F0C56A"/>
                </a:solidFill>
                <a:latin typeface="Georgia" pitchFamily="34" charset="0"/>
                <a:ea typeface="Georgia" pitchFamily="34" charset="-122"/>
                <a:cs typeface="Georgia" pitchFamily="34" charset="-120"/>
              </a:rPr>
              <a:t>3  Take the files</a:t>
            </a:r>
            <a:endParaRPr lang="en-US" sz="1600" dirty="0"/>
          </a:p>
        </p:txBody>
      </p:sp>
      <p:sp>
        <p:nvSpPr>
          <p:cNvPr id="13" name="Text 10"/>
          <p:cNvSpPr txBox="1"/>
          <p:nvPr/>
        </p:nvSpPr>
        <p:spPr>
          <a:xfrm>
            <a:off x="8302752" y="4480560"/>
            <a:ext cx="3291840" cy="1371600"/>
          </a:xfrm>
          <a:prstGeom prst="rect">
            <a:avLst/>
          </a:prstGeom>
          <a:noFill/>
          <a:ln/>
        </p:spPr>
        <p:txBody>
          <a:bodyPr wrap="square" lIns="0" tIns="0" rIns="0" bIns="0" rtlCol="0" anchor="ctr"/>
          <a:lstStyle/>
          <a:p>
            <a:pPr indent="0" marL="0">
              <a:buNone/>
            </a:pPr>
            <a:r>
              <a:rPr lang="en-US" sz="1400" dirty="0">
                <a:solidFill>
                  <a:srgbClr val="F4F1EA"/>
                </a:solidFill>
                <a:latin typeface="Calibri" pitchFamily="34" charset="0"/>
                <a:ea typeface="Calibri" pitchFamily="34" charset="-122"/>
                <a:cs typeface="Calibri" pitchFamily="34" charset="-120"/>
              </a:rPr>
              <a:t>URDF, MJCF, body.json, and a report in millimetres. A length the motions could not pin is marked. Masses are placeholders.</a:t>
            </a:r>
            <a:endParaRPr lang="en-US" sz="14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C9C2B4"/>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HOW TO RUN IT</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From a fresh checkout</a:t>
            </a:r>
            <a:endParaRPr lang="en-US" sz="3200" dirty="0"/>
          </a:p>
        </p:txBody>
      </p:sp>
      <p:sp>
        <p:nvSpPr>
          <p:cNvPr id="5" name="Shape 2"/>
          <p:cNvSpPr/>
          <p:nvPr/>
        </p:nvSpPr>
        <p:spPr>
          <a:xfrm>
            <a:off x="502920" y="1463040"/>
            <a:ext cx="6858000" cy="4480560"/>
          </a:xfrm>
          <a:prstGeom prst="roundRect">
            <a:avLst>
              <a:gd name="adj" fmla="val 2041"/>
            </a:avLst>
          </a:prstGeom>
          <a:solidFill>
            <a:srgbClr val="14181C"/>
          </a:solidFill>
          <a:ln/>
        </p:spPr>
      </p:sp>
      <p:sp>
        <p:nvSpPr>
          <p:cNvPr id="6" name="Text 3"/>
          <p:cNvSpPr txBox="1"/>
          <p:nvPr/>
        </p:nvSpPr>
        <p:spPr>
          <a:xfrm>
            <a:off x="685800" y="1645920"/>
            <a:ext cx="6492240" cy="4114800"/>
          </a:xfrm>
          <a:prstGeom prst="rect">
            <a:avLst/>
          </a:prstGeom>
          <a:noFill/>
          <a:ln/>
        </p:spPr>
        <p:txBody>
          <a:bodyPr wrap="square" lIns="0" tIns="0" rIns="0" bIns="0" rtlCol="0" anchor="ctr"/>
          <a:lstStyle/>
          <a:p>
            <a:pPr indent="0" marL="0">
              <a:buNone/>
            </a:pPr>
            <a:r>
              <a:rPr lang="en-US" sz="1400" dirty="0">
                <a:solidFill>
                  <a:srgbClr val="F4F1EA"/>
                </a:solidFill>
                <a:latin typeface="Courier New" pitchFamily="34" charset="0"/>
                <a:ea typeface="Courier New" pitchFamily="34" charset="-122"/>
                <a:cs typeface="Courier New" pitchFamily="34" charset="-120"/>
              </a:rPr>
              <a:t>python -m pytest -q</a:t>
            </a:r>
            <a:endParaRPr lang="en-US" sz="1400" dirty="0"/>
          </a:p>
          <a:p>
            <a:pPr indent="0" marL="0">
              <a:buNone/>
            </a:pPr>
            <a:r>
              <a:rPr lang="en-US" sz="1400" dirty="0">
                <a:solidFill>
                  <a:srgbClr val="F4F1EA"/>
                </a:solidFill>
                <a:latin typeface="Courier New" pitchFamily="34" charset="0"/>
                <a:ea typeface="Courier New" pitchFamily="34" charset="-122"/>
                <a:cs typeface="Courier New" pitchFamily="34" charset="-120"/>
              </a:rPr>
              <a:t>python demo.py</a:t>
            </a:r>
            <a:endParaRPr lang="en-US" sz="1400" dirty="0"/>
          </a:p>
          <a:p>
            <a:pPr indent="0" marL="0">
              <a:buNone/>
            </a:pPr>
            <a:r>
              <a:rPr lang="en-US" sz="1400" dirty="0">
                <a:solidFill>
                  <a:srgbClr val="F4F1EA"/>
                </a:solidFill>
                <a:latin typeface="Courier New" pitchFamily="34" charset="0"/>
                <a:ea typeface="Courier New" pitchFamily="34" charset="-122"/>
                <a:cs typeface="Courier New" pitchFamily="34" charset="-120"/>
              </a:rPr>
              <a:t>python demo.py --family scara</a:t>
            </a:r>
            <a:endParaRPr lang="en-US" sz="1400" dirty="0"/>
          </a:p>
          <a:p>
            <a:pPr indent="0" marL="0">
              <a:buNone/>
            </a:pPr>
            <a:r>
              <a:rPr lang="en-US" sz="1400" dirty="0">
                <a:solidFill>
                  <a:srgbClr val="F4F1EA"/>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F4F1EA"/>
                </a:solidFill>
                <a:latin typeface="Courier New" pitchFamily="34" charset="0"/>
                <a:ea typeface="Courier New" pitchFamily="34" charset="-122"/>
                <a:cs typeface="Courier New" pitchFamily="34" charset="-120"/>
              </a:rPr>
              <a:t>python -m bodyscout learn --robot examples/arm.py:Arm</a:t>
            </a:r>
            <a:endParaRPr lang="en-US" sz="1400" dirty="0"/>
          </a:p>
          <a:p>
            <a:pPr indent="0" marL="0">
              <a:buNone/>
            </a:pPr>
            <a:r>
              <a:rPr lang="en-US" sz="1400" dirty="0">
                <a:solidFill>
                  <a:srgbClr val="F4F1EA"/>
                </a:solidFill>
                <a:latin typeface="Courier New" pitchFamily="34" charset="0"/>
                <a:ea typeface="Courier New" pitchFamily="34" charset="-122"/>
                <a:cs typeface="Courier New" pitchFamily="34" charset="-120"/>
              </a:rPr>
              <a:t>    --budget 64 --out export</a:t>
            </a:r>
            <a:endParaRPr lang="en-US" sz="1400" dirty="0"/>
          </a:p>
          <a:p>
            <a:pPr indent="0" marL="0">
              <a:buNone/>
            </a:pPr>
            <a:r>
              <a:rPr lang="en-US" sz="1400" dirty="0">
                <a:solidFill>
                  <a:srgbClr val="F4F1EA"/>
                </a:solidFill>
                <a:latin typeface="Courier New" pitchFamily="34" charset="0"/>
                <a:ea typeface="Courier New" pitchFamily="34" charset="-122"/>
                <a:cs typeface="Courier New" pitchFamily="34" charset="-120"/>
              </a:rPr>
              <a:t>python -m bodyscout learn --robot path.py:Class</a:t>
            </a:r>
            <a:endParaRPr lang="en-US" sz="1400" dirty="0"/>
          </a:p>
          <a:p>
            <a:pPr indent="0" marL="0">
              <a:buNone/>
            </a:pPr>
            <a:r>
              <a:rPr lang="en-US" sz="1400" dirty="0">
                <a:solidFill>
                  <a:srgbClr val="F4F1EA"/>
                </a:solidFill>
                <a:latin typeface="Courier New" pitchFamily="34" charset="0"/>
                <a:ea typeface="Courier New" pitchFamily="34" charset="-122"/>
                <a:cs typeface="Courier New" pitchFamily="34" charset="-120"/>
              </a:rPr>
              <a:t>    --budget 64 --unknown --out export</a:t>
            </a:r>
            <a:endParaRPr lang="en-US" sz="1400" dirty="0"/>
          </a:p>
          <a:p>
            <a:pPr indent="0" marL="0">
              <a:buNone/>
            </a:pPr>
            <a:r>
              <a:rPr lang="en-US" sz="1400" dirty="0">
                <a:solidFill>
                  <a:srgbClr val="F4F1EA"/>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F4F1EA"/>
                </a:solidFill>
                <a:latin typeface="Courier New" pitchFamily="34" charset="0"/>
                <a:ea typeface="Courier New" pitchFamily="34" charset="-122"/>
                <a:cs typeface="Courier New" pitchFamily="34" charset="-120"/>
              </a:rPr>
              <a:t>python -m http.server 8000</a:t>
            </a:r>
            <a:endParaRPr lang="en-US" sz="1400" dirty="0"/>
          </a:p>
        </p:txBody>
      </p:sp>
      <p:sp>
        <p:nvSpPr>
          <p:cNvPr id="7" name="Shape 4"/>
          <p:cNvSpPr/>
          <p:nvPr/>
        </p:nvSpPr>
        <p:spPr>
          <a:xfrm>
            <a:off x="7543800" y="1463040"/>
            <a:ext cx="4114800" cy="1371600"/>
          </a:xfrm>
          <a:prstGeom prst="roundRect">
            <a:avLst>
              <a:gd name="adj" fmla="val 5333"/>
            </a:avLst>
          </a:prstGeom>
          <a:solidFill>
            <a:srgbClr val="FFFDF8"/>
          </a:solidFill>
          <a:ln/>
          <a:effectLst>
            <a:outerShdw sx="100000" sy="100000" kx="0" ky="0" algn="bl" rotWithShape="0" blurRad="177800" dist="38100" dir="5400000">
              <a:srgbClr val="1A1E1B">
                <a:alpha val="8000"/>
              </a:srgbClr>
            </a:outerShdw>
          </a:effectLst>
        </p:spPr>
      </p:sp>
      <p:sp>
        <p:nvSpPr>
          <p:cNvPr id="8" name="Text 5"/>
          <p:cNvSpPr txBox="1"/>
          <p:nvPr/>
        </p:nvSpPr>
        <p:spPr>
          <a:xfrm>
            <a:off x="7690104" y="1572768"/>
            <a:ext cx="38221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--unknown</a:t>
            </a:r>
            <a:endParaRPr lang="en-US" sz="1600" dirty="0"/>
          </a:p>
        </p:txBody>
      </p:sp>
      <p:sp>
        <p:nvSpPr>
          <p:cNvPr id="9" name="Text 6"/>
          <p:cNvSpPr txBox="1"/>
          <p:nvPr/>
        </p:nvSpPr>
        <p:spPr>
          <a:xfrm>
            <a:off x="7690104" y="1901952"/>
            <a:ext cx="3822192" cy="80467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Turns the channel agents on. Use it when the body might include a slide.</a:t>
            </a:r>
            <a:endParaRPr lang="en-US" sz="1400" dirty="0"/>
          </a:p>
        </p:txBody>
      </p:sp>
      <p:sp>
        <p:nvSpPr>
          <p:cNvPr id="10" name="Shape 7"/>
          <p:cNvSpPr/>
          <p:nvPr/>
        </p:nvSpPr>
        <p:spPr>
          <a:xfrm>
            <a:off x="7543800" y="2971800"/>
            <a:ext cx="4114800" cy="1371600"/>
          </a:xfrm>
          <a:prstGeom prst="roundRect">
            <a:avLst>
              <a:gd name="adj" fmla="val 5333"/>
            </a:avLst>
          </a:prstGeom>
          <a:solidFill>
            <a:srgbClr val="FFFDF8"/>
          </a:solidFill>
          <a:ln/>
          <a:effectLst>
            <a:outerShdw sx="100000" sy="100000" kx="0" ky="0" algn="bl" rotWithShape="0" blurRad="177800" dist="38100" dir="5400000">
              <a:srgbClr val="1A1E1B">
                <a:alpha val="8000"/>
              </a:srgbClr>
            </a:outerShdw>
          </a:effectLst>
        </p:spPr>
      </p:sp>
      <p:sp>
        <p:nvSpPr>
          <p:cNvPr id="11" name="Text 8"/>
          <p:cNvSpPr txBox="1"/>
          <p:nvPr/>
        </p:nvSpPr>
        <p:spPr>
          <a:xfrm>
            <a:off x="7690104" y="3081528"/>
            <a:ext cx="38221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--llm</a:t>
            </a:r>
            <a:endParaRPr lang="en-US" sz="1600" dirty="0"/>
          </a:p>
        </p:txBody>
      </p:sp>
      <p:sp>
        <p:nvSpPr>
          <p:cNvPr id="12" name="Text 9"/>
          <p:cNvSpPr txBox="1"/>
          <p:nvPr/>
        </p:nvSpPr>
        <p:spPr>
          <a:xfrm>
            <a:off x="7690104" y="3410712"/>
            <a:ext cx="3822192" cy="80467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Calls a model if a key is in .env. Off in every number in this deck.</a:t>
            </a:r>
            <a:endParaRPr lang="en-US" sz="1400" dirty="0"/>
          </a:p>
        </p:txBody>
      </p:sp>
      <p:sp>
        <p:nvSpPr>
          <p:cNvPr id="13" name="Shape 10"/>
          <p:cNvSpPr/>
          <p:nvPr/>
        </p:nvSpPr>
        <p:spPr>
          <a:xfrm>
            <a:off x="7543800" y="4480560"/>
            <a:ext cx="4114800" cy="1463040"/>
          </a:xfrm>
          <a:prstGeom prst="roundRect">
            <a:avLst>
              <a:gd name="adj" fmla="val 5000"/>
            </a:avLst>
          </a:prstGeom>
          <a:solidFill>
            <a:srgbClr val="FFFDF8"/>
          </a:solidFill>
          <a:ln/>
          <a:effectLst>
            <a:outerShdw sx="100000" sy="100000" kx="0" ky="0" algn="bl" rotWithShape="0" blurRad="177800" dist="38100" dir="5400000">
              <a:srgbClr val="1A1E1B">
                <a:alpha val="8000"/>
              </a:srgbClr>
            </a:outerShdw>
          </a:effectLst>
        </p:spPr>
      </p:sp>
      <p:sp>
        <p:nvSpPr>
          <p:cNvPr id="14" name="Text 11"/>
          <p:cNvSpPr txBox="1"/>
          <p:nvPr/>
        </p:nvSpPr>
        <p:spPr>
          <a:xfrm>
            <a:off x="7690104" y="4590288"/>
            <a:ext cx="38221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Then open</a:t>
            </a:r>
            <a:endParaRPr lang="en-US" sz="1600" dirty="0"/>
          </a:p>
        </p:txBody>
      </p:sp>
      <p:sp>
        <p:nvSpPr>
          <p:cNvPr id="15" name="Text 12"/>
          <p:cNvSpPr txBox="1"/>
          <p:nvPr/>
        </p:nvSpPr>
        <p:spPr>
          <a:xfrm>
            <a:off x="7690104" y="4919472"/>
            <a:ext cx="3822192" cy="89611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This briefing at /judge/. The provenance dashboard at /dashboard/.</a:t>
            </a:r>
            <a:endParaRPr lang="en-US" sz="14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WHAT COMES OUT</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Four files, and what your class must have</a:t>
            </a:r>
            <a:endParaRPr lang="en-US" sz="3200" dirty="0"/>
          </a:p>
        </p:txBody>
      </p:sp>
      <p:sp>
        <p:nvSpPr>
          <p:cNvPr id="5" name="Shape 2"/>
          <p:cNvSpPr/>
          <p:nvPr/>
        </p:nvSpPr>
        <p:spPr>
          <a:xfrm>
            <a:off x="502920" y="1463040"/>
            <a:ext cx="2761488" cy="2286000"/>
          </a:xfrm>
          <a:prstGeom prst="roundRect">
            <a:avLst>
              <a:gd name="adj" fmla="val 3200"/>
            </a:avLst>
          </a:prstGeom>
          <a:solidFill>
            <a:srgbClr val="FFFDF8"/>
          </a:solidFill>
          <a:ln/>
          <a:effectLst>
            <a:outerShdw sx="100000" sy="100000" kx="0" ky="0" algn="bl" rotWithShape="0" blurRad="177800" dist="38100" dir="5400000">
              <a:srgbClr val="1A1E1B">
                <a:alpha val="8000"/>
              </a:srgbClr>
            </a:outerShdw>
          </a:effectLst>
        </p:spPr>
      </p:sp>
      <p:sp>
        <p:nvSpPr>
          <p:cNvPr id="6" name="Text 3"/>
          <p:cNvSpPr txBox="1"/>
          <p:nvPr/>
        </p:nvSpPr>
        <p:spPr>
          <a:xfrm>
            <a:off x="649224" y="1572768"/>
            <a:ext cx="2468880"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robot.urdf</a:t>
            </a:r>
            <a:endParaRPr lang="en-US" sz="1600" dirty="0"/>
          </a:p>
        </p:txBody>
      </p:sp>
      <p:sp>
        <p:nvSpPr>
          <p:cNvPr id="7" name="Text 4"/>
          <p:cNvSpPr txBox="1"/>
          <p:nvPr/>
        </p:nvSpPr>
        <p:spPr>
          <a:xfrm>
            <a:off x="649224" y="1901952"/>
            <a:ext cx="2468880" cy="171907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One link and one joint per channel, revolute or prismatic. A slide stores metres per command.</a:t>
            </a:r>
            <a:endParaRPr lang="en-US" sz="1400" dirty="0"/>
          </a:p>
        </p:txBody>
      </p:sp>
      <p:sp>
        <p:nvSpPr>
          <p:cNvPr id="8" name="Shape 5"/>
          <p:cNvSpPr/>
          <p:nvPr/>
        </p:nvSpPr>
        <p:spPr>
          <a:xfrm>
            <a:off x="3401568" y="1463040"/>
            <a:ext cx="2761488" cy="2286000"/>
          </a:xfrm>
          <a:prstGeom prst="roundRect">
            <a:avLst>
              <a:gd name="adj" fmla="val 3200"/>
            </a:avLst>
          </a:prstGeom>
          <a:solidFill>
            <a:srgbClr val="FFFDF8"/>
          </a:solidFill>
          <a:ln/>
          <a:effectLst>
            <a:outerShdw sx="100000" sy="100000" kx="0" ky="0" algn="bl" rotWithShape="0" blurRad="177800" dist="38100" dir="5400000">
              <a:srgbClr val="1A1E1B">
                <a:alpha val="8000"/>
              </a:srgbClr>
            </a:outerShdw>
          </a:effectLst>
        </p:spPr>
      </p:sp>
      <p:sp>
        <p:nvSpPr>
          <p:cNvPr id="9" name="Text 6"/>
          <p:cNvSpPr txBox="1"/>
          <p:nvPr/>
        </p:nvSpPr>
        <p:spPr>
          <a:xfrm>
            <a:off x="3547872" y="1572768"/>
            <a:ext cx="2468880"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robot.xml</a:t>
            </a:r>
            <a:endParaRPr lang="en-US" sz="1600" dirty="0"/>
          </a:p>
        </p:txBody>
      </p:sp>
      <p:sp>
        <p:nvSpPr>
          <p:cNvPr id="10" name="Text 7"/>
          <p:cNvSpPr txBox="1"/>
          <p:nvPr/>
        </p:nvSpPr>
        <p:spPr>
          <a:xfrm>
            <a:off x="3547872" y="1901952"/>
            <a:ext cx="2468880" cy="171907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The same tree as MJCF. Each joint's scale is a custom number.</a:t>
            </a:r>
            <a:endParaRPr lang="en-US" sz="1400" dirty="0"/>
          </a:p>
        </p:txBody>
      </p:sp>
      <p:sp>
        <p:nvSpPr>
          <p:cNvPr id="11" name="Shape 8"/>
          <p:cNvSpPr/>
          <p:nvPr/>
        </p:nvSpPr>
        <p:spPr>
          <a:xfrm>
            <a:off x="6300216" y="1463040"/>
            <a:ext cx="2761488" cy="2286000"/>
          </a:xfrm>
          <a:prstGeom prst="roundRect">
            <a:avLst>
              <a:gd name="adj" fmla="val 3200"/>
            </a:avLst>
          </a:prstGeom>
          <a:solidFill>
            <a:srgbClr val="FFFDF8"/>
          </a:solidFill>
          <a:ln/>
          <a:effectLst>
            <a:outerShdw sx="100000" sy="100000" kx="0" ky="0" algn="bl" rotWithShape="0" blurRad="177800" dist="38100" dir="5400000">
              <a:srgbClr val="1A1E1B">
                <a:alpha val="8000"/>
              </a:srgbClr>
            </a:outerShdw>
          </a:effectLst>
        </p:spPr>
      </p:sp>
      <p:sp>
        <p:nvSpPr>
          <p:cNvPr id="12" name="Text 9"/>
          <p:cNvSpPr txBox="1"/>
          <p:nvPr/>
        </p:nvSpPr>
        <p:spPr>
          <a:xfrm>
            <a:off x="6446520" y="1572768"/>
            <a:ext cx="2468880"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body.json</a:t>
            </a:r>
            <a:endParaRPr lang="en-US" sz="1600" dirty="0"/>
          </a:p>
        </p:txBody>
      </p:sp>
      <p:sp>
        <p:nvSpPr>
          <p:cNvPr id="13" name="Text 10"/>
          <p:cNvSpPr txBox="1"/>
          <p:nvPr/>
        </p:nvSpPr>
        <p:spPr>
          <a:xfrm>
            <a:off x="6446520" y="1901952"/>
            <a:ext cx="2468880" cy="171907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Chain order, which channel drives which joint, axes, and which lengths are identifiable.</a:t>
            </a:r>
            <a:endParaRPr lang="en-US" sz="1400" dirty="0"/>
          </a:p>
        </p:txBody>
      </p:sp>
      <p:sp>
        <p:nvSpPr>
          <p:cNvPr id="14" name="Shape 11"/>
          <p:cNvSpPr/>
          <p:nvPr/>
        </p:nvSpPr>
        <p:spPr>
          <a:xfrm>
            <a:off x="9198864" y="1463040"/>
            <a:ext cx="2514600" cy="2286000"/>
          </a:xfrm>
          <a:prstGeom prst="roundRect">
            <a:avLst>
              <a:gd name="adj" fmla="val 3200"/>
            </a:avLst>
          </a:prstGeom>
          <a:solidFill>
            <a:srgbClr val="FFFDF8"/>
          </a:solidFill>
          <a:ln/>
          <a:effectLst>
            <a:outerShdw sx="100000" sy="100000" kx="0" ky="0" algn="bl" rotWithShape="0" blurRad="177800" dist="38100" dir="5400000">
              <a:srgbClr val="1A1E1B">
                <a:alpha val="8000"/>
              </a:srgbClr>
            </a:outerShdw>
          </a:effectLst>
        </p:spPr>
      </p:sp>
      <p:sp>
        <p:nvSpPr>
          <p:cNvPr id="15" name="Text 12"/>
          <p:cNvSpPr txBox="1"/>
          <p:nvPr/>
        </p:nvSpPr>
        <p:spPr>
          <a:xfrm>
            <a:off x="9345168" y="1572768"/>
            <a:ext cx="2221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report.html</a:t>
            </a:r>
            <a:endParaRPr lang="en-US" sz="1600" dirty="0"/>
          </a:p>
        </p:txBody>
      </p:sp>
      <p:sp>
        <p:nvSpPr>
          <p:cNvPr id="16" name="Text 13"/>
          <p:cNvSpPr txBox="1"/>
          <p:nvPr/>
        </p:nvSpPr>
        <p:spPr>
          <a:xfrm>
            <a:off x="9345168" y="1901952"/>
            <a:ext cx="2221992" cy="171907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The same facts in millimetres. Unpinned lengths are marked in all four.</a:t>
            </a:r>
            <a:endParaRPr lang="en-US" sz="1400" dirty="0"/>
          </a:p>
        </p:txBody>
      </p:sp>
      <p:sp>
        <p:nvSpPr>
          <p:cNvPr id="17" name="Text 14"/>
          <p:cNvSpPr txBox="1"/>
          <p:nvPr/>
        </p:nvSpPr>
        <p:spPr>
          <a:xfrm>
            <a:off x="502920" y="3977640"/>
            <a:ext cx="11155680" cy="822960"/>
          </a:xfrm>
          <a:prstGeom prst="rect">
            <a:avLst/>
          </a:prstGeom>
          <a:noFill/>
          <a:ln/>
        </p:spPr>
        <p:txBody>
          <a:bodyPr wrap="square" lIns="0" tIns="0" rIns="0" bIns="0" rtlCol="0" anchor="ctr"/>
          <a:lstStyle/>
          <a:p>
            <a:pPr indent="0" marL="0">
              <a:buNone/>
            </a:pPr>
            <a:r>
              <a:rPr lang="en-US" sz="1600" dirty="0">
                <a:solidFill>
                  <a:srgbClr val="4A463F"/>
                </a:solidFill>
                <a:latin typeface="Calibri" pitchFamily="34" charset="0"/>
                <a:ea typeface="Calibri" pitchFamily="34" charset="-122"/>
                <a:cs typeface="Calibri" pitchFamily="34" charset="-120"/>
              </a:rPr>
              <a:t>Your class needs move, n_channels, and limits. A scored curve also needs a motion counter and true_tip. Agents read the first three only. Loading the MJCF and driving each joint with its scale reproduces the chain model to within 1 mm.</a:t>
            </a:r>
            <a:endParaRPr lang="en-US" sz="1600" dirty="0"/>
          </a:p>
        </p:txBody>
      </p:sp>
      <p:sp>
        <p:nvSpPr>
          <p:cNvPr id="18" name="Text 15"/>
          <p:cNvSpPr txBox="1"/>
          <p:nvPr/>
        </p:nvSpPr>
        <p:spPr>
          <a:xfrm>
            <a:off x="502920" y="4892040"/>
            <a:ext cx="11155680" cy="640080"/>
          </a:xfrm>
          <a:prstGeom prst="rect">
            <a:avLst/>
          </a:prstGeom>
          <a:noFill/>
          <a:ln/>
        </p:spPr>
        <p:txBody>
          <a:bodyPr wrap="square" lIns="0" tIns="0" rIns="0" bIns="0" rtlCol="0" anchor="ctr"/>
          <a:lstStyle/>
          <a:p>
            <a:pPr indent="0" marL="0">
              <a:buNone/>
            </a:pPr>
            <a:r>
              <a:rPr lang="en-US" sz="1300" dirty="0">
                <a:solidFill>
                  <a:srgbClr val="1A1E1B"/>
                </a:solidFill>
                <a:latin typeface="Courier New" pitchFamily="34" charset="0"/>
                <a:ea typeface="Courier New" pitchFamily="34" charset="-122"/>
                <a:cs typeface="Courier New" pitchFamily="34" charset="-120"/>
              </a:rPr>
              <a:t>The skill, for another team's agent:</a:t>
            </a:r>
            <a:endParaRPr lang="en-US" sz="1300" dirty="0"/>
          </a:p>
          <a:p>
            <a:pPr indent="0" marL="0">
              <a:buNone/>
            </a:pPr>
            <a:r>
              <a:rPr lang="en-US" sz="1300" dirty="0">
                <a:solidFill>
                  <a:srgbClr val="1A1E1B"/>
                </a:solidFill>
                <a:latin typeface="Courier New" pitchFamily="34" charset="0"/>
                <a:ea typeface="Courier New" pitchFamily="34" charset="-122"/>
                <a:cs typeface="Courier New" pitchFamily="34" charset="-120"/>
              </a:rPr>
              <a:t>python scienceclaw_skill/robot_motion/scripts/robot_motion.py --family scara --seed 7 --n 5 --format json</a:t>
            </a:r>
            <a:endParaRPr lang="en-US" sz="13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02920" y="164592"/>
            <a:ext cx="10972800" cy="219456"/>
          </a:xfrm>
          <a:prstGeom prst="rect">
            <a:avLst/>
          </a:prstGeom>
          <a:noFill/>
          <a:ln/>
        </p:spPr>
        <p:txBody>
          <a:bodyPr wrap="square" lIns="0" tIns="0" rIns="0" bIns="0" rtlCol="0" anchor="ctr"/>
          <a:lstStyle/>
          <a:p>
            <a:pPr indent="0" marL="0">
              <a:buNone/>
            </a:pPr>
            <a:r>
              <a:rPr lang="en-US" sz="1200" spc="120" kern="0" dirty="0">
                <a:solidFill>
                  <a:srgbClr val="8A5A10"/>
                </a:solidFill>
                <a:latin typeface="Calibri" pitchFamily="34" charset="0"/>
                <a:ea typeface="Calibri" pitchFamily="34" charset="-122"/>
                <a:cs typeface="Calibri" pitchFamily="34" charset="-120"/>
              </a:rPr>
              <a:t>BEFORE YOU QUOTE IT</a:t>
            </a:r>
            <a:endParaRPr lang="en-US" sz="1200" dirty="0"/>
          </a:p>
        </p:txBody>
      </p:sp>
      <p:sp>
        <p:nvSpPr>
          <p:cNvPr id="3" name="Text 0"/>
          <p:cNvSpPr/>
          <p:nvPr>
            <p:ph idx="100" type="title" hasCustomPrompt="1"/>
          </p:nvPr>
        </p:nvSpPr>
        <p:spPr>
          <a:xfrm>
            <a:off x="502920" y="384048"/>
            <a:ext cx="11155680" cy="868680"/>
          </a:xfrm>
          <a:prstGeom prst="rect">
            <a:avLst/>
          </a:prstGeom>
          <a:noFill/>
          <a:ln/>
        </p:spPr>
        <p:txBody>
          <a:bodyPr wrap="square" lIns="0" tIns="0" rIns="0" bIns="0" rtlCol="0" anchor="t"/>
          <a:lstStyle/>
          <a:p>
            <a:pPr indent="0" marL="0">
              <a:buNone/>
            </a:pPr>
            <a:r>
              <a:rPr lang="en-US" sz="3200" dirty="0">
                <a:solidFill>
                  <a:srgbClr val="1A1E1B"/>
                </a:solidFill>
                <a:latin typeface="Georgia" pitchFamily="34" charset="0"/>
                <a:ea typeface="Georgia" pitchFamily="34" charset="-122"/>
                <a:cs typeface="Georgia" pitchFamily="34" charset="-120"/>
              </a:rPr>
              <a:t>What this deck does not show</a:t>
            </a:r>
            <a:endParaRPr lang="en-US" sz="3200" dirty="0"/>
          </a:p>
        </p:txBody>
      </p:sp>
      <p:sp>
        <p:nvSpPr>
          <p:cNvPr id="5" name="Shape 2"/>
          <p:cNvSpPr/>
          <p:nvPr/>
        </p:nvSpPr>
        <p:spPr>
          <a:xfrm>
            <a:off x="502920" y="1463040"/>
            <a:ext cx="3657600" cy="2194560"/>
          </a:xfrm>
          <a:prstGeom prst="roundRect">
            <a:avLst>
              <a:gd name="adj" fmla="val 3333"/>
            </a:avLst>
          </a:prstGeom>
          <a:solidFill>
            <a:srgbClr val="FFFDF8"/>
          </a:solidFill>
          <a:ln/>
          <a:effectLst>
            <a:outerShdw sx="100000" sy="100000" kx="0" ky="0" algn="bl" rotWithShape="0" blurRad="177800" dist="38100" dir="5400000">
              <a:srgbClr val="1A1E1B">
                <a:alpha val="8000"/>
              </a:srgbClr>
            </a:outerShdw>
          </a:effectLst>
        </p:spPr>
      </p:sp>
      <p:sp>
        <p:nvSpPr>
          <p:cNvPr id="6" name="Text 3"/>
          <p:cNvSpPr txBox="1"/>
          <p:nvPr/>
        </p:nvSpPr>
        <p:spPr>
          <a:xfrm>
            <a:off x="649224" y="157276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No physical servo</a:t>
            </a:r>
            <a:endParaRPr lang="en-US" sz="1600" dirty="0"/>
          </a:p>
        </p:txBody>
      </p:sp>
      <p:sp>
        <p:nvSpPr>
          <p:cNvPr id="7" name="Text 4"/>
          <p:cNvSpPr txBox="1"/>
          <p:nvPr/>
        </p:nvSpPr>
        <p:spPr>
          <a:xfrm>
            <a:off x="649224" y="1901952"/>
            <a:ext cx="3364992" cy="162763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MuJoCo, procedural or Menagerie. Backlash and cable stretch are future work. Fix the slow rebuild, and the sensor that lies, first.</a:t>
            </a:r>
            <a:endParaRPr lang="en-US" sz="1400" dirty="0"/>
          </a:p>
        </p:txBody>
      </p:sp>
      <p:sp>
        <p:nvSpPr>
          <p:cNvPr id="8" name="Shape 5"/>
          <p:cNvSpPr/>
          <p:nvPr/>
        </p:nvSpPr>
        <p:spPr>
          <a:xfrm>
            <a:off x="4297680" y="1463040"/>
            <a:ext cx="3657600" cy="2194560"/>
          </a:xfrm>
          <a:prstGeom prst="roundRect">
            <a:avLst>
              <a:gd name="adj" fmla="val 3333"/>
            </a:avLst>
          </a:prstGeom>
          <a:solidFill>
            <a:srgbClr val="FFFDF8"/>
          </a:solidFill>
          <a:ln/>
          <a:effectLst>
            <a:outerShdw sx="100000" sy="100000" kx="0" ky="0" algn="bl" rotWithShape="0" blurRad="177800" dist="38100" dir="5400000">
              <a:srgbClr val="1A1E1B">
                <a:alpha val="8000"/>
              </a:srgbClr>
            </a:outerShdw>
          </a:effectLst>
        </p:spPr>
      </p:sp>
      <p:sp>
        <p:nvSpPr>
          <p:cNvPr id="9" name="Text 6"/>
          <p:cNvSpPr txBox="1"/>
          <p:nvPr/>
        </p:nvSpPr>
        <p:spPr>
          <a:xfrm>
            <a:off x="4443984" y="157276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No language model in the score</a:t>
            </a:r>
            <a:endParaRPr lang="en-US" sz="1600" dirty="0"/>
          </a:p>
        </p:txBody>
      </p:sp>
      <p:sp>
        <p:nvSpPr>
          <p:cNvPr id="10" name="Text 7"/>
          <p:cNvSpPr txBox="1"/>
          <p:nvPr/>
        </p:nvSpPr>
        <p:spPr>
          <a:xfrm>
            <a:off x="4443984" y="1901952"/>
            <a:ext cx="3364992" cy="162763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Keys turn hypothesizers on. Their answers vary, so the sweep left them off. The bad-hypothesis fault simulates that slot.</a:t>
            </a:r>
            <a:endParaRPr lang="en-US" sz="1400" dirty="0"/>
          </a:p>
        </p:txBody>
      </p:sp>
      <p:sp>
        <p:nvSpPr>
          <p:cNvPr id="11" name="Shape 8"/>
          <p:cNvSpPr/>
          <p:nvPr/>
        </p:nvSpPr>
        <p:spPr>
          <a:xfrm>
            <a:off x="8092440" y="1463040"/>
            <a:ext cx="3657600" cy="2194560"/>
          </a:xfrm>
          <a:prstGeom prst="roundRect">
            <a:avLst>
              <a:gd name="adj" fmla="val 3333"/>
            </a:avLst>
          </a:prstGeom>
          <a:solidFill>
            <a:srgbClr val="FFFDF8"/>
          </a:solidFill>
          <a:ln/>
          <a:effectLst>
            <a:outerShdw sx="100000" sy="100000" kx="0" ky="0" algn="bl" rotWithShape="0" blurRad="177800" dist="38100" dir="5400000">
              <a:srgbClr val="1A1E1B">
                <a:alpha val="8000"/>
              </a:srgbClr>
            </a:outerShdw>
          </a:effectLst>
        </p:spPr>
      </p:sp>
      <p:sp>
        <p:nvSpPr>
          <p:cNvPr id="12" name="Text 9"/>
          <p:cNvSpPr txBox="1"/>
          <p:nvPr/>
        </p:nvSpPr>
        <p:spPr>
          <a:xfrm>
            <a:off x="8238744" y="157276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Small n, in two places</a:t>
            </a:r>
            <a:endParaRPr lang="en-US" sz="1600" dirty="0"/>
          </a:p>
        </p:txBody>
      </p:sp>
      <p:sp>
        <p:nvSpPr>
          <p:cNvPr id="13" name="Text 10"/>
          <p:cNvSpPr txBox="1"/>
          <p:nvPr/>
        </p:nvSpPr>
        <p:spPr>
          <a:xfrm>
            <a:off x="8238744" y="1901952"/>
            <a:ext cx="3364992" cy="162763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Menagerie is 3 seeds. The known-arm curve is 10 arms. Body, fault, damage, and noise cells are 20.</a:t>
            </a:r>
            <a:endParaRPr lang="en-US" sz="1400" dirty="0"/>
          </a:p>
        </p:txBody>
      </p:sp>
      <p:sp>
        <p:nvSpPr>
          <p:cNvPr id="14" name="Shape 11"/>
          <p:cNvSpPr/>
          <p:nvPr/>
        </p:nvSpPr>
        <p:spPr>
          <a:xfrm>
            <a:off x="502920" y="3794760"/>
            <a:ext cx="3657600" cy="2011680"/>
          </a:xfrm>
          <a:prstGeom prst="roundRect">
            <a:avLst>
              <a:gd name="adj" fmla="val 3636"/>
            </a:avLst>
          </a:prstGeom>
          <a:solidFill>
            <a:srgbClr val="FFFDF8"/>
          </a:solidFill>
          <a:ln/>
          <a:effectLst>
            <a:outerShdw sx="100000" sy="100000" kx="0" ky="0" algn="bl" rotWithShape="0" blurRad="177800" dist="38100" dir="5400000">
              <a:srgbClr val="1A1E1B">
                <a:alpha val="8000"/>
              </a:srgbClr>
            </a:outerShdw>
          </a:effectLst>
        </p:spPr>
      </p:sp>
      <p:sp>
        <p:nvSpPr>
          <p:cNvPr id="15" name="Text 12"/>
          <p:cNvSpPr txBox="1"/>
          <p:nvPr/>
        </p:nvSpPr>
        <p:spPr>
          <a:xfrm>
            <a:off x="649224" y="390448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Damage medians are conditional</a:t>
            </a:r>
            <a:endParaRPr lang="en-US" sz="1600" dirty="0"/>
          </a:p>
        </p:txBody>
      </p:sp>
      <p:sp>
        <p:nvSpPr>
          <p:cNvPr id="16" name="Text 13"/>
          <p:cNvSpPr txBox="1"/>
          <p:nvPr/>
        </p:nvSpPr>
        <p:spPr>
          <a:xfrm>
            <a:off x="649224" y="4233672"/>
            <a:ext cx="3364992" cy="144475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Recovered error uses runs that still have a model. That share is 59/120 for the swarm. Read both.</a:t>
            </a:r>
            <a:endParaRPr lang="en-US" sz="1400" dirty="0"/>
          </a:p>
        </p:txBody>
      </p:sp>
      <p:sp>
        <p:nvSpPr>
          <p:cNvPr id="17" name="Shape 14"/>
          <p:cNvSpPr/>
          <p:nvPr/>
        </p:nvSpPr>
        <p:spPr>
          <a:xfrm>
            <a:off x="4297680" y="3794760"/>
            <a:ext cx="3657600" cy="2011680"/>
          </a:xfrm>
          <a:prstGeom prst="roundRect">
            <a:avLst>
              <a:gd name="adj" fmla="val 3636"/>
            </a:avLst>
          </a:prstGeom>
          <a:solidFill>
            <a:srgbClr val="FFFDF8"/>
          </a:solidFill>
          <a:ln/>
          <a:effectLst>
            <a:outerShdw sx="100000" sy="100000" kx="0" ky="0" algn="bl" rotWithShape="0" blurRad="177800" dist="38100" dir="5400000">
              <a:srgbClr val="1A1E1B">
                <a:alpha val="8000"/>
              </a:srgbClr>
            </a:outerShdw>
          </a:effectLst>
        </p:spPr>
      </p:sp>
      <p:sp>
        <p:nvSpPr>
          <p:cNvPr id="18" name="Text 15"/>
          <p:cNvSpPr txBox="1"/>
          <p:nvPr/>
        </p:nvSpPr>
        <p:spPr>
          <a:xfrm>
            <a:off x="4443984" y="390448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Dynamics are the previous swarm</a:t>
            </a:r>
            <a:endParaRPr lang="en-US" sz="1600" dirty="0"/>
          </a:p>
        </p:txBody>
      </p:sp>
      <p:sp>
        <p:nvSpPr>
          <p:cNvPr id="19" name="Text 16"/>
          <p:cNvSpPr txBox="1"/>
          <p:nvPr/>
        </p:nvSpPr>
        <p:spPr>
          <a:xfrm>
            <a:off x="4443984" y="4233672"/>
            <a:ext cx="3364992" cy="144475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They predate the second probe, the review agent, and the second modeler. They are not in the 4/4.</a:t>
            </a:r>
            <a:endParaRPr lang="en-US" sz="1400" dirty="0"/>
          </a:p>
        </p:txBody>
      </p:sp>
      <p:sp>
        <p:nvSpPr>
          <p:cNvPr id="20" name="Shape 17"/>
          <p:cNvSpPr/>
          <p:nvPr/>
        </p:nvSpPr>
        <p:spPr>
          <a:xfrm>
            <a:off x="8092440" y="3794760"/>
            <a:ext cx="3657600" cy="2011680"/>
          </a:xfrm>
          <a:prstGeom prst="roundRect">
            <a:avLst>
              <a:gd name="adj" fmla="val 3636"/>
            </a:avLst>
          </a:prstGeom>
          <a:solidFill>
            <a:srgbClr val="FFFDF8"/>
          </a:solidFill>
          <a:ln/>
          <a:effectLst>
            <a:outerShdw sx="100000" sy="100000" kx="0" ky="0" algn="bl" rotWithShape="0" blurRad="177800" dist="38100" dir="5400000">
              <a:srgbClr val="1A1E1B">
                <a:alpha val="8000"/>
              </a:srgbClr>
            </a:outerShdw>
          </a:effectLst>
        </p:spPr>
      </p:sp>
      <p:sp>
        <p:nvSpPr>
          <p:cNvPr id="21" name="Text 18"/>
          <p:cNvSpPr txBox="1"/>
          <p:nvPr/>
        </p:nvSpPr>
        <p:spPr>
          <a:xfrm>
            <a:off x="8238744" y="3904488"/>
            <a:ext cx="3364992" cy="329184"/>
          </a:xfrm>
          <a:prstGeom prst="rect">
            <a:avLst/>
          </a:prstGeom>
          <a:noFill/>
          <a:ln/>
        </p:spPr>
        <p:txBody>
          <a:bodyPr wrap="square" lIns="0" tIns="0" rIns="0" bIns="0" rtlCol="0" anchor="ctr"/>
          <a:lstStyle/>
          <a:p>
            <a:pPr indent="0" marL="0">
              <a:buNone/>
            </a:pPr>
            <a:r>
              <a:rPr lang="en-US" sz="1600" dirty="0">
                <a:solidFill>
                  <a:srgbClr val="1A1E1B"/>
                </a:solidFill>
                <a:latin typeface="Georgia" pitchFamily="34" charset="0"/>
                <a:ea typeface="Georgia" pitchFamily="34" charset="-122"/>
                <a:cs typeface="Georgia" pitchFamily="34" charset="-120"/>
              </a:rPr>
              <a:t>One numerical crash</a:t>
            </a:r>
            <a:endParaRPr lang="en-US" sz="1600" dirty="0"/>
          </a:p>
        </p:txBody>
      </p:sp>
      <p:sp>
        <p:nvSpPr>
          <p:cNvPr id="22" name="Text 19"/>
          <p:cNvSpPr txBox="1"/>
          <p:nvPr/>
        </p:nvSpPr>
        <p:spPr>
          <a:xfrm>
            <a:off x="8238744" y="4233672"/>
            <a:ext cx="3364992" cy="1444752"/>
          </a:xfrm>
          <a:prstGeom prst="rect">
            <a:avLst/>
          </a:prstGeom>
          <a:noFill/>
          <a:ln/>
        </p:spPr>
        <p:txBody>
          <a:bodyPr wrap="square" lIns="0" tIns="0" rIns="0" bIns="0" rtlCol="0" anchor="ctr"/>
          <a:lstStyle/>
          <a:p>
            <a:pPr indent="0" marL="0">
              <a:buNone/>
            </a:pPr>
            <a:r>
              <a:rPr lang="en-US" sz="1400" dirty="0">
                <a:solidFill>
                  <a:srgbClr val="4A463F"/>
                </a:solidFill>
                <a:latin typeface="Calibri" pitchFamily="34" charset="0"/>
                <a:ea typeface="Calibri" pitchFamily="34" charset="-122"/>
                <a:cs typeface="Calibri" pitchFamily="34" charset="-120"/>
              </a:rPr>
              <a:t>A validator replay hit an SVD failure and killed a job. A failed replay now fails that candidate. The job was rerun.</a:t>
            </a:r>
            <a:endParaRPr lang="en-US" sz="14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6B6560"/>
                </a:solidFill>
                <a:latin typeface="Calibri"/>
                <a:ea typeface="Calibri"/>
                <a:cs typeface="Calibri"/>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1143000"/>
            <a:ext cx="10972800" cy="256032"/>
          </a:xfrm>
          <a:prstGeom prst="rect">
            <a:avLst/>
          </a:prstGeom>
          <a:noFill/>
          <a:ln/>
        </p:spPr>
        <p:txBody>
          <a:bodyPr wrap="square" lIns="0" tIns="0" rIns="0" bIns="0" rtlCol="0" anchor="ctr"/>
          <a:lstStyle/>
          <a:p>
            <a:pPr indent="0" marL="0">
              <a:buNone/>
            </a:pPr>
            <a:r>
              <a:rPr lang="en-US" sz="1300" spc="120" kern="0" dirty="0">
                <a:solidFill>
                  <a:srgbClr val="F0C56A"/>
                </a:solidFill>
                <a:latin typeface="Calibri" pitchFamily="34" charset="0"/>
                <a:ea typeface="Calibri" pitchFamily="34" charset="-122"/>
                <a:cs typeface="Calibri" pitchFamily="34" charset="-120"/>
              </a:rPr>
              <a:t>BODYSCOUT</a:t>
            </a:r>
            <a:endParaRPr lang="en-US" sz="1300" dirty="0"/>
          </a:p>
        </p:txBody>
      </p:sp>
      <p:sp>
        <p:nvSpPr>
          <p:cNvPr id="3" name="Text 0"/>
          <p:cNvSpPr/>
          <p:nvPr>
            <p:ph idx="100" type="title" hasCustomPrompt="1"/>
          </p:nvPr>
        </p:nvSpPr>
        <p:spPr>
          <a:xfrm>
            <a:off x="548640" y="1554480"/>
            <a:ext cx="11064240" cy="2103120"/>
          </a:xfrm>
          <a:prstGeom prst="rect">
            <a:avLst/>
          </a:prstGeom>
          <a:noFill/>
          <a:ln/>
        </p:spPr>
        <p:txBody>
          <a:bodyPr wrap="square" lIns="0" tIns="0" rIns="0" bIns="0" rtlCol="0"/>
          <a:lstStyle/>
          <a:p>
            <a:pPr indent="0" marL="0">
              <a:buNone/>
            </a:pPr>
            <a:r>
              <a:rPr lang="en-US" sz="4400" dirty="0">
                <a:solidFill>
                  <a:srgbClr val="F4F1EA"/>
                </a:solidFill>
                <a:latin typeface="Georgia" pitchFamily="34" charset="0"/>
                <a:ea typeface="Georgia" pitchFamily="34" charset="-122"/>
                <a:cs typeface="Georgia" pitchFamily="34" charset="-120"/>
              </a:rPr>
              <a:t>A robot with no model file.</a:t>
            </a:r>
            <a:endParaRPr lang="en-US" sz="4400" dirty="0"/>
          </a:p>
        </p:txBody>
      </p:sp>
      <p:sp>
        <p:nvSpPr>
          <p:cNvPr id="5" name="Text 2"/>
          <p:cNvSpPr txBox="1"/>
          <p:nvPr/>
        </p:nvSpPr>
        <p:spPr>
          <a:xfrm>
            <a:off x="548640" y="3794760"/>
            <a:ext cx="10972800" cy="640080"/>
          </a:xfrm>
          <a:prstGeom prst="rect">
            <a:avLst/>
          </a:prstGeom>
          <a:noFill/>
          <a:ln/>
        </p:spPr>
        <p:txBody>
          <a:bodyPr wrap="square" lIns="0" tIns="0" rIns="0" bIns="0" rtlCol="0" anchor="ctr"/>
          <a:lstStyle/>
          <a:p>
            <a:pPr indent="0" marL="0">
              <a:buNone/>
            </a:pPr>
            <a:r>
              <a:rPr lang="en-US" sz="2600" dirty="0">
                <a:solidFill>
                  <a:srgbClr val="F0C56A"/>
                </a:solidFill>
                <a:latin typeface="Georgia" pitchFamily="34" charset="0"/>
                <a:ea typeface="Georgia" pitchFamily="34" charset="-122"/>
                <a:cs typeface="Georgia" pitchFamily="34" charset="-120"/>
              </a:rPr>
              <a:t>A swarm that writes one, and writes it again when the body changes.</a:t>
            </a:r>
            <a:endParaRPr lang="en-US" sz="2600" dirty="0"/>
          </a:p>
        </p:txBody>
      </p:sp>
      <p:sp>
        <p:nvSpPr>
          <p:cNvPr id="6" name="Text 3"/>
          <p:cNvSpPr txBox="1"/>
          <p:nvPr/>
        </p:nvSpPr>
        <p:spPr>
          <a:xfrm>
            <a:off x="548640" y="4846320"/>
            <a:ext cx="10972800" cy="365760"/>
          </a:xfrm>
          <a:prstGeom prst="rect">
            <a:avLst/>
          </a:prstGeom>
          <a:noFill/>
          <a:ln/>
        </p:spPr>
        <p:txBody>
          <a:bodyPr wrap="square" lIns="0" tIns="0" rIns="0" bIns="0" rtlCol="0" anchor="ctr"/>
          <a:lstStyle/>
          <a:p>
            <a:pPr indent="0" marL="0">
              <a:buNone/>
            </a:pPr>
            <a:r>
              <a:rPr lang="en-US" sz="1600" dirty="0">
                <a:solidFill>
                  <a:srgbClr val="C9C2B4"/>
                </a:solidFill>
                <a:latin typeface="Calibri" pitchFamily="34" charset="0"/>
                <a:ea typeface="Calibri" pitchFamily="34" charset="-122"/>
                <a:cs typeface="Calibri" pitchFamily="34" charset="-120"/>
              </a:rPr>
              <a:t>Briefing  /judge/     Dashboard  /dashboard/     Numbers  results/summary.md</a:t>
            </a:r>
            <a:endParaRPr lang="en-US" sz="1600" dirty="0"/>
          </a:p>
        </p:txBody>
      </p:sp>
      <p:sp>
        <p:nvSpPr>
          <p:cNvPr id="25" name="Slide Number Placeholder 0"/>
          <p:cNvSpPr>
            <a:spLocks noGrp="1"/>
          </p:cNvSpPr>
          <p:nvPr>
            <p:ph type="sldNum" sz="quarter" idx="4294967295"/>
          </p:nvPr>
        </p:nvSpPr>
        <p:spPr>
          <a:xfrm>
            <a:off x="11155680" y="6510528"/>
            <a:ext cx="640080" cy="219456"/>
          </a:xfrm>
          <a:prstGeom prst="rect">
            <a:avLst/>
          </a:prstGeom>
          <a:extLst>
            <a:ext uri="{C572A759-6A51-4108-AA02-DFA0A04FC94B}">
              <ma14:wrappingTextBoxFlag xmlns:ma14="http://schemas.microsoft.com/office/mac/drawingml/2011/main" val="0"/>
            </a:ext>
          </a:extLst>
        </p:spPr>
        <p:txBody>
          <a:bodyPr/>
          <a:lstStyle>
            <a:lvl1pPr>
              <a:defRPr sz="1100">
                <a:solidFill>
                  <a:srgbClr val="C9C2B4"/>
                </a:solidFill>
                <a:latin typeface="Calibri"/>
                <a:ea typeface="Calibri"/>
                <a:cs typeface="Calibri"/>
              </a:defRPr>
            </a:lvl1pPr>
          </a:lstStyle>
          <a:p>
            <a:pPr algn="l"/>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BodyScout">
  <a:themeElements>
    <a:clrScheme name="BodyScout">
      <a:dk1>
        <a:srgbClr val="1A1E1B"/>
      </a:dk1>
      <a:lt1>
        <a:srgbClr val="F4F1EA"/>
      </a:lt1>
      <a:dk2>
        <a:srgbClr val="1E4D3A"/>
      </a:dk2>
      <a:lt2>
        <a:srgbClr val="E7E2D6"/>
      </a:lt2>
      <a:accent1>
        <a:srgbClr val="1E4D3A"/>
      </a:accent1>
      <a:accent2>
        <a:srgbClr val="B8432A"/>
      </a:accent2>
      <a:accent3>
        <a:srgbClr val="8A5A10"/>
      </a:accent3>
      <a:accent4>
        <a:srgbClr val="1D4E89"/>
      </a:accent4>
      <a:accent5>
        <a:srgbClr val="0F7A5A"/>
      </a:accent5>
      <a:accent6>
        <a:srgbClr val="6B6560"/>
      </a:accent6>
      <a:hlink>
        <a:srgbClr val="1E4D3A"/>
      </a:hlink>
      <a:folHlink>
        <a:srgbClr val="6B6560"/>
      </a:folHlink>
    </a:clrScheme>
    <a:fontScheme name="BodyScou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BodyScout for the judges</dc:title>
  <dc:subject>ScienceClaw Hack, MIT Media Lab</dc:subject>
  <dc:creator>BodyScout</dc:creator>
  <cp:lastModifiedBy>BodyScout</cp:lastModifiedBy>
  <cp:revision>1</cp:revision>
  <dcterms:created xsi:type="dcterms:W3CDTF">2026-11-01T17:08:21Z</dcterms:created>
  <dcterms:modified xsi:type="dcterms:W3CDTF">2026-11-01T17:08:21Z</dcterms:modified>
</cp:coreProperties>
</file>